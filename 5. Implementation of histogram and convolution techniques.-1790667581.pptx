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8" r:id="rId1"/>
  </p:sldMasterIdLst>
  <p:notesMasterIdLst>
    <p:notesMasterId r:id="rId39"/>
  </p:notesMasterIdLst>
  <p:sldIdLst>
    <p:sldId id="256" r:id="rId2"/>
    <p:sldId id="261" r:id="rId3"/>
    <p:sldId id="344" r:id="rId4"/>
    <p:sldId id="343" r:id="rId5"/>
    <p:sldId id="305" r:id="rId6"/>
    <p:sldId id="359" r:id="rId7"/>
    <p:sldId id="309" r:id="rId8"/>
    <p:sldId id="357" r:id="rId9"/>
    <p:sldId id="310" r:id="rId10"/>
    <p:sldId id="360" r:id="rId11"/>
    <p:sldId id="345" r:id="rId12"/>
    <p:sldId id="346" r:id="rId13"/>
    <p:sldId id="347" r:id="rId14"/>
    <p:sldId id="311" r:id="rId15"/>
    <p:sldId id="358" r:id="rId16"/>
    <p:sldId id="361" r:id="rId17"/>
    <p:sldId id="312" r:id="rId18"/>
    <p:sldId id="317" r:id="rId19"/>
    <p:sldId id="350" r:id="rId20"/>
    <p:sldId id="363" r:id="rId21"/>
    <p:sldId id="348" r:id="rId22"/>
    <p:sldId id="364" r:id="rId23"/>
    <p:sldId id="365" r:id="rId24"/>
    <p:sldId id="349" r:id="rId25"/>
    <p:sldId id="368" r:id="rId26"/>
    <p:sldId id="366" r:id="rId27"/>
    <p:sldId id="367" r:id="rId28"/>
    <p:sldId id="351" r:id="rId29"/>
    <p:sldId id="369" r:id="rId30"/>
    <p:sldId id="370" r:id="rId31"/>
    <p:sldId id="372" r:id="rId32"/>
    <p:sldId id="373" r:id="rId33"/>
    <p:sldId id="374" r:id="rId34"/>
    <p:sldId id="266" r:id="rId35"/>
    <p:sldId id="318" r:id="rId36"/>
    <p:sldId id="342" r:id="rId37"/>
    <p:sldId id="283" r:id="rId38"/>
  </p:sldIdLst>
  <p:sldSz cx="9144000" cy="5143500" type="screen16x9"/>
  <p:notesSz cx="6858000" cy="9144000"/>
  <p:embeddedFontLst>
    <p:embeddedFont>
      <p:font typeface="Cambria Math" panose="02040503050406030204" pitchFamily="18" charset="0"/>
      <p:regular r:id="rId40"/>
    </p:embeddedFont>
    <p:embeddedFont>
      <p:font typeface="Figtree Black" panose="020B0604020202020204" charset="0"/>
      <p:bold r:id="rId41"/>
      <p:boldItalic r:id="rId42"/>
    </p:embeddedFont>
    <p:embeddedFont>
      <p:font typeface="Hanken Grotesk" panose="020B0604020202020204"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47A7D3A-C76E-4340-B591-1BAF9B2FF1C5}">
  <a:tblStyle styleId="{647A7D3A-C76E-4340-B591-1BAF9B2FF1C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447" y="-417"/>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3.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1.fntdata"/><Relationship Id="rId45"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4.fntdata"/><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7.fntdata"/><Relationship Id="rId20" Type="http://schemas.openxmlformats.org/officeDocument/2006/relationships/slide" Target="slides/slide19.xml"/><Relationship Id="rId41"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2768ca7ef44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7" name="Google Shape;287;g2768ca7ef44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ed9256fe6f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2" name="Google Shape;372;ged9256fe6f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164226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8517013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A8FC48-DD3E-178B-3549-D7603A086A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07FE72-F14A-7A2B-F95D-FF4C55FED31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5AD9253-E513-939C-9D9F-E6855A6A5787}"/>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2013180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AD01B-A147-A7FC-4234-95794F97F1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0376A7-4AC9-2DAC-101F-2B582452B19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00F70B5-D478-4B33-A95D-09200EFBE2D5}"/>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764187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850B7-FDA3-3E85-1CAC-C04CFDBDFD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364914-0889-15D7-5880-C02979C4FAD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D0C9C11-7A5F-0844-6BEA-278DAA8EB981}"/>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6181307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7795109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61CCF2-2B99-F8E8-B199-6E8B3FE354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FAD8A4-2676-56F2-DB58-057E8F9DE3E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5B59FF3-8327-FFA3-AAAA-29988A5D2CF1}"/>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8057817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033F1-B33B-17F2-5033-8D337B5AE2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DE404C-4AE6-7B33-5A96-5395A6DC4BC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BA9DB79-B4BF-6AB5-3AB9-BB9B14DAAF70}"/>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1175526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605EE4-1AA6-9994-C1BD-70864943B1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5CB640-BD6E-CC72-CCED-D9AC71698E1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78A93DB-67ED-6562-7080-8B66049E5E44}"/>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557770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75F858-8058-6B43-9C2C-9BB7FAF58A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AB66D1-FA36-A51A-3CB0-755AA84CEB9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AE0BD0A-47AA-AF95-0E9F-D48DCAFDCB12}"/>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469467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89393-2239-86C2-06B3-92A60FA468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AA1D5D-B604-730E-F641-B895C752EA2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4F7E098-E9BE-365D-FC74-5819E559DF7C}"/>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783877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609B71-D296-2155-ADCB-4E388533FC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73E6FF-1F22-C8FA-612C-838088B2152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3C1E663-0D8D-6FAA-BD8B-AD0843223B10}"/>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1518134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89AAA-30FA-44A3-3D25-746AB1084D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84A6FC-9230-4795-B138-12A9FD457E1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BAC5814-3AA8-551E-6672-EAB20336AA4B}"/>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941198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589A61-C03E-017A-56AD-32EFA72781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C64938-A3C8-722B-FC5E-549147A6992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27AE1FA-DC77-7657-62E0-72D589BA8756}"/>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6926405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B1F2D-C232-BFA2-69F9-2363331916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6760D9-17DB-8098-9BAB-AC42714807E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6E40616-59C6-A7B3-065C-352CA1C8A193}"/>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5867174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807490-1766-13FA-605B-1EB318105C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A8C8ED-4923-B038-91FD-28666753A96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DE890DC-D960-1DA1-FCB1-1BFD29C6C4CC}"/>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9177269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g2161ca7da69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2" name="Google Shape;412;g2161ca7da69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688383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a:extLst>
            <a:ext uri="{FF2B5EF4-FFF2-40B4-BE49-F238E27FC236}">
              <a16:creationId xmlns:a16="http://schemas.microsoft.com/office/drawing/2014/main" id="{A91D4121-EF93-2C51-9E13-0DF605C077E5}"/>
            </a:ext>
          </a:extLst>
        </p:cNvPr>
        <p:cNvGrpSpPr/>
        <p:nvPr/>
      </p:nvGrpSpPr>
      <p:grpSpPr>
        <a:xfrm>
          <a:off x="0" y="0"/>
          <a:ext cx="0" cy="0"/>
          <a:chOff x="0" y="0"/>
          <a:chExt cx="0" cy="0"/>
        </a:xfrm>
      </p:grpSpPr>
      <p:sp>
        <p:nvSpPr>
          <p:cNvPr id="411" name="Google Shape;411;g2161ca7da69_2_0:notes">
            <a:extLst>
              <a:ext uri="{FF2B5EF4-FFF2-40B4-BE49-F238E27FC236}">
                <a16:creationId xmlns:a16="http://schemas.microsoft.com/office/drawing/2014/main" id="{28AE0707-24A4-CEFA-C63C-217BDA3074E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2" name="Google Shape;412;g2161ca7da69_2_0:notes">
            <a:extLst>
              <a:ext uri="{FF2B5EF4-FFF2-40B4-BE49-F238E27FC236}">
                <a16:creationId xmlns:a16="http://schemas.microsoft.com/office/drawing/2014/main" id="{F349D4D2-0F49-511A-0E86-EC2E8BD7A0B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305875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2"/>
        <p:cNvGrpSpPr/>
        <p:nvPr/>
      </p:nvGrpSpPr>
      <p:grpSpPr>
        <a:xfrm>
          <a:off x="0" y="0"/>
          <a:ext cx="0" cy="0"/>
          <a:chOff x="0" y="0"/>
          <a:chExt cx="0" cy="0"/>
        </a:xfrm>
      </p:grpSpPr>
      <p:sp>
        <p:nvSpPr>
          <p:cNvPr id="853" name="Google Shape;853;g1340135a080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4" name="Google Shape;854;g1340135a080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bit.ly/2TtBDf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7346075" y="130450"/>
            <a:ext cx="4889100" cy="48891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 name="Google Shape;10;p2"/>
          <p:cNvGrpSpPr/>
          <p:nvPr/>
        </p:nvGrpSpPr>
        <p:grpSpPr>
          <a:xfrm>
            <a:off x="727425" y="-49275"/>
            <a:ext cx="7703400" cy="5243325"/>
            <a:chOff x="727425" y="-49275"/>
            <a:chExt cx="7703400" cy="5243325"/>
          </a:xfrm>
        </p:grpSpPr>
        <p:sp>
          <p:nvSpPr>
            <p:cNvPr id="11" name="Google Shape;11;p2"/>
            <p:cNvSpPr/>
            <p:nvPr/>
          </p:nvSpPr>
          <p:spPr>
            <a:xfrm>
              <a:off x="727425" y="533550"/>
              <a:ext cx="7703400" cy="40749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2" name="Google Shape;12;p2"/>
            <p:cNvCxnSpPr/>
            <p:nvPr/>
          </p:nvCxnSpPr>
          <p:spPr>
            <a:xfrm rot="10800000">
              <a:off x="727425" y="-49275"/>
              <a:ext cx="0" cy="585600"/>
            </a:xfrm>
            <a:prstGeom prst="straightConnector1">
              <a:avLst/>
            </a:prstGeom>
            <a:noFill/>
            <a:ln w="19050" cap="flat" cmpd="sng">
              <a:solidFill>
                <a:schemeClr val="dk1"/>
              </a:solidFill>
              <a:prstDash val="solid"/>
              <a:round/>
              <a:headEnd type="none" w="med" len="med"/>
              <a:tailEnd type="none" w="med" len="med"/>
            </a:ln>
          </p:spPr>
        </p:cxnSp>
        <p:cxnSp>
          <p:nvCxnSpPr>
            <p:cNvPr id="13" name="Google Shape;13;p2"/>
            <p:cNvCxnSpPr/>
            <p:nvPr/>
          </p:nvCxnSpPr>
          <p:spPr>
            <a:xfrm rot="10800000">
              <a:off x="8430775" y="4608450"/>
              <a:ext cx="0" cy="585600"/>
            </a:xfrm>
            <a:prstGeom prst="straightConnector1">
              <a:avLst/>
            </a:prstGeom>
            <a:noFill/>
            <a:ln w="19050" cap="flat" cmpd="sng">
              <a:solidFill>
                <a:schemeClr val="dk1"/>
              </a:solidFill>
              <a:prstDash val="solid"/>
              <a:round/>
              <a:headEnd type="none" w="med" len="med"/>
              <a:tailEnd type="none" w="med" len="med"/>
            </a:ln>
          </p:spPr>
        </p:cxnSp>
      </p:grpSp>
      <p:sp>
        <p:nvSpPr>
          <p:cNvPr id="14" name="Google Shape;14;p2"/>
          <p:cNvSpPr txBox="1">
            <a:spLocks noGrp="1"/>
          </p:cNvSpPr>
          <p:nvPr>
            <p:ph type="ctrTitle"/>
          </p:nvPr>
        </p:nvSpPr>
        <p:spPr>
          <a:xfrm>
            <a:off x="1087125" y="1670213"/>
            <a:ext cx="5897400" cy="1392600"/>
          </a:xfrm>
          <a:prstGeom prst="rect">
            <a:avLst/>
          </a:prstGeom>
        </p:spPr>
        <p:txBody>
          <a:bodyPr spcFirstLastPara="1" wrap="square" lIns="91425" tIns="91425" rIns="91425" bIns="91425" anchor="b" anchorCtr="0">
            <a:noAutofit/>
          </a:bodyPr>
          <a:lstStyle>
            <a:lvl1pPr lvl="0">
              <a:spcBef>
                <a:spcPts val="0"/>
              </a:spcBef>
              <a:spcAft>
                <a:spcPts val="0"/>
              </a:spcAft>
              <a:buSzPts val="5200"/>
              <a:buNone/>
              <a:defRPr sz="38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5" name="Google Shape;15;p2"/>
          <p:cNvSpPr txBox="1">
            <a:spLocks noGrp="1"/>
          </p:cNvSpPr>
          <p:nvPr>
            <p:ph type="subTitle" idx="1"/>
          </p:nvPr>
        </p:nvSpPr>
        <p:spPr>
          <a:xfrm>
            <a:off x="1087125" y="2997488"/>
            <a:ext cx="5897400" cy="475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dk1"/>
              </a:buClr>
              <a:buSzPts val="1400"/>
              <a:buNone/>
              <a:defRPr>
                <a:solidFill>
                  <a:schemeClr val="dk1"/>
                </a:solidFill>
              </a:defRPr>
            </a:lvl1pPr>
            <a:lvl2pPr lvl="1" algn="ctr">
              <a:lnSpc>
                <a:spcPct val="100000"/>
              </a:lnSpc>
              <a:spcBef>
                <a:spcPts val="0"/>
              </a:spcBef>
              <a:spcAft>
                <a:spcPts val="0"/>
              </a:spcAft>
              <a:buClr>
                <a:schemeClr val="dk1"/>
              </a:buClr>
              <a:buSzPts val="1800"/>
              <a:buNone/>
              <a:defRPr sz="1800">
                <a:solidFill>
                  <a:schemeClr val="dk1"/>
                </a:solidFill>
              </a:defRPr>
            </a:lvl2pPr>
            <a:lvl3pPr lvl="2" algn="ctr">
              <a:lnSpc>
                <a:spcPct val="100000"/>
              </a:lnSpc>
              <a:spcBef>
                <a:spcPts val="0"/>
              </a:spcBef>
              <a:spcAft>
                <a:spcPts val="0"/>
              </a:spcAft>
              <a:buClr>
                <a:schemeClr val="dk1"/>
              </a:buClr>
              <a:buSzPts val="1800"/>
              <a:buNone/>
              <a:defRPr sz="1800">
                <a:solidFill>
                  <a:schemeClr val="dk1"/>
                </a:solidFill>
              </a:defRPr>
            </a:lvl3pPr>
            <a:lvl4pPr lvl="3" algn="ctr">
              <a:lnSpc>
                <a:spcPct val="100000"/>
              </a:lnSpc>
              <a:spcBef>
                <a:spcPts val="0"/>
              </a:spcBef>
              <a:spcAft>
                <a:spcPts val="0"/>
              </a:spcAft>
              <a:buClr>
                <a:schemeClr val="dk1"/>
              </a:buClr>
              <a:buSzPts val="1800"/>
              <a:buNone/>
              <a:defRPr sz="1800">
                <a:solidFill>
                  <a:schemeClr val="dk1"/>
                </a:solidFill>
              </a:defRPr>
            </a:lvl4pPr>
            <a:lvl5pPr lvl="4" algn="ctr">
              <a:lnSpc>
                <a:spcPct val="100000"/>
              </a:lnSpc>
              <a:spcBef>
                <a:spcPts val="0"/>
              </a:spcBef>
              <a:spcAft>
                <a:spcPts val="0"/>
              </a:spcAft>
              <a:buClr>
                <a:schemeClr val="dk1"/>
              </a:buClr>
              <a:buSzPts val="1800"/>
              <a:buNone/>
              <a:defRPr sz="1800">
                <a:solidFill>
                  <a:schemeClr val="dk1"/>
                </a:solidFill>
              </a:defRPr>
            </a:lvl5pPr>
            <a:lvl6pPr lvl="5" algn="ctr">
              <a:lnSpc>
                <a:spcPct val="100000"/>
              </a:lnSpc>
              <a:spcBef>
                <a:spcPts val="0"/>
              </a:spcBef>
              <a:spcAft>
                <a:spcPts val="0"/>
              </a:spcAft>
              <a:buClr>
                <a:schemeClr val="dk1"/>
              </a:buClr>
              <a:buSzPts val="1800"/>
              <a:buNone/>
              <a:defRPr sz="1800">
                <a:solidFill>
                  <a:schemeClr val="dk1"/>
                </a:solidFill>
              </a:defRPr>
            </a:lvl6pPr>
            <a:lvl7pPr lvl="6" algn="ctr">
              <a:lnSpc>
                <a:spcPct val="100000"/>
              </a:lnSpc>
              <a:spcBef>
                <a:spcPts val="0"/>
              </a:spcBef>
              <a:spcAft>
                <a:spcPts val="0"/>
              </a:spcAft>
              <a:buClr>
                <a:schemeClr val="dk1"/>
              </a:buClr>
              <a:buSzPts val="1800"/>
              <a:buNone/>
              <a:defRPr sz="1800">
                <a:solidFill>
                  <a:schemeClr val="dk1"/>
                </a:solidFill>
              </a:defRPr>
            </a:lvl7pPr>
            <a:lvl8pPr lvl="7" algn="ctr">
              <a:lnSpc>
                <a:spcPct val="100000"/>
              </a:lnSpc>
              <a:spcBef>
                <a:spcPts val="0"/>
              </a:spcBef>
              <a:spcAft>
                <a:spcPts val="0"/>
              </a:spcAft>
              <a:buClr>
                <a:schemeClr val="dk1"/>
              </a:buClr>
              <a:buSzPts val="1800"/>
              <a:buNone/>
              <a:defRPr sz="1800">
                <a:solidFill>
                  <a:schemeClr val="dk1"/>
                </a:solidFill>
              </a:defRPr>
            </a:lvl8pPr>
            <a:lvl9pPr lvl="8" algn="ctr">
              <a:lnSpc>
                <a:spcPct val="100000"/>
              </a:lnSpc>
              <a:spcBef>
                <a:spcPts val="0"/>
              </a:spcBef>
              <a:spcAft>
                <a:spcPts val="0"/>
              </a:spcAft>
              <a:buClr>
                <a:schemeClr val="dk1"/>
              </a:buClr>
              <a:buSzPts val="1800"/>
              <a:buNone/>
              <a:defRPr sz="1800">
                <a:solidFill>
                  <a:schemeClr val="dk1"/>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5"/>
        <p:cNvGrpSpPr/>
        <p:nvPr/>
      </p:nvGrpSpPr>
      <p:grpSpPr>
        <a:xfrm>
          <a:off x="0" y="0"/>
          <a:ext cx="0" cy="0"/>
          <a:chOff x="0" y="0"/>
          <a:chExt cx="0" cy="0"/>
        </a:xfrm>
      </p:grpSpPr>
      <p:sp>
        <p:nvSpPr>
          <p:cNvPr id="26" name="Google Shape;26;p4"/>
          <p:cNvSpPr/>
          <p:nvPr/>
        </p:nvSpPr>
        <p:spPr>
          <a:xfrm>
            <a:off x="8240650" y="420432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 name="Google Shape;27;p4"/>
          <p:cNvGrpSpPr/>
          <p:nvPr/>
        </p:nvGrpSpPr>
        <p:grpSpPr>
          <a:xfrm>
            <a:off x="-19050" y="232800"/>
            <a:ext cx="8930250" cy="5027400"/>
            <a:chOff x="-19050" y="232800"/>
            <a:chExt cx="8930250" cy="5027400"/>
          </a:xfrm>
        </p:grpSpPr>
        <p:sp>
          <p:nvSpPr>
            <p:cNvPr id="28" name="Google Shape;28;p4"/>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9" name="Google Shape;29;p4"/>
            <p:cNvCxnSpPr/>
            <p:nvPr/>
          </p:nvCxnSpPr>
          <p:spPr>
            <a:xfrm rot="10800000">
              <a:off x="-19050" y="232800"/>
              <a:ext cx="258900" cy="0"/>
            </a:xfrm>
            <a:prstGeom prst="straightConnector1">
              <a:avLst/>
            </a:prstGeom>
            <a:noFill/>
            <a:ln w="19050" cap="flat" cmpd="sng">
              <a:solidFill>
                <a:schemeClr val="dk1"/>
              </a:solidFill>
              <a:prstDash val="solid"/>
              <a:round/>
              <a:headEnd type="none" w="med" len="med"/>
              <a:tailEnd type="none" w="med" len="med"/>
            </a:ln>
          </p:spPr>
        </p:cxnSp>
        <p:cxnSp>
          <p:nvCxnSpPr>
            <p:cNvPr id="30" name="Google Shape;30;p4"/>
            <p:cNvCxnSpPr/>
            <p:nvPr/>
          </p:nvCxnSpPr>
          <p:spPr>
            <a:xfrm>
              <a:off x="8911200" y="4917300"/>
              <a:ext cx="0" cy="342900"/>
            </a:xfrm>
            <a:prstGeom prst="straightConnector1">
              <a:avLst/>
            </a:prstGeom>
            <a:noFill/>
            <a:ln w="19050" cap="flat" cmpd="sng">
              <a:solidFill>
                <a:schemeClr val="dk1"/>
              </a:solidFill>
              <a:prstDash val="solid"/>
              <a:round/>
              <a:headEnd type="none" w="med" len="med"/>
              <a:tailEnd type="none" w="med" len="med"/>
            </a:ln>
          </p:spPr>
        </p:cxnSp>
      </p:grpSp>
      <p:sp>
        <p:nvSpPr>
          <p:cNvPr id="31" name="Google Shape;31;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2" name="Google Shape;32;p4"/>
          <p:cNvSpPr txBox="1">
            <a:spLocks noGrp="1"/>
          </p:cNvSpPr>
          <p:nvPr>
            <p:ph type="body" idx="1"/>
          </p:nvPr>
        </p:nvSpPr>
        <p:spPr>
          <a:xfrm>
            <a:off x="720000" y="1215750"/>
            <a:ext cx="7704000" cy="3233100"/>
          </a:xfrm>
          <a:prstGeom prst="rect">
            <a:avLst/>
          </a:prstGeom>
        </p:spPr>
        <p:txBody>
          <a:bodyPr spcFirstLastPara="1" wrap="square" lIns="91425" tIns="91425" rIns="91425" bIns="91425" anchor="t" anchorCtr="0">
            <a:noAutofit/>
          </a:bodyPr>
          <a:lstStyle>
            <a:lvl1pPr marL="457200" lvl="0" indent="-279400" rtl="0">
              <a:spcBef>
                <a:spcPts val="0"/>
              </a:spcBef>
              <a:spcAft>
                <a:spcPts val="0"/>
              </a:spcAft>
              <a:buSzPts val="800"/>
              <a:buChar char="●"/>
              <a:defRPr>
                <a:latin typeface="Hanken Grotesk"/>
                <a:ea typeface="Hanken Grotesk"/>
                <a:cs typeface="Hanken Grotesk"/>
                <a:sym typeface="Hanken Grotesk"/>
              </a:defRPr>
            </a:lvl1pPr>
            <a:lvl2pPr marL="914400" lvl="1" indent="-304800" rtl="0">
              <a:spcBef>
                <a:spcPts val="0"/>
              </a:spcBef>
              <a:spcAft>
                <a:spcPts val="0"/>
              </a:spcAft>
              <a:buSzPts val="1200"/>
              <a:buChar char="○"/>
              <a:defRPr>
                <a:latin typeface="Hanken Grotesk"/>
                <a:ea typeface="Hanken Grotesk"/>
                <a:cs typeface="Hanken Grotesk"/>
                <a:sym typeface="Hanken Grotesk"/>
              </a:defRPr>
            </a:lvl2pPr>
            <a:lvl3pPr marL="1371600" lvl="2" indent="-304800" rtl="0">
              <a:lnSpc>
                <a:spcPct val="115000"/>
              </a:lnSpc>
              <a:spcBef>
                <a:spcPts val="0"/>
              </a:spcBef>
              <a:spcAft>
                <a:spcPts val="0"/>
              </a:spcAft>
              <a:buSzPts val="1200"/>
              <a:buChar char="■"/>
              <a:defRPr/>
            </a:lvl3pPr>
            <a:lvl4pPr marL="1828800" lvl="3" indent="-304800" rtl="0">
              <a:lnSpc>
                <a:spcPct val="115000"/>
              </a:lnSpc>
              <a:spcBef>
                <a:spcPts val="0"/>
              </a:spcBef>
              <a:spcAft>
                <a:spcPts val="0"/>
              </a:spcAft>
              <a:buSzPts val="1200"/>
              <a:buChar char="●"/>
              <a:defRPr/>
            </a:lvl4pPr>
            <a:lvl5pPr marL="2286000" lvl="4" indent="-304800" rtl="0">
              <a:lnSpc>
                <a:spcPct val="115000"/>
              </a:lnSpc>
              <a:spcBef>
                <a:spcPts val="0"/>
              </a:spcBef>
              <a:spcAft>
                <a:spcPts val="0"/>
              </a:spcAft>
              <a:buSzPts val="1200"/>
              <a:buChar char="○"/>
              <a:defRPr/>
            </a:lvl5pPr>
            <a:lvl6pPr marL="2743200" lvl="5" indent="-304800" rtl="0">
              <a:lnSpc>
                <a:spcPct val="115000"/>
              </a:lnSpc>
              <a:spcBef>
                <a:spcPts val="0"/>
              </a:spcBef>
              <a:spcAft>
                <a:spcPts val="0"/>
              </a:spcAft>
              <a:buSzPts val="1200"/>
              <a:buChar char="■"/>
              <a:defRPr/>
            </a:lvl6pPr>
            <a:lvl7pPr marL="3200400" lvl="6" indent="-304800" rtl="0">
              <a:lnSpc>
                <a:spcPct val="115000"/>
              </a:lnSpc>
              <a:spcBef>
                <a:spcPts val="0"/>
              </a:spcBef>
              <a:spcAft>
                <a:spcPts val="0"/>
              </a:spcAft>
              <a:buSzPts val="1200"/>
              <a:buChar char="●"/>
              <a:defRPr/>
            </a:lvl7pPr>
            <a:lvl8pPr marL="3657600" lvl="7" indent="-304800" rtl="0">
              <a:lnSpc>
                <a:spcPct val="115000"/>
              </a:lnSpc>
              <a:spcBef>
                <a:spcPts val="0"/>
              </a:spcBef>
              <a:spcAft>
                <a:spcPts val="0"/>
              </a:spcAft>
              <a:buSzPts val="1200"/>
              <a:buChar char="○"/>
              <a:defRPr/>
            </a:lvl8pPr>
            <a:lvl9pPr marL="4114800" lvl="8" indent="-304800" rtl="0">
              <a:lnSpc>
                <a:spcPct val="115000"/>
              </a:lnSpc>
              <a:spcBef>
                <a:spcPts val="0"/>
              </a:spcBef>
              <a:spcAft>
                <a:spcPts val="0"/>
              </a:spcAft>
              <a:buSzPts val="12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61"/>
        <p:cNvGrpSpPr/>
        <p:nvPr/>
      </p:nvGrpSpPr>
      <p:grpSpPr>
        <a:xfrm>
          <a:off x="0" y="0"/>
          <a:ext cx="0" cy="0"/>
          <a:chOff x="0" y="0"/>
          <a:chExt cx="0" cy="0"/>
        </a:xfrm>
      </p:grpSpPr>
      <p:sp>
        <p:nvSpPr>
          <p:cNvPr id="62" name="Google Shape;62;p8"/>
          <p:cNvSpPr/>
          <p:nvPr/>
        </p:nvSpPr>
        <p:spPr>
          <a:xfrm>
            <a:off x="2007375" y="2776900"/>
            <a:ext cx="5143500" cy="514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8"/>
          <p:cNvGrpSpPr/>
          <p:nvPr/>
        </p:nvGrpSpPr>
        <p:grpSpPr>
          <a:xfrm>
            <a:off x="-25" y="533550"/>
            <a:ext cx="9270975" cy="4075025"/>
            <a:chOff x="-25" y="533550"/>
            <a:chExt cx="9270975" cy="4075025"/>
          </a:xfrm>
        </p:grpSpPr>
        <p:sp>
          <p:nvSpPr>
            <p:cNvPr id="64" name="Google Shape;64;p8"/>
            <p:cNvSpPr/>
            <p:nvPr/>
          </p:nvSpPr>
          <p:spPr>
            <a:xfrm>
              <a:off x="727425" y="533550"/>
              <a:ext cx="7703400" cy="40749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3800">
                <a:solidFill>
                  <a:schemeClr val="dk1"/>
                </a:solidFill>
                <a:latin typeface="Figtree Black"/>
                <a:ea typeface="Figtree Black"/>
                <a:cs typeface="Figtree Black"/>
                <a:sym typeface="Figtree Black"/>
              </a:endParaRPr>
            </a:p>
          </p:txBody>
        </p:sp>
        <p:cxnSp>
          <p:nvCxnSpPr>
            <p:cNvPr id="65" name="Google Shape;65;p8"/>
            <p:cNvCxnSpPr/>
            <p:nvPr/>
          </p:nvCxnSpPr>
          <p:spPr>
            <a:xfrm rot="10800000">
              <a:off x="8430950" y="533550"/>
              <a:ext cx="840000" cy="0"/>
            </a:xfrm>
            <a:prstGeom prst="straightConnector1">
              <a:avLst/>
            </a:prstGeom>
            <a:noFill/>
            <a:ln w="19050" cap="flat" cmpd="sng">
              <a:solidFill>
                <a:schemeClr val="dk1"/>
              </a:solidFill>
              <a:prstDash val="solid"/>
              <a:round/>
              <a:headEnd type="none" w="med" len="med"/>
              <a:tailEnd type="none" w="med" len="med"/>
            </a:ln>
          </p:spPr>
        </p:cxnSp>
        <p:cxnSp>
          <p:nvCxnSpPr>
            <p:cNvPr id="66" name="Google Shape;66;p8"/>
            <p:cNvCxnSpPr/>
            <p:nvPr/>
          </p:nvCxnSpPr>
          <p:spPr>
            <a:xfrm rot="10800000">
              <a:off x="-25" y="4608575"/>
              <a:ext cx="740700" cy="0"/>
            </a:xfrm>
            <a:prstGeom prst="straightConnector1">
              <a:avLst/>
            </a:prstGeom>
            <a:noFill/>
            <a:ln w="19050" cap="flat" cmpd="sng">
              <a:solidFill>
                <a:schemeClr val="dk1"/>
              </a:solidFill>
              <a:prstDash val="solid"/>
              <a:round/>
              <a:headEnd type="none" w="med" len="med"/>
              <a:tailEnd type="none" w="med" len="med"/>
            </a:ln>
          </p:spPr>
        </p:cxnSp>
      </p:grpSp>
      <p:sp>
        <p:nvSpPr>
          <p:cNvPr id="67" name="Google Shape;67;p8"/>
          <p:cNvSpPr txBox="1">
            <a:spLocks noGrp="1"/>
          </p:cNvSpPr>
          <p:nvPr>
            <p:ph type="title"/>
          </p:nvPr>
        </p:nvSpPr>
        <p:spPr>
          <a:xfrm>
            <a:off x="1644450" y="1733400"/>
            <a:ext cx="5855100" cy="760800"/>
          </a:xfrm>
          <a:prstGeom prst="rect">
            <a:avLst/>
          </a:prstGeom>
        </p:spPr>
        <p:txBody>
          <a:bodyPr spcFirstLastPara="1" wrap="square" lIns="91425" tIns="91425" rIns="91425" bIns="91425" anchor="b" anchorCtr="0">
            <a:noAutofit/>
          </a:bodyPr>
          <a:lstStyle>
            <a:lvl1pPr lvl="0" algn="ctr">
              <a:spcBef>
                <a:spcPts val="0"/>
              </a:spcBef>
              <a:spcAft>
                <a:spcPts val="0"/>
              </a:spcAft>
              <a:buSzPts val="4800"/>
              <a:buNone/>
              <a:defRPr sz="43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8"/>
        <p:cNvGrpSpPr/>
        <p:nvPr/>
      </p:nvGrpSpPr>
      <p:grpSpPr>
        <a:xfrm>
          <a:off x="0" y="0"/>
          <a:ext cx="0" cy="0"/>
          <a:chOff x="0" y="0"/>
          <a:chExt cx="0" cy="0"/>
        </a:xfrm>
      </p:grpSpPr>
      <p:sp>
        <p:nvSpPr>
          <p:cNvPr id="69" name="Google Shape;69;p9"/>
          <p:cNvSpPr/>
          <p:nvPr/>
        </p:nvSpPr>
        <p:spPr>
          <a:xfrm>
            <a:off x="-2613450" y="-126025"/>
            <a:ext cx="5402100" cy="54021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0" name="Google Shape;70;p9"/>
          <p:cNvGrpSpPr/>
          <p:nvPr/>
        </p:nvGrpSpPr>
        <p:grpSpPr>
          <a:xfrm>
            <a:off x="727425" y="-49275"/>
            <a:ext cx="7703400" cy="5243325"/>
            <a:chOff x="727425" y="-49275"/>
            <a:chExt cx="7703400" cy="5243325"/>
          </a:xfrm>
        </p:grpSpPr>
        <p:sp>
          <p:nvSpPr>
            <p:cNvPr id="71" name="Google Shape;71;p9"/>
            <p:cNvSpPr/>
            <p:nvPr/>
          </p:nvSpPr>
          <p:spPr>
            <a:xfrm>
              <a:off x="727425" y="533550"/>
              <a:ext cx="7703400" cy="40749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2" name="Google Shape;72;p9"/>
            <p:cNvCxnSpPr/>
            <p:nvPr/>
          </p:nvCxnSpPr>
          <p:spPr>
            <a:xfrm rot="10800000">
              <a:off x="727425" y="-49275"/>
              <a:ext cx="0" cy="585600"/>
            </a:xfrm>
            <a:prstGeom prst="straightConnector1">
              <a:avLst/>
            </a:prstGeom>
            <a:noFill/>
            <a:ln w="19050" cap="flat" cmpd="sng">
              <a:solidFill>
                <a:schemeClr val="dk1"/>
              </a:solidFill>
              <a:prstDash val="solid"/>
              <a:round/>
              <a:headEnd type="none" w="med" len="med"/>
              <a:tailEnd type="none" w="med" len="med"/>
            </a:ln>
          </p:spPr>
        </p:cxnSp>
        <p:cxnSp>
          <p:nvCxnSpPr>
            <p:cNvPr id="73" name="Google Shape;73;p9"/>
            <p:cNvCxnSpPr/>
            <p:nvPr/>
          </p:nvCxnSpPr>
          <p:spPr>
            <a:xfrm rot="10800000">
              <a:off x="8430775" y="4608450"/>
              <a:ext cx="0" cy="585600"/>
            </a:xfrm>
            <a:prstGeom prst="straightConnector1">
              <a:avLst/>
            </a:prstGeom>
            <a:noFill/>
            <a:ln w="19050" cap="flat" cmpd="sng">
              <a:solidFill>
                <a:schemeClr val="dk1"/>
              </a:solidFill>
              <a:prstDash val="solid"/>
              <a:round/>
              <a:headEnd type="none" w="med" len="med"/>
              <a:tailEnd type="none" w="med" len="med"/>
            </a:ln>
          </p:spPr>
        </p:cxnSp>
      </p:grpSp>
      <p:sp>
        <p:nvSpPr>
          <p:cNvPr id="74" name="Google Shape;74;p9"/>
          <p:cNvSpPr txBox="1">
            <a:spLocks noGrp="1"/>
          </p:cNvSpPr>
          <p:nvPr>
            <p:ph type="title"/>
          </p:nvPr>
        </p:nvSpPr>
        <p:spPr>
          <a:xfrm>
            <a:off x="3496850" y="1021763"/>
            <a:ext cx="4294800" cy="2095200"/>
          </a:xfrm>
          <a:prstGeom prst="rect">
            <a:avLst/>
          </a:prstGeom>
        </p:spPr>
        <p:txBody>
          <a:bodyPr spcFirstLastPara="1" wrap="square" lIns="91425" tIns="91425" rIns="91425" bIns="91425" anchor="b" anchorCtr="0">
            <a:noAutofit/>
          </a:bodyPr>
          <a:lstStyle>
            <a:lvl1pPr lvl="0" rtl="0">
              <a:spcBef>
                <a:spcPts val="0"/>
              </a:spcBef>
              <a:spcAft>
                <a:spcPts val="0"/>
              </a:spcAft>
              <a:buSzPts val="2800"/>
              <a:buNone/>
              <a:defRPr sz="4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75" name="Google Shape;75;p9"/>
          <p:cNvSpPr txBox="1">
            <a:spLocks noGrp="1"/>
          </p:cNvSpPr>
          <p:nvPr>
            <p:ph type="subTitle" idx="1"/>
          </p:nvPr>
        </p:nvSpPr>
        <p:spPr>
          <a:xfrm>
            <a:off x="3496850" y="3117038"/>
            <a:ext cx="4294800" cy="1004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2"/>
        </a:solidFill>
        <a:effectLst/>
      </p:bgPr>
    </p:bg>
    <p:spTree>
      <p:nvGrpSpPr>
        <p:cNvPr id="1" name="Shape 87"/>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113"/>
        <p:cNvGrpSpPr/>
        <p:nvPr/>
      </p:nvGrpSpPr>
      <p:grpSpPr>
        <a:xfrm>
          <a:off x="0" y="0"/>
          <a:ext cx="0" cy="0"/>
          <a:chOff x="0" y="0"/>
          <a:chExt cx="0" cy="0"/>
        </a:xfrm>
      </p:grpSpPr>
      <p:sp>
        <p:nvSpPr>
          <p:cNvPr id="114" name="Google Shape;114;p14"/>
          <p:cNvSpPr/>
          <p:nvPr/>
        </p:nvSpPr>
        <p:spPr>
          <a:xfrm>
            <a:off x="-2125550" y="3018625"/>
            <a:ext cx="4243200" cy="42432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 name="Google Shape;115;p14"/>
          <p:cNvGrpSpPr/>
          <p:nvPr/>
        </p:nvGrpSpPr>
        <p:grpSpPr>
          <a:xfrm>
            <a:off x="727425" y="-29250"/>
            <a:ext cx="8550550" cy="4637825"/>
            <a:chOff x="727425" y="-29250"/>
            <a:chExt cx="8550550" cy="4637825"/>
          </a:xfrm>
        </p:grpSpPr>
        <p:sp>
          <p:nvSpPr>
            <p:cNvPr id="116" name="Google Shape;116;p14"/>
            <p:cNvSpPr/>
            <p:nvPr/>
          </p:nvSpPr>
          <p:spPr>
            <a:xfrm>
              <a:off x="727425" y="533550"/>
              <a:ext cx="7703400" cy="40749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7" name="Google Shape;117;p14"/>
            <p:cNvCxnSpPr/>
            <p:nvPr/>
          </p:nvCxnSpPr>
          <p:spPr>
            <a:xfrm rot="10800000">
              <a:off x="727425" y="-29250"/>
              <a:ext cx="0" cy="562800"/>
            </a:xfrm>
            <a:prstGeom prst="straightConnector1">
              <a:avLst/>
            </a:prstGeom>
            <a:noFill/>
            <a:ln w="19050" cap="flat" cmpd="sng">
              <a:solidFill>
                <a:schemeClr val="dk1"/>
              </a:solidFill>
              <a:prstDash val="solid"/>
              <a:round/>
              <a:headEnd type="none" w="med" len="med"/>
              <a:tailEnd type="none" w="med" len="med"/>
            </a:ln>
          </p:spPr>
        </p:cxnSp>
        <p:cxnSp>
          <p:nvCxnSpPr>
            <p:cNvPr id="118" name="Google Shape;118;p14"/>
            <p:cNvCxnSpPr/>
            <p:nvPr/>
          </p:nvCxnSpPr>
          <p:spPr>
            <a:xfrm>
              <a:off x="8430775" y="4608575"/>
              <a:ext cx="847200" cy="0"/>
            </a:xfrm>
            <a:prstGeom prst="straightConnector1">
              <a:avLst/>
            </a:prstGeom>
            <a:noFill/>
            <a:ln w="19050" cap="flat" cmpd="sng">
              <a:solidFill>
                <a:schemeClr val="dk1"/>
              </a:solidFill>
              <a:prstDash val="solid"/>
              <a:round/>
              <a:headEnd type="none" w="med" len="med"/>
              <a:tailEnd type="none" w="med" len="med"/>
            </a:ln>
          </p:spPr>
        </p:cxnSp>
      </p:grpSp>
      <p:sp>
        <p:nvSpPr>
          <p:cNvPr id="119" name="Google Shape;119;p14"/>
          <p:cNvSpPr txBox="1">
            <a:spLocks noGrp="1"/>
          </p:cNvSpPr>
          <p:nvPr>
            <p:ph type="title"/>
          </p:nvPr>
        </p:nvSpPr>
        <p:spPr>
          <a:xfrm>
            <a:off x="2212125" y="2464650"/>
            <a:ext cx="5913900" cy="531900"/>
          </a:xfrm>
          <a:prstGeom prst="rect">
            <a:avLst/>
          </a:prstGeom>
        </p:spPr>
        <p:txBody>
          <a:bodyPr spcFirstLastPara="1" wrap="square" lIns="91425" tIns="91425" rIns="91425" bIns="91425" anchor="t" anchorCtr="0">
            <a:noAutofit/>
          </a:bodyPr>
          <a:lstStyle>
            <a:lvl1pPr lvl="0" algn="r" rtl="0">
              <a:lnSpc>
                <a:spcPct val="115000"/>
              </a:lnSpc>
              <a:spcBef>
                <a:spcPts val="0"/>
              </a:spcBef>
              <a:spcAft>
                <a:spcPts val="0"/>
              </a:spcAft>
              <a:buSzPts val="3000"/>
              <a:buNone/>
              <a:defRPr sz="28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120" name="Google Shape;120;p14"/>
          <p:cNvSpPr txBox="1">
            <a:spLocks noGrp="1"/>
          </p:cNvSpPr>
          <p:nvPr>
            <p:ph type="subTitle" idx="1"/>
          </p:nvPr>
        </p:nvSpPr>
        <p:spPr>
          <a:xfrm>
            <a:off x="2212125" y="838350"/>
            <a:ext cx="5913900" cy="16263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000"/>
              <a:buNone/>
              <a:defRPr sz="2500">
                <a:latin typeface="Hanken Grotesk"/>
                <a:ea typeface="Hanken Grotesk"/>
                <a:cs typeface="Hanken Grotesk"/>
                <a:sym typeface="Hanken Grotesk"/>
              </a:defRPr>
            </a:lvl1pPr>
            <a:lvl2pPr lvl="1" algn="ctr" rtl="0">
              <a:lnSpc>
                <a:spcPct val="100000"/>
              </a:lnSpc>
              <a:spcBef>
                <a:spcPts val="0"/>
              </a:spcBef>
              <a:spcAft>
                <a:spcPts val="0"/>
              </a:spcAft>
              <a:buSzPts val="3000"/>
              <a:buNone/>
              <a:defRPr sz="3000"/>
            </a:lvl2pPr>
            <a:lvl3pPr lvl="2" algn="ctr" rtl="0">
              <a:lnSpc>
                <a:spcPct val="100000"/>
              </a:lnSpc>
              <a:spcBef>
                <a:spcPts val="0"/>
              </a:spcBef>
              <a:spcAft>
                <a:spcPts val="0"/>
              </a:spcAft>
              <a:buSzPts val="3000"/>
              <a:buNone/>
              <a:defRPr sz="3000"/>
            </a:lvl3pPr>
            <a:lvl4pPr lvl="3" algn="ctr" rtl="0">
              <a:lnSpc>
                <a:spcPct val="100000"/>
              </a:lnSpc>
              <a:spcBef>
                <a:spcPts val="0"/>
              </a:spcBef>
              <a:spcAft>
                <a:spcPts val="0"/>
              </a:spcAft>
              <a:buSzPts val="3000"/>
              <a:buNone/>
              <a:defRPr sz="3000"/>
            </a:lvl4pPr>
            <a:lvl5pPr lvl="4" algn="ctr" rtl="0">
              <a:lnSpc>
                <a:spcPct val="100000"/>
              </a:lnSpc>
              <a:spcBef>
                <a:spcPts val="0"/>
              </a:spcBef>
              <a:spcAft>
                <a:spcPts val="0"/>
              </a:spcAft>
              <a:buSzPts val="3000"/>
              <a:buNone/>
              <a:defRPr sz="3000"/>
            </a:lvl5pPr>
            <a:lvl6pPr lvl="5" algn="ctr" rtl="0">
              <a:lnSpc>
                <a:spcPct val="100000"/>
              </a:lnSpc>
              <a:spcBef>
                <a:spcPts val="0"/>
              </a:spcBef>
              <a:spcAft>
                <a:spcPts val="0"/>
              </a:spcAft>
              <a:buSzPts val="3000"/>
              <a:buNone/>
              <a:defRPr sz="3000"/>
            </a:lvl6pPr>
            <a:lvl7pPr lvl="6" algn="ctr" rtl="0">
              <a:lnSpc>
                <a:spcPct val="100000"/>
              </a:lnSpc>
              <a:spcBef>
                <a:spcPts val="0"/>
              </a:spcBef>
              <a:spcAft>
                <a:spcPts val="0"/>
              </a:spcAft>
              <a:buSzPts val="3000"/>
              <a:buNone/>
              <a:defRPr sz="3000"/>
            </a:lvl7pPr>
            <a:lvl8pPr lvl="7" algn="ctr" rtl="0">
              <a:lnSpc>
                <a:spcPct val="100000"/>
              </a:lnSpc>
              <a:spcBef>
                <a:spcPts val="0"/>
              </a:spcBef>
              <a:spcAft>
                <a:spcPts val="0"/>
              </a:spcAft>
              <a:buSzPts val="3000"/>
              <a:buNone/>
              <a:defRPr sz="3000"/>
            </a:lvl8pPr>
            <a:lvl9pPr lvl="8" algn="ctr" rtl="0">
              <a:lnSpc>
                <a:spcPct val="100000"/>
              </a:lnSpc>
              <a:spcBef>
                <a:spcPts val="0"/>
              </a:spcBef>
              <a:spcAft>
                <a:spcPts val="0"/>
              </a:spcAft>
              <a:buSzPts val="3000"/>
              <a:buNone/>
              <a:defRPr sz="30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257"/>
        <p:cNvGrpSpPr/>
        <p:nvPr/>
      </p:nvGrpSpPr>
      <p:grpSpPr>
        <a:xfrm>
          <a:off x="0" y="0"/>
          <a:ext cx="0" cy="0"/>
          <a:chOff x="0" y="0"/>
          <a:chExt cx="0" cy="0"/>
        </a:xfrm>
      </p:grpSpPr>
      <p:sp>
        <p:nvSpPr>
          <p:cNvPr id="258" name="Google Shape;258;p27"/>
          <p:cNvSpPr/>
          <p:nvPr/>
        </p:nvSpPr>
        <p:spPr>
          <a:xfrm>
            <a:off x="6677100" y="-9050"/>
            <a:ext cx="5161500" cy="51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9" name="Google Shape;259;p27"/>
          <p:cNvGrpSpPr/>
          <p:nvPr/>
        </p:nvGrpSpPr>
        <p:grpSpPr>
          <a:xfrm>
            <a:off x="713223" y="-79050"/>
            <a:ext cx="8791100" cy="4687625"/>
            <a:chOff x="-669332" y="-79050"/>
            <a:chExt cx="10173707" cy="4687625"/>
          </a:xfrm>
        </p:grpSpPr>
        <p:sp>
          <p:nvSpPr>
            <p:cNvPr id="260" name="Google Shape;260;p27"/>
            <p:cNvSpPr/>
            <p:nvPr/>
          </p:nvSpPr>
          <p:spPr>
            <a:xfrm>
              <a:off x="-669325" y="533550"/>
              <a:ext cx="9100200" cy="40749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61" name="Google Shape;261;p27"/>
            <p:cNvCxnSpPr/>
            <p:nvPr/>
          </p:nvCxnSpPr>
          <p:spPr>
            <a:xfrm rot="10800000">
              <a:off x="-669332" y="-79050"/>
              <a:ext cx="0" cy="624900"/>
            </a:xfrm>
            <a:prstGeom prst="straightConnector1">
              <a:avLst/>
            </a:prstGeom>
            <a:noFill/>
            <a:ln w="19050" cap="flat" cmpd="sng">
              <a:solidFill>
                <a:schemeClr val="dk1"/>
              </a:solidFill>
              <a:prstDash val="solid"/>
              <a:round/>
              <a:headEnd type="none" w="med" len="med"/>
              <a:tailEnd type="none" w="med" len="med"/>
            </a:ln>
          </p:spPr>
        </p:cxnSp>
        <p:cxnSp>
          <p:nvCxnSpPr>
            <p:cNvPr id="262" name="Google Shape;262;p27"/>
            <p:cNvCxnSpPr/>
            <p:nvPr/>
          </p:nvCxnSpPr>
          <p:spPr>
            <a:xfrm>
              <a:off x="8425275" y="4608575"/>
              <a:ext cx="1079100" cy="0"/>
            </a:xfrm>
            <a:prstGeom prst="straightConnector1">
              <a:avLst/>
            </a:prstGeom>
            <a:noFill/>
            <a:ln w="19050" cap="flat" cmpd="sng">
              <a:solidFill>
                <a:schemeClr val="dk1"/>
              </a:solidFill>
              <a:prstDash val="solid"/>
              <a:round/>
              <a:headEnd type="none" w="med" len="med"/>
              <a:tailEnd type="none" w="med" len="med"/>
            </a:ln>
          </p:spPr>
        </p:cxnSp>
      </p:grpSp>
      <p:sp>
        <p:nvSpPr>
          <p:cNvPr id="263" name="Google Shape;263;p27"/>
          <p:cNvSpPr txBox="1">
            <a:spLocks noGrp="1"/>
          </p:cNvSpPr>
          <p:nvPr>
            <p:ph type="title"/>
          </p:nvPr>
        </p:nvSpPr>
        <p:spPr>
          <a:xfrm>
            <a:off x="1094263" y="778325"/>
            <a:ext cx="4448100" cy="1058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5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64" name="Google Shape;264;p27"/>
          <p:cNvSpPr txBox="1">
            <a:spLocks noGrp="1"/>
          </p:cNvSpPr>
          <p:nvPr>
            <p:ph type="subTitle" idx="1"/>
          </p:nvPr>
        </p:nvSpPr>
        <p:spPr>
          <a:xfrm>
            <a:off x="1094225" y="1651512"/>
            <a:ext cx="4448100" cy="12249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atin typeface="Hanken Grotesk"/>
                <a:ea typeface="Hanken Grotesk"/>
                <a:cs typeface="Hanken Grotesk"/>
                <a:sym typeface="Hanken Grotesk"/>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65" name="Google Shape;265;p27"/>
          <p:cNvSpPr txBox="1"/>
          <p:nvPr/>
        </p:nvSpPr>
        <p:spPr>
          <a:xfrm>
            <a:off x="1094225" y="3383825"/>
            <a:ext cx="5797200" cy="556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300"/>
              </a:spcBef>
              <a:spcAft>
                <a:spcPts val="0"/>
              </a:spcAft>
              <a:buNone/>
            </a:pPr>
            <a:r>
              <a:rPr lang="en" sz="1200">
                <a:solidFill>
                  <a:schemeClr val="dk1"/>
                </a:solidFill>
                <a:latin typeface="Hanken Grotesk"/>
                <a:ea typeface="Hanken Grotesk"/>
                <a:cs typeface="Hanken Grotesk"/>
                <a:sym typeface="Hanken Grotesk"/>
              </a:rPr>
              <a:t>CREDITS: This presentation template was created by </a:t>
            </a:r>
            <a:r>
              <a:rPr lang="en" sz="1200" b="1" u="sng">
                <a:solidFill>
                  <a:schemeClr val="dk1"/>
                </a:solidFill>
                <a:latin typeface="Hanken Grotesk"/>
                <a:ea typeface="Hanken Grotesk"/>
                <a:cs typeface="Hanken Grotesk"/>
                <a:sym typeface="Hanken Grotesk"/>
                <a:hlinkClick r:id="rId2">
                  <a:extLst>
                    <a:ext uri="{A12FA001-AC4F-418D-AE19-62706E023703}">
                      <ahyp:hlinkClr xmlns:ahyp="http://schemas.microsoft.com/office/drawing/2018/hyperlinkcolor" val="tx"/>
                    </a:ext>
                  </a:extLst>
                </a:hlinkClick>
              </a:rPr>
              <a:t>Slidesgo</a:t>
            </a:r>
            <a:r>
              <a:rPr lang="en" sz="1200" b="1">
                <a:solidFill>
                  <a:schemeClr val="dk1"/>
                </a:solidFill>
                <a:latin typeface="Hanken Grotesk"/>
                <a:ea typeface="Hanken Grotesk"/>
                <a:cs typeface="Hanken Grotesk"/>
                <a:sym typeface="Hanken Grotesk"/>
              </a:rPr>
              <a:t>,</a:t>
            </a:r>
            <a:r>
              <a:rPr lang="en" sz="1200">
                <a:solidFill>
                  <a:schemeClr val="dk1"/>
                </a:solidFill>
                <a:latin typeface="Hanken Grotesk"/>
                <a:ea typeface="Hanken Grotesk"/>
                <a:cs typeface="Hanken Grotesk"/>
                <a:sym typeface="Hanken Grotesk"/>
              </a:rPr>
              <a:t> and includes icons, infographics &amp; images by </a:t>
            </a:r>
            <a:r>
              <a:rPr lang="en" sz="1200" b="1" u="sng">
                <a:solidFill>
                  <a:schemeClr val="dk1"/>
                </a:solidFill>
                <a:latin typeface="Hanken Grotesk"/>
                <a:ea typeface="Hanken Grotesk"/>
                <a:cs typeface="Hanken Grotesk"/>
                <a:sym typeface="Hanken Grotesk"/>
                <a:hlinkClick r:id="rId3">
                  <a:extLst>
                    <a:ext uri="{A12FA001-AC4F-418D-AE19-62706E023703}">
                      <ahyp:hlinkClr xmlns:ahyp="http://schemas.microsoft.com/office/drawing/2018/hyperlinkcolor" val="tx"/>
                    </a:ext>
                  </a:extLst>
                </a:hlinkClick>
              </a:rPr>
              <a:t>Freepik</a:t>
            </a:r>
            <a:r>
              <a:rPr lang="en" sz="1200" b="1" u="sng">
                <a:solidFill>
                  <a:schemeClr val="dk1"/>
                </a:solidFill>
                <a:latin typeface="Hanken Grotesk"/>
                <a:ea typeface="Hanken Grotesk"/>
                <a:cs typeface="Hanken Grotesk"/>
                <a:sym typeface="Hanken Grotesk"/>
              </a:rPr>
              <a:t> </a:t>
            </a:r>
            <a:endParaRPr sz="1200" b="1" u="sng">
              <a:solidFill>
                <a:schemeClr val="dk1"/>
              </a:solidFill>
              <a:latin typeface="Hanken Grotesk"/>
              <a:ea typeface="Hanken Grotesk"/>
              <a:cs typeface="Hanken Grotesk"/>
              <a:sym typeface="Hanken Grotesk"/>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p:cSld name="CUSTOM_7">
    <p:spTree>
      <p:nvGrpSpPr>
        <p:cNvPr id="1" name="Shape 266"/>
        <p:cNvGrpSpPr/>
        <p:nvPr/>
      </p:nvGrpSpPr>
      <p:grpSpPr>
        <a:xfrm>
          <a:off x="0" y="0"/>
          <a:ext cx="0" cy="0"/>
          <a:chOff x="0" y="0"/>
          <a:chExt cx="0" cy="0"/>
        </a:xfrm>
      </p:grpSpPr>
      <p:sp>
        <p:nvSpPr>
          <p:cNvPr id="267" name="Google Shape;267;p28"/>
          <p:cNvSpPr/>
          <p:nvPr/>
        </p:nvSpPr>
        <p:spPr>
          <a:xfrm>
            <a:off x="8240650" y="420432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8" name="Google Shape;268;p28"/>
          <p:cNvGrpSpPr/>
          <p:nvPr/>
        </p:nvGrpSpPr>
        <p:grpSpPr>
          <a:xfrm>
            <a:off x="232200" y="-49400"/>
            <a:ext cx="8679000" cy="5250800"/>
            <a:chOff x="232200" y="-49400"/>
            <a:chExt cx="8679000" cy="5250800"/>
          </a:xfrm>
        </p:grpSpPr>
        <p:sp>
          <p:nvSpPr>
            <p:cNvPr id="269" name="Google Shape;269;p28"/>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0" name="Google Shape;270;p28"/>
            <p:cNvGrpSpPr/>
            <p:nvPr/>
          </p:nvGrpSpPr>
          <p:grpSpPr>
            <a:xfrm>
              <a:off x="232200" y="-49400"/>
              <a:ext cx="8679000" cy="5250800"/>
              <a:chOff x="232200" y="-49400"/>
              <a:chExt cx="8679000" cy="5250800"/>
            </a:xfrm>
          </p:grpSpPr>
          <p:cxnSp>
            <p:nvCxnSpPr>
              <p:cNvPr id="271" name="Google Shape;271;p28"/>
              <p:cNvCxnSpPr/>
              <p:nvPr/>
            </p:nvCxnSpPr>
            <p:spPr>
              <a:xfrm rot="10800000">
                <a:off x="232200" y="-49400"/>
                <a:ext cx="0" cy="284100"/>
              </a:xfrm>
              <a:prstGeom prst="straightConnector1">
                <a:avLst/>
              </a:prstGeom>
              <a:noFill/>
              <a:ln w="19050" cap="flat" cmpd="sng">
                <a:solidFill>
                  <a:schemeClr val="dk1"/>
                </a:solidFill>
                <a:prstDash val="solid"/>
                <a:round/>
                <a:headEnd type="none" w="med" len="med"/>
                <a:tailEnd type="none" w="med" len="med"/>
              </a:ln>
            </p:spPr>
          </p:cxnSp>
          <p:cxnSp>
            <p:nvCxnSpPr>
              <p:cNvPr id="272" name="Google Shape;272;p28"/>
              <p:cNvCxnSpPr/>
              <p:nvPr/>
            </p:nvCxnSpPr>
            <p:spPr>
              <a:xfrm rot="10800000">
                <a:off x="8911200" y="4917300"/>
                <a:ext cx="0" cy="284100"/>
              </a:xfrm>
              <a:prstGeom prst="straightConnector1">
                <a:avLst/>
              </a:prstGeom>
              <a:noFill/>
              <a:ln w="19050" cap="flat" cmpd="sng">
                <a:solidFill>
                  <a:schemeClr val="dk1"/>
                </a:solidFill>
                <a:prstDash val="solid"/>
                <a:round/>
                <a:headEnd type="none" w="med" len="med"/>
                <a:tailEnd type="none" w="med" len="med"/>
              </a:ln>
            </p:spPr>
          </p:cxn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1">
  <p:cSld name="CUSTOM_8">
    <p:spTree>
      <p:nvGrpSpPr>
        <p:cNvPr id="1" name="Shape 273"/>
        <p:cNvGrpSpPr/>
        <p:nvPr/>
      </p:nvGrpSpPr>
      <p:grpSpPr>
        <a:xfrm>
          <a:off x="0" y="0"/>
          <a:ext cx="0" cy="0"/>
          <a:chOff x="0" y="0"/>
          <a:chExt cx="0" cy="0"/>
        </a:xfrm>
      </p:grpSpPr>
      <p:sp>
        <p:nvSpPr>
          <p:cNvPr id="274" name="Google Shape;274;p29"/>
          <p:cNvSpPr/>
          <p:nvPr/>
        </p:nvSpPr>
        <p:spPr>
          <a:xfrm>
            <a:off x="8141975" y="-88657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5" name="Google Shape;275;p29"/>
          <p:cNvGrpSpPr/>
          <p:nvPr/>
        </p:nvGrpSpPr>
        <p:grpSpPr>
          <a:xfrm>
            <a:off x="232200" y="232800"/>
            <a:ext cx="9045000" cy="4975500"/>
            <a:chOff x="232200" y="232800"/>
            <a:chExt cx="9045000" cy="4975500"/>
          </a:xfrm>
        </p:grpSpPr>
        <p:sp>
          <p:nvSpPr>
            <p:cNvPr id="276" name="Google Shape;276;p29"/>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77" name="Google Shape;277;p29"/>
            <p:cNvCxnSpPr/>
            <p:nvPr/>
          </p:nvCxnSpPr>
          <p:spPr>
            <a:xfrm>
              <a:off x="8911200" y="232800"/>
              <a:ext cx="366000" cy="0"/>
            </a:xfrm>
            <a:prstGeom prst="straightConnector1">
              <a:avLst/>
            </a:prstGeom>
            <a:noFill/>
            <a:ln w="19050" cap="flat" cmpd="sng">
              <a:solidFill>
                <a:schemeClr val="dk1"/>
              </a:solidFill>
              <a:prstDash val="solid"/>
              <a:round/>
              <a:headEnd type="none" w="med" len="med"/>
              <a:tailEnd type="none" w="med" len="med"/>
            </a:ln>
          </p:spPr>
        </p:cxnSp>
        <p:cxnSp>
          <p:nvCxnSpPr>
            <p:cNvPr id="278" name="Google Shape;278;p29"/>
            <p:cNvCxnSpPr/>
            <p:nvPr/>
          </p:nvCxnSpPr>
          <p:spPr>
            <a:xfrm>
              <a:off x="232200" y="4917300"/>
              <a:ext cx="1200" cy="291000"/>
            </a:xfrm>
            <a:prstGeom prst="straightConnector1">
              <a:avLst/>
            </a:prstGeom>
            <a:noFill/>
            <a:ln w="19050" cap="flat" cmpd="sng">
              <a:solidFill>
                <a:schemeClr val="dk1"/>
              </a:solidFill>
              <a:prstDash val="solid"/>
              <a:round/>
              <a:headEnd type="none" w="med" len="med"/>
              <a:tailEnd type="none" w="med" len="med"/>
            </a:ln>
          </p:spPr>
        </p:cxn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Figtree Black"/>
              <a:buNone/>
              <a:defRPr sz="2800">
                <a:solidFill>
                  <a:schemeClr val="dk1"/>
                </a:solidFill>
                <a:latin typeface="Figtree Black"/>
                <a:ea typeface="Figtree Black"/>
                <a:cs typeface="Figtree Black"/>
                <a:sym typeface="Figtree Black"/>
              </a:defRPr>
            </a:lvl1pPr>
            <a:lvl2pPr lvl="1"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2pPr>
            <a:lvl3pPr lvl="2"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3pPr>
            <a:lvl4pPr lvl="3"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4pPr>
            <a:lvl5pPr lvl="4"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5pPr>
            <a:lvl6pPr lvl="5"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6pPr>
            <a:lvl7pPr lvl="6"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7pPr>
            <a:lvl8pPr lvl="7"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8pPr>
            <a:lvl9pPr lvl="8"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9pPr>
          </a:lstStyle>
          <a:p>
            <a:endParaRPr/>
          </a:p>
        </p:txBody>
      </p:sp>
      <p:sp>
        <p:nvSpPr>
          <p:cNvPr id="7" name="Google Shape;7;p1"/>
          <p:cNvSpPr txBox="1">
            <a:spLocks noGrp="1"/>
          </p:cNvSpPr>
          <p:nvPr>
            <p:ph type="body" idx="1"/>
          </p:nvPr>
        </p:nvSpPr>
        <p:spPr>
          <a:xfrm>
            <a:off x="713400"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1pPr>
            <a:lvl2pPr marL="914400" lvl="1"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2pPr>
            <a:lvl3pPr marL="1371600" lvl="2"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3pPr>
            <a:lvl4pPr marL="1828800" lvl="3"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4pPr>
            <a:lvl5pPr marL="2286000" lvl="4"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5pPr>
            <a:lvl6pPr marL="2743200" lvl="5"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6pPr>
            <a:lvl7pPr marL="3200400" lvl="6"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7pPr>
            <a:lvl8pPr marL="3657600" lvl="7"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8pPr>
            <a:lvl9pPr marL="4114800" lvl="8"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4" r:id="rId3"/>
    <p:sldLayoutId id="2147483655" r:id="rId4"/>
    <p:sldLayoutId id="2147483658" r:id="rId5"/>
    <p:sldLayoutId id="2147483660" r:id="rId6"/>
    <p:sldLayoutId id="2147483673" r:id="rId7"/>
    <p:sldLayoutId id="2147483674" r:id="rId8"/>
    <p:sldLayoutId id="2147483675"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33"/>
          <p:cNvSpPr txBox="1">
            <a:spLocks noGrp="1"/>
          </p:cNvSpPr>
          <p:nvPr>
            <p:ph type="ctrTitle"/>
          </p:nvPr>
        </p:nvSpPr>
        <p:spPr>
          <a:xfrm>
            <a:off x="1087125" y="1670213"/>
            <a:ext cx="5897400" cy="1392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Image Processing</a:t>
            </a:r>
            <a:endParaRPr dirty="0"/>
          </a:p>
        </p:txBody>
      </p:sp>
      <p:sp>
        <p:nvSpPr>
          <p:cNvPr id="290" name="Google Shape;290;p33"/>
          <p:cNvSpPr txBox="1">
            <a:spLocks noGrp="1"/>
          </p:cNvSpPr>
          <p:nvPr>
            <p:ph type="subTitle" idx="1"/>
          </p:nvPr>
        </p:nvSpPr>
        <p:spPr>
          <a:xfrm>
            <a:off x="1087124" y="2997488"/>
            <a:ext cx="6595673" cy="475800"/>
          </a:xfrm>
          <a:prstGeom prst="rect">
            <a:avLst/>
          </a:prstGeom>
        </p:spPr>
        <p:txBody>
          <a:bodyPr spcFirstLastPara="1" wrap="square" lIns="91425" tIns="91425" rIns="91425" bIns="91425" anchor="t" anchorCtr="0">
            <a:noAutofit/>
          </a:bodyPr>
          <a:lstStyle/>
          <a:p>
            <a:pPr marL="0" indent="0"/>
            <a:r>
              <a:rPr lang="en-US" b="1" dirty="0"/>
              <a:t>Implementation of Histogram and Convolution Techniques </a:t>
            </a:r>
            <a:r>
              <a:rPr lang="en-US" dirty="0"/>
              <a:t>: </a:t>
            </a:r>
            <a:r>
              <a:rPr lang="en-US" b="1" dirty="0"/>
              <a:t>Histograms and Convolution, Filtering, Contrast, Geometric Transformations, and Image Restoration</a:t>
            </a:r>
          </a:p>
          <a:p>
            <a:pPr marL="0" lvl="0" indent="0"/>
            <a:endParaRPr dirty="0">
              <a:latin typeface="Hanken Grotesk"/>
              <a:ea typeface="Hanken Grotesk"/>
              <a:cs typeface="Hanken Grotesk"/>
              <a:sym typeface="Hanken Grotesk"/>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38"/>
          <p:cNvSpPr txBox="1">
            <a:spLocks noGrp="1"/>
          </p:cNvSpPr>
          <p:nvPr>
            <p:ph type="subTitle" idx="1"/>
          </p:nvPr>
        </p:nvSpPr>
        <p:spPr>
          <a:xfrm>
            <a:off x="1099442" y="3020963"/>
            <a:ext cx="7055396" cy="1626300"/>
          </a:xfrm>
          <a:prstGeom prst="rect">
            <a:avLst/>
          </a:prstGeom>
        </p:spPr>
        <p:txBody>
          <a:bodyPr spcFirstLastPara="1" wrap="square" lIns="91425" tIns="91425" rIns="91425" bIns="91425" anchor="b" anchorCtr="0">
            <a:noAutofit/>
          </a:bodyPr>
          <a:lstStyle/>
          <a:p>
            <a:pPr marL="0" lvl="0" indent="0"/>
            <a:r>
              <a:rPr lang="en-US" sz="2200" b="1" dirty="0"/>
              <a:t>"If a histogram tells us what an image is made of, convolution tells us where its secrets are hidden. Together, they form the bedrock of how machines learn to see.“</a:t>
            </a:r>
          </a:p>
          <a:p>
            <a:pPr marL="0" lvl="0" indent="0"/>
            <a:r>
              <a:rPr lang="en-US" sz="2200" dirty="0"/>
              <a:t> </a:t>
            </a:r>
          </a:p>
          <a:p>
            <a:pPr marL="0" lvl="0" indent="0"/>
            <a:r>
              <a:rPr lang="en-US" sz="2200" dirty="0"/>
              <a:t>(Jika histogram </a:t>
            </a:r>
            <a:r>
              <a:rPr lang="en-US" sz="2200" dirty="0" err="1"/>
              <a:t>memberi</a:t>
            </a:r>
            <a:r>
              <a:rPr lang="en-US" sz="2200" dirty="0"/>
              <a:t> </a:t>
            </a:r>
            <a:r>
              <a:rPr lang="en-US" sz="2200" dirty="0" err="1"/>
              <a:t>tahu</a:t>
            </a:r>
            <a:r>
              <a:rPr lang="en-US" sz="2200" dirty="0"/>
              <a:t> </a:t>
            </a:r>
            <a:r>
              <a:rPr lang="en-US" sz="2200" dirty="0" err="1"/>
              <a:t>kita</a:t>
            </a:r>
            <a:r>
              <a:rPr lang="en-US" sz="2200" dirty="0"/>
              <a:t> </a:t>
            </a:r>
            <a:r>
              <a:rPr lang="en-US" sz="2200" dirty="0" err="1"/>
              <a:t>komponen</a:t>
            </a:r>
            <a:r>
              <a:rPr lang="en-US" sz="2200" dirty="0"/>
              <a:t> </a:t>
            </a:r>
            <a:r>
              <a:rPr lang="en-US" sz="2200" dirty="0" err="1"/>
              <a:t>penyusun</a:t>
            </a:r>
            <a:r>
              <a:rPr lang="en-US" sz="2200" dirty="0"/>
              <a:t> </a:t>
            </a:r>
            <a:r>
              <a:rPr lang="en-US" sz="2200" dirty="0" err="1"/>
              <a:t>suatu</a:t>
            </a:r>
            <a:r>
              <a:rPr lang="en-US" sz="2200" dirty="0"/>
              <a:t> </a:t>
            </a:r>
            <a:r>
              <a:rPr lang="en-US" sz="2200" dirty="0" err="1"/>
              <a:t>gambar</a:t>
            </a:r>
            <a:r>
              <a:rPr lang="en-US" sz="2200" dirty="0"/>
              <a:t>, </a:t>
            </a:r>
            <a:r>
              <a:rPr lang="en-US" sz="2200" dirty="0" err="1"/>
              <a:t>konvolusi</a:t>
            </a:r>
            <a:r>
              <a:rPr lang="en-US" sz="2200" dirty="0"/>
              <a:t> </a:t>
            </a:r>
            <a:r>
              <a:rPr lang="en-US" sz="2200" dirty="0" err="1"/>
              <a:t>memberi</a:t>
            </a:r>
            <a:r>
              <a:rPr lang="en-US" sz="2200" dirty="0"/>
              <a:t> </a:t>
            </a:r>
            <a:r>
              <a:rPr lang="en-US" sz="2200" dirty="0" err="1"/>
              <a:t>tahu</a:t>
            </a:r>
            <a:r>
              <a:rPr lang="en-US" sz="2200" dirty="0"/>
              <a:t> </a:t>
            </a:r>
            <a:r>
              <a:rPr lang="en-US" sz="2200" dirty="0" err="1"/>
              <a:t>kita</a:t>
            </a:r>
            <a:r>
              <a:rPr lang="en-US" sz="2200" dirty="0"/>
              <a:t> di mana </a:t>
            </a:r>
            <a:r>
              <a:rPr lang="en-US" sz="2200" dirty="0" err="1"/>
              <a:t>rahasianya</a:t>
            </a:r>
            <a:r>
              <a:rPr lang="en-US" sz="2200" dirty="0"/>
              <a:t> </a:t>
            </a:r>
            <a:r>
              <a:rPr lang="en-US" sz="2200" dirty="0" err="1"/>
              <a:t>tersembunyi</a:t>
            </a:r>
            <a:r>
              <a:rPr lang="en-US" sz="2200" dirty="0"/>
              <a:t>. Bersama-</a:t>
            </a:r>
            <a:r>
              <a:rPr lang="en-US" sz="2200" dirty="0" err="1"/>
              <a:t>sama</a:t>
            </a:r>
            <a:r>
              <a:rPr lang="en-US" sz="2200" dirty="0"/>
              <a:t>, </a:t>
            </a:r>
            <a:r>
              <a:rPr lang="en-US" sz="2200" dirty="0" err="1"/>
              <a:t>keduanya</a:t>
            </a:r>
            <a:r>
              <a:rPr lang="en-US" sz="2200" dirty="0"/>
              <a:t> </a:t>
            </a:r>
            <a:r>
              <a:rPr lang="en-US" sz="2200" dirty="0" err="1"/>
              <a:t>membentuk</a:t>
            </a:r>
            <a:r>
              <a:rPr lang="en-US" sz="2200" dirty="0"/>
              <a:t> </a:t>
            </a:r>
            <a:r>
              <a:rPr lang="en-US" sz="2200" dirty="0" err="1"/>
              <a:t>dasar</a:t>
            </a:r>
            <a:r>
              <a:rPr lang="en-US" sz="2200" dirty="0"/>
              <a:t> </a:t>
            </a:r>
            <a:r>
              <a:rPr lang="en-US" sz="2200" dirty="0" err="1"/>
              <a:t>bagaimana</a:t>
            </a:r>
            <a:r>
              <a:rPr lang="en-US" sz="2200" dirty="0"/>
              <a:t> </a:t>
            </a:r>
            <a:r>
              <a:rPr lang="en-US" sz="2200" dirty="0" err="1"/>
              <a:t>mesin</a:t>
            </a:r>
            <a:r>
              <a:rPr lang="en-US" sz="2200" dirty="0"/>
              <a:t> </a:t>
            </a:r>
            <a:r>
              <a:rPr lang="en-US" sz="2200" dirty="0" err="1"/>
              <a:t>belajar</a:t>
            </a:r>
            <a:r>
              <a:rPr lang="en-US" sz="2200" dirty="0"/>
              <a:t> </a:t>
            </a:r>
            <a:r>
              <a:rPr lang="en-US" sz="2200" dirty="0" err="1"/>
              <a:t>untuk</a:t>
            </a:r>
            <a:r>
              <a:rPr lang="en-US" sz="2200" dirty="0"/>
              <a:t> </a:t>
            </a:r>
            <a:r>
              <a:rPr lang="en-US" sz="2200" dirty="0" err="1"/>
              <a:t>melihat</a:t>
            </a:r>
            <a:r>
              <a:rPr lang="en-US" sz="2200" dirty="0"/>
              <a:t>.)</a:t>
            </a:r>
            <a:endParaRPr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20956-5962-907D-60FE-8E07F0E3902C}"/>
              </a:ext>
            </a:extLst>
          </p:cNvPr>
          <p:cNvSpPr>
            <a:spLocks noGrp="1"/>
          </p:cNvSpPr>
          <p:nvPr>
            <p:ph type="title"/>
          </p:nvPr>
        </p:nvSpPr>
        <p:spPr/>
        <p:txBody>
          <a:bodyPr/>
          <a:lstStyle/>
          <a:p>
            <a:r>
              <a:rPr lang="en-US" dirty="0"/>
              <a:t>Learning objectives</a:t>
            </a:r>
          </a:p>
        </p:txBody>
      </p:sp>
      <p:sp>
        <p:nvSpPr>
          <p:cNvPr id="3" name="Text Placeholder 2">
            <a:extLst>
              <a:ext uri="{FF2B5EF4-FFF2-40B4-BE49-F238E27FC236}">
                <a16:creationId xmlns:a16="http://schemas.microsoft.com/office/drawing/2014/main" id="{783E8AF3-7137-3306-71E7-912FCD4F2875}"/>
              </a:ext>
            </a:extLst>
          </p:cNvPr>
          <p:cNvSpPr>
            <a:spLocks noGrp="1"/>
          </p:cNvSpPr>
          <p:nvPr>
            <p:ph type="body" idx="1"/>
          </p:nvPr>
        </p:nvSpPr>
        <p:spPr/>
        <p:txBody>
          <a:bodyPr/>
          <a:lstStyle/>
          <a:p>
            <a:r>
              <a:rPr lang="en-US" dirty="0"/>
              <a:t>Apply histogram and convolution techniques for image expansion/contraction and shifting</a:t>
            </a:r>
          </a:p>
          <a:p>
            <a:r>
              <a:rPr lang="en-US" dirty="0"/>
              <a:t>Distinguish and apply filtering using statistical and algebraic approaches</a:t>
            </a:r>
          </a:p>
          <a:p>
            <a:r>
              <a:rPr lang="en-US" dirty="0"/>
              <a:t>Perform image contrast adjustments mathematically and practically</a:t>
            </a:r>
          </a:p>
          <a:p>
            <a:r>
              <a:rPr lang="en-US" dirty="0"/>
              <a:t>Apply geometric transformations and corrections to images</a:t>
            </a:r>
          </a:p>
          <a:p>
            <a:r>
              <a:rPr lang="en-US" dirty="0"/>
              <a:t>Understand the basic concepts of image restoration.</a:t>
            </a:r>
          </a:p>
        </p:txBody>
      </p:sp>
    </p:spTree>
    <p:extLst>
      <p:ext uri="{BB962C8B-B14F-4D97-AF65-F5344CB8AC3E}">
        <p14:creationId xmlns:p14="http://schemas.microsoft.com/office/powerpoint/2010/main" val="22741861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7F7BB-F165-EB67-0B4B-97B1F283BF0A}"/>
              </a:ext>
            </a:extLst>
          </p:cNvPr>
          <p:cNvSpPr>
            <a:spLocks noGrp="1"/>
          </p:cNvSpPr>
          <p:nvPr>
            <p:ph type="title"/>
          </p:nvPr>
        </p:nvSpPr>
        <p:spPr/>
        <p:txBody>
          <a:bodyPr/>
          <a:lstStyle/>
          <a:p>
            <a:r>
              <a:rPr lang="en-US" dirty="0"/>
              <a:t>Histogram Stretching/Shrinking</a:t>
            </a:r>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F81BB520-172D-EBA4-ECF4-53BF74BDE842}"/>
                  </a:ext>
                </a:extLst>
              </p:cNvPr>
              <p:cNvSpPr>
                <a:spLocks noGrp="1"/>
              </p:cNvSpPr>
              <p:nvPr>
                <p:ph type="body" idx="1"/>
              </p:nvPr>
            </p:nvSpPr>
            <p:spPr>
              <a:xfrm>
                <a:off x="720000" y="1215750"/>
                <a:ext cx="7790611" cy="3233100"/>
              </a:xfrm>
            </p:spPr>
            <p:txBody>
              <a:bodyPr/>
              <a:lstStyle/>
              <a:p>
                <a:r>
                  <a:rPr lang="en-US" dirty="0"/>
                  <a:t>Histogram Stretching: A technique for adjusting the pixel intensity range of an image to expand it across the entire available range (typically </a:t>
                </a:r>
                <a14:m>
                  <m:oMath xmlns:m="http://schemas.openxmlformats.org/officeDocument/2006/math">
                    <m:r>
                      <a:rPr lang="en-US" i="1" dirty="0" smtClean="0">
                        <a:latin typeface="Cambria Math" panose="02040503050406030204" pitchFamily="18" charset="0"/>
                      </a:rPr>
                      <m:t>0–255</m:t>
                    </m:r>
                  </m:oMath>
                </a14:m>
                <a:r>
                  <a:rPr lang="en-US" dirty="0"/>
                  <a:t>), thereby increasing image contrast. </a:t>
                </a:r>
              </a:p>
              <a:p>
                <a:r>
                  <a:rPr lang="en-US" dirty="0"/>
                  <a:t>Histogram shrinking compresses the intensity range, resulting in reduced contrast.</a:t>
                </a:r>
              </a:p>
              <a:p>
                <a:r>
                  <a:rPr lang="en-US" dirty="0"/>
                  <a:t>General formula (linear stretching): </a:t>
                </a:r>
                <a14:m>
                  <m:oMath xmlns:m="http://schemas.openxmlformats.org/officeDocument/2006/math">
                    <m:r>
                      <a:rPr lang="en-US" b="0" i="1" dirty="0" smtClean="0">
                        <a:latin typeface="Cambria Math" panose="02040503050406030204" pitchFamily="18" charset="0"/>
                      </a:rPr>
                      <m:t>𝑆</m:t>
                    </m:r>
                    <m:r>
                      <a:rPr lang="en-US" b="0" i="1" dirty="0" smtClean="0">
                        <a:latin typeface="Cambria Math" panose="02040503050406030204" pitchFamily="18" charset="0"/>
                      </a:rPr>
                      <m:t>=(</m:t>
                    </m:r>
                    <m:r>
                      <a:rPr lang="en-US" b="0" i="1" dirty="0" smtClean="0">
                        <a:latin typeface="Cambria Math" panose="02040503050406030204" pitchFamily="18" charset="0"/>
                      </a:rPr>
                      <m:t>𝐿</m:t>
                    </m:r>
                    <m:r>
                      <a:rPr lang="en-US" b="0" i="1" dirty="0" smtClean="0">
                        <a:latin typeface="Cambria Math" panose="02040503050406030204" pitchFamily="18" charset="0"/>
                      </a:rPr>
                      <m:t>−1)×</m:t>
                    </m:r>
                    <m:f>
                      <m:fPr>
                        <m:ctrlPr>
                          <a:rPr lang="en-US" b="0" i="1" dirty="0" smtClean="0">
                            <a:latin typeface="Cambria Math" panose="02040503050406030204" pitchFamily="18" charset="0"/>
                            <a:ea typeface="Cambria Math" panose="02040503050406030204" pitchFamily="18" charset="0"/>
                          </a:rPr>
                        </m:ctrlPr>
                      </m:fPr>
                      <m:num>
                        <m:r>
                          <a:rPr lang="en-US" b="0" i="1" dirty="0" smtClean="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𝑟</m:t>
                        </m:r>
                        <m:r>
                          <a:rPr lang="en-US" b="0" i="1" dirty="0" smtClean="0">
                            <a:latin typeface="Cambria Math" panose="02040503050406030204" pitchFamily="18" charset="0"/>
                            <a:ea typeface="Cambria Math" panose="02040503050406030204" pitchFamily="18" charset="0"/>
                          </a:rPr>
                          <m:t>−</m:t>
                        </m:r>
                        <m:sSub>
                          <m:sSubPr>
                            <m:ctrlPr>
                              <a:rPr lang="en-US">
                                <a:latin typeface="Cambria Math" panose="02040503050406030204" pitchFamily="18" charset="0"/>
                              </a:rPr>
                            </m:ctrlPr>
                          </m:sSubPr>
                          <m:e>
                            <m:r>
                              <a:rPr lang="en-US">
                                <a:latin typeface="Cambria Math" panose="02040503050406030204" pitchFamily="18" charset="0"/>
                              </a:rPr>
                              <m:t>𝑟</m:t>
                            </m:r>
                          </m:e>
                          <m:sub>
                            <m:r>
                              <m:rPr>
                                <m:sty m:val="p"/>
                              </m:rPr>
                              <a:rPr lang="en-US">
                                <a:latin typeface="Cambria Math" panose="02040503050406030204" pitchFamily="18" charset="0"/>
                              </a:rPr>
                              <m:t>min</m:t>
                            </m:r>
                          </m:sub>
                        </m:sSub>
                        <m:r>
                          <a:rPr lang="en-US" b="0" i="1" dirty="0" smtClean="0">
                            <a:latin typeface="Cambria Math" panose="02040503050406030204" pitchFamily="18" charset="0"/>
                            <a:ea typeface="Cambria Math" panose="02040503050406030204" pitchFamily="18" charset="0"/>
                          </a:rPr>
                          <m:t>)</m:t>
                        </m:r>
                      </m:num>
                      <m:den>
                        <m:r>
                          <a:rPr lang="en-US" b="0" i="1" dirty="0" smtClean="0">
                            <a:latin typeface="Cambria Math" panose="02040503050406030204" pitchFamily="18" charset="0"/>
                            <a:ea typeface="Cambria Math" panose="02040503050406030204" pitchFamily="18" charset="0"/>
                          </a:rPr>
                          <m:t>(</m:t>
                        </m:r>
                        <m:sSub>
                          <m:sSubPr>
                            <m:ctrlPr>
                              <a:rPr lang="en-US" i="1" dirty="0">
                                <a:latin typeface="Cambria Math" panose="02040503050406030204" pitchFamily="18" charset="0"/>
                                <a:ea typeface="Cambria Math" panose="02040503050406030204" pitchFamily="18" charset="0"/>
                              </a:rPr>
                            </m:ctrlPr>
                          </m:sSubPr>
                          <m:e>
                            <m:r>
                              <a:rPr lang="en-US" i="1" dirty="0">
                                <a:latin typeface="Cambria Math" panose="02040503050406030204" pitchFamily="18" charset="0"/>
                                <a:ea typeface="Cambria Math" panose="02040503050406030204" pitchFamily="18" charset="0"/>
                              </a:rPr>
                              <m:t>𝑟</m:t>
                            </m:r>
                          </m:e>
                          <m:sub>
                            <m:r>
                              <a:rPr lang="en-US" i="1" dirty="0">
                                <a:latin typeface="Cambria Math" panose="02040503050406030204" pitchFamily="18" charset="0"/>
                                <a:ea typeface="Cambria Math" panose="02040503050406030204" pitchFamily="18" charset="0"/>
                              </a:rPr>
                              <m:t>𝑚</m:t>
                            </m:r>
                            <m:r>
                              <a:rPr lang="en-US" b="0" i="1" dirty="0" smtClean="0">
                                <a:latin typeface="Cambria Math" panose="02040503050406030204" pitchFamily="18" charset="0"/>
                                <a:ea typeface="Cambria Math" panose="02040503050406030204" pitchFamily="18" charset="0"/>
                              </a:rPr>
                              <m:t>𝑎𝑥</m:t>
                            </m:r>
                          </m:sub>
                        </m:sSub>
                        <m:r>
                          <a:rPr lang="en-US" b="0" i="1" dirty="0" smtClean="0">
                            <a:latin typeface="Cambria Math" panose="02040503050406030204" pitchFamily="18" charset="0"/>
                            <a:ea typeface="Cambria Math" panose="02040503050406030204" pitchFamily="18" charset="0"/>
                          </a:rPr>
                          <m:t>−</m:t>
                        </m:r>
                        <m:sSub>
                          <m:sSubPr>
                            <m:ctrlPr>
                              <a:rPr lang="en-US">
                                <a:latin typeface="Cambria Math" panose="02040503050406030204" pitchFamily="18" charset="0"/>
                              </a:rPr>
                            </m:ctrlPr>
                          </m:sSubPr>
                          <m:e>
                            <m:r>
                              <a:rPr lang="en-US">
                                <a:latin typeface="Cambria Math" panose="02040503050406030204" pitchFamily="18" charset="0"/>
                              </a:rPr>
                              <m:t>𝑟</m:t>
                            </m:r>
                          </m:e>
                          <m:sub>
                            <m:r>
                              <m:rPr>
                                <m:sty m:val="p"/>
                              </m:rPr>
                              <a:rPr lang="en-US">
                                <a:latin typeface="Cambria Math" panose="02040503050406030204" pitchFamily="18" charset="0"/>
                              </a:rPr>
                              <m:t>min</m:t>
                            </m:r>
                          </m:sub>
                        </m:sSub>
                        <m:r>
                          <a:rPr lang="en-US" b="0" i="1" dirty="0" smtClean="0">
                            <a:latin typeface="Cambria Math" panose="02040503050406030204" pitchFamily="18" charset="0"/>
                            <a:ea typeface="Cambria Math" panose="02040503050406030204" pitchFamily="18" charset="0"/>
                          </a:rPr>
                          <m:t>)</m:t>
                        </m:r>
                      </m:den>
                    </m:f>
                  </m:oMath>
                </a14:m>
                <a:endParaRPr lang="en-US" dirty="0"/>
              </a:p>
              <a:p>
                <a:pPr marL="177800" indent="0">
                  <a:buNone/>
                </a:pPr>
                <a:r>
                  <a:rPr lang="en-US" dirty="0"/>
                  <a:t>with:</a:t>
                </a:r>
              </a:p>
              <a:p>
                <a:pPr lvl="1"/>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𝑟</m:t>
                        </m:r>
                      </m:e>
                      <m:sub/>
                    </m:sSub>
                  </m:oMath>
                </a14:m>
                <a:r>
                  <a:rPr lang="en-US" dirty="0"/>
                  <a:t>= original pixel intensity value </a:t>
                </a:r>
              </a:p>
              <a:p>
                <a:pPr lvl="1"/>
                <a14:m>
                  <m:oMath xmlns:m="http://schemas.openxmlformats.org/officeDocument/2006/math">
                    <m:sSub>
                      <m:sSubPr>
                        <m:ctrlPr>
                          <a:rPr lang="en-US" i="1" dirty="0">
                            <a:latin typeface="Cambria Math" panose="02040503050406030204" pitchFamily="18" charset="0"/>
                            <a:ea typeface="Cambria Math" panose="02040503050406030204" pitchFamily="18" charset="0"/>
                          </a:rPr>
                        </m:ctrlPr>
                      </m:sSubPr>
                      <m:e>
                        <m:r>
                          <a:rPr lang="en-US" i="1" dirty="0">
                            <a:latin typeface="Cambria Math" panose="02040503050406030204" pitchFamily="18" charset="0"/>
                            <a:ea typeface="Cambria Math" panose="02040503050406030204" pitchFamily="18" charset="0"/>
                          </a:rPr>
                          <m:t>𝑟</m:t>
                        </m:r>
                      </m:e>
                      <m:sub>
                        <m:r>
                          <a:rPr lang="en-US" i="1" dirty="0">
                            <a:latin typeface="Cambria Math" panose="02040503050406030204" pitchFamily="18" charset="0"/>
                            <a:ea typeface="Cambria Math" panose="02040503050406030204" pitchFamily="18" charset="0"/>
                          </a:rPr>
                          <m:t>𝑚𝑎𝑥</m:t>
                        </m:r>
                      </m:sub>
                    </m:sSub>
                    <m:r>
                      <a:rPr lang="en-US" b="0" i="1" dirty="0" smtClean="0">
                        <a:latin typeface="Cambria Math" panose="02040503050406030204" pitchFamily="18" charset="0"/>
                        <a:ea typeface="Cambria Math" panose="02040503050406030204" pitchFamily="18" charset="0"/>
                      </a:rPr>
                      <m:t>,</m:t>
                    </m:r>
                    <m:sSub>
                      <m:sSubPr>
                        <m:ctrlPr>
                          <a:rPr lang="en-US" i="1" dirty="0">
                            <a:latin typeface="Cambria Math" panose="02040503050406030204" pitchFamily="18" charset="0"/>
                            <a:ea typeface="Cambria Math" panose="02040503050406030204" pitchFamily="18" charset="0"/>
                          </a:rPr>
                        </m:ctrlPr>
                      </m:sSubPr>
                      <m:e>
                        <m:r>
                          <a:rPr lang="en-US" i="1" dirty="0">
                            <a:latin typeface="Cambria Math" panose="02040503050406030204" pitchFamily="18" charset="0"/>
                            <a:ea typeface="Cambria Math" panose="02040503050406030204" pitchFamily="18" charset="0"/>
                          </a:rPr>
                          <m:t>𝑟</m:t>
                        </m:r>
                      </m:e>
                      <m:sub>
                        <m:func>
                          <m:funcPr>
                            <m:ctrlPr>
                              <a:rPr lang="en-US" dirty="0">
                                <a:latin typeface="Cambria Math" panose="02040503050406030204" pitchFamily="18" charset="0"/>
                                <a:ea typeface="Cambria Math" panose="02040503050406030204" pitchFamily="18" charset="0"/>
                              </a:rPr>
                            </m:ctrlPr>
                          </m:funcPr>
                          <m:fName>
                            <m:r>
                              <m:rPr>
                                <m:sty m:val="p"/>
                              </m:rPr>
                              <a:rPr lang="en-US" dirty="0">
                                <a:latin typeface="Cambria Math" panose="02040503050406030204" pitchFamily="18" charset="0"/>
                                <a:ea typeface="Cambria Math" panose="02040503050406030204" pitchFamily="18" charset="0"/>
                              </a:rPr>
                              <m:t>min</m:t>
                            </m:r>
                          </m:fName>
                          <m:e/>
                        </m:func>
                      </m:sub>
                    </m:sSub>
                  </m:oMath>
                </a14:m>
                <a:r>
                  <a:rPr lang="en-US" dirty="0"/>
                  <a:t>= minimum and maximum intensity values ​​in the original image</a:t>
                </a:r>
              </a:p>
              <a:p>
                <a:pPr lvl="1"/>
                <a14:m>
                  <m:oMath xmlns:m="http://schemas.openxmlformats.org/officeDocument/2006/math">
                    <m:r>
                      <a:rPr lang="en-US" b="0" i="1" smtClean="0">
                        <a:latin typeface="Cambria Math" panose="02040503050406030204" pitchFamily="18" charset="0"/>
                      </a:rPr>
                      <m:t>𝐿</m:t>
                    </m:r>
                  </m:oMath>
                </a14:m>
                <a:r>
                  <a:rPr lang="en-US" dirty="0"/>
                  <a:t>= number of intensity levels (</a:t>
                </a:r>
                <a14:m>
                  <m:oMath xmlns:m="http://schemas.openxmlformats.org/officeDocument/2006/math">
                    <m:r>
                      <a:rPr lang="en-US" i="1" dirty="0" smtClean="0">
                        <a:latin typeface="Cambria Math" panose="02040503050406030204" pitchFamily="18" charset="0"/>
                      </a:rPr>
                      <m:t>256</m:t>
                    </m:r>
                  </m:oMath>
                </a14:m>
                <a:r>
                  <a:rPr lang="en-US" dirty="0"/>
                  <a:t> for an 8-bit image, so </a:t>
                </a:r>
                <a14:m>
                  <m:oMath xmlns:m="http://schemas.openxmlformats.org/officeDocument/2006/math">
                    <m:r>
                      <a:rPr lang="en-US" i="1" dirty="0" smtClean="0">
                        <a:latin typeface="Cambria Math" panose="02040503050406030204" pitchFamily="18" charset="0"/>
                      </a:rPr>
                      <m:t>𝐿</m:t>
                    </m:r>
                    <m:r>
                      <a:rPr lang="en-US" i="1" dirty="0" smtClean="0">
                        <a:latin typeface="Cambria Math" panose="02040503050406030204" pitchFamily="18" charset="0"/>
                      </a:rPr>
                      <m:t>−1 = 255</m:t>
                    </m:r>
                  </m:oMath>
                </a14:m>
                <a:r>
                  <a:rPr lang="en-US" dirty="0"/>
                  <a:t>)</a:t>
                </a:r>
              </a:p>
              <a:p>
                <a:pPr lvl="1"/>
                <a14:m>
                  <m:oMath xmlns:m="http://schemas.openxmlformats.org/officeDocument/2006/math">
                    <m:r>
                      <a:rPr lang="en-US" b="0" i="1" smtClean="0">
                        <a:latin typeface="Cambria Math" panose="02040503050406030204" pitchFamily="18" charset="0"/>
                      </a:rPr>
                      <m:t>𝑆</m:t>
                    </m:r>
                  </m:oMath>
                </a14:m>
                <a:r>
                  <a:rPr lang="en-US" dirty="0"/>
                  <a:t> = result value</a:t>
                </a:r>
              </a:p>
              <a:p>
                <a:r>
                  <a:rPr lang="en-US" dirty="0"/>
                  <a:t>General formula (linear shrinking): </a:t>
                </a:r>
                <a14:m>
                  <m:oMath xmlns:m="http://schemas.openxmlformats.org/officeDocument/2006/math">
                    <m:r>
                      <a:rPr lang="en-US" i="1" dirty="0">
                        <a:latin typeface="Cambria Math" panose="02040503050406030204" pitchFamily="18" charset="0"/>
                      </a:rPr>
                      <m:t>𝑆</m:t>
                    </m:r>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𝑆</m:t>
                        </m:r>
                      </m:e>
                      <m:sub>
                        <m:r>
                          <a:rPr lang="en-US" i="1" dirty="0">
                            <a:latin typeface="Cambria Math" panose="02040503050406030204" pitchFamily="18" charset="0"/>
                          </a:rPr>
                          <m:t>𝑚𝑖𝑛</m:t>
                        </m:r>
                      </m:sub>
                    </m:sSub>
                    <m:r>
                      <a:rPr lang="en-US" i="1" dirty="0">
                        <a:latin typeface="Cambria Math" panose="02040503050406030204" pitchFamily="18" charset="0"/>
                        <a:ea typeface="Cambria Math" panose="02040503050406030204" pitchFamily="18" charset="0"/>
                      </a:rPr>
                      <m:t>+</m:t>
                    </m:r>
                    <m:d>
                      <m:dPr>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𝑆</m:t>
                            </m:r>
                          </m:e>
                          <m:sub>
                            <m:r>
                              <a:rPr lang="en-US" i="1" dirty="0">
                                <a:latin typeface="Cambria Math" panose="02040503050406030204" pitchFamily="18" charset="0"/>
                              </a:rPr>
                              <m:t>𝑚𝑎𝑥</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𝑆</m:t>
                            </m:r>
                          </m:e>
                          <m:sub>
                            <m:r>
                              <a:rPr lang="en-US" i="1" dirty="0">
                                <a:latin typeface="Cambria Math" panose="02040503050406030204" pitchFamily="18" charset="0"/>
                              </a:rPr>
                              <m:t>𝑚𝑖𝑛</m:t>
                            </m:r>
                          </m:sub>
                        </m:sSub>
                      </m:e>
                    </m:d>
                    <m:r>
                      <a:rPr lang="en-US" i="1" dirty="0">
                        <a:latin typeface="Cambria Math" panose="02040503050406030204" pitchFamily="18" charset="0"/>
                        <a:ea typeface="Cambria Math" panose="02040503050406030204" pitchFamily="18" charset="0"/>
                      </a:rPr>
                      <m:t>×</m:t>
                    </m:r>
                    <m:f>
                      <m:fPr>
                        <m:ctrlPr>
                          <a:rPr lang="en-US" i="1" dirty="0">
                            <a:latin typeface="Cambria Math" panose="02040503050406030204" pitchFamily="18" charset="0"/>
                            <a:ea typeface="Cambria Math" panose="02040503050406030204" pitchFamily="18" charset="0"/>
                          </a:rPr>
                        </m:ctrlPr>
                      </m:fPr>
                      <m:num>
                        <m:d>
                          <m:dPr>
                            <m:ctrlPr>
                              <a:rPr lang="en-US" i="1" dirty="0">
                                <a:latin typeface="Cambria Math" panose="02040503050406030204" pitchFamily="18" charset="0"/>
                                <a:ea typeface="Cambria Math" panose="02040503050406030204" pitchFamily="18" charset="0"/>
                              </a:rPr>
                            </m:ctrlPr>
                          </m:dPr>
                          <m:e>
                            <m:r>
                              <a:rPr lang="en-US" i="1" dirty="0">
                                <a:latin typeface="Cambria Math" panose="02040503050406030204" pitchFamily="18" charset="0"/>
                                <a:ea typeface="Cambria Math" panose="02040503050406030204" pitchFamily="18" charset="0"/>
                              </a:rPr>
                              <m:t>𝑟</m:t>
                            </m:r>
                            <m:r>
                              <a:rPr lang="en-US" i="1" dirty="0">
                                <a:latin typeface="Cambria Math" panose="02040503050406030204" pitchFamily="18" charset="0"/>
                                <a:ea typeface="Cambria Math" panose="02040503050406030204" pitchFamily="18" charset="0"/>
                              </a:rPr>
                              <m:t>−</m:t>
                            </m:r>
                            <m:sSub>
                              <m:sSubPr>
                                <m:ctrlPr>
                                  <a:rPr lang="en-US">
                                    <a:latin typeface="Cambria Math" panose="02040503050406030204" pitchFamily="18" charset="0"/>
                                  </a:rPr>
                                </m:ctrlPr>
                              </m:sSubPr>
                              <m:e>
                                <m:r>
                                  <a:rPr lang="en-US">
                                    <a:latin typeface="Cambria Math" panose="02040503050406030204" pitchFamily="18" charset="0"/>
                                  </a:rPr>
                                  <m:t>𝑟</m:t>
                                </m:r>
                              </m:e>
                              <m:sub>
                                <m:r>
                                  <m:rPr>
                                    <m:sty m:val="p"/>
                                  </m:rPr>
                                  <a:rPr lang="en-US">
                                    <a:latin typeface="Cambria Math" panose="02040503050406030204" pitchFamily="18" charset="0"/>
                                  </a:rPr>
                                  <m:t>min</m:t>
                                </m:r>
                              </m:sub>
                            </m:sSub>
                          </m:e>
                        </m:d>
                      </m:num>
                      <m:den>
                        <m:d>
                          <m:dPr>
                            <m:ctrlPr>
                              <a:rPr lang="en-US" i="1" dirty="0">
                                <a:latin typeface="Cambria Math" panose="02040503050406030204" pitchFamily="18" charset="0"/>
                                <a:ea typeface="Cambria Math" panose="02040503050406030204" pitchFamily="18" charset="0"/>
                              </a:rPr>
                            </m:ctrlPr>
                          </m:dPr>
                          <m:e>
                            <m:sSub>
                              <m:sSubPr>
                                <m:ctrlPr>
                                  <a:rPr lang="en-US" i="1" dirty="0">
                                    <a:latin typeface="Cambria Math" panose="02040503050406030204" pitchFamily="18" charset="0"/>
                                    <a:ea typeface="Cambria Math" panose="02040503050406030204" pitchFamily="18" charset="0"/>
                                  </a:rPr>
                                </m:ctrlPr>
                              </m:sSubPr>
                              <m:e>
                                <m:r>
                                  <a:rPr lang="en-US" i="1" dirty="0">
                                    <a:latin typeface="Cambria Math" panose="02040503050406030204" pitchFamily="18" charset="0"/>
                                    <a:ea typeface="Cambria Math" panose="02040503050406030204" pitchFamily="18" charset="0"/>
                                  </a:rPr>
                                  <m:t>𝑟</m:t>
                                </m:r>
                              </m:e>
                              <m:sub>
                                <m:r>
                                  <a:rPr lang="en-US" i="1" dirty="0">
                                    <a:latin typeface="Cambria Math" panose="02040503050406030204" pitchFamily="18" charset="0"/>
                                    <a:ea typeface="Cambria Math" panose="02040503050406030204" pitchFamily="18" charset="0"/>
                                  </a:rPr>
                                  <m:t>𝑚𝑎𝑥</m:t>
                                </m:r>
                              </m:sub>
                            </m:sSub>
                            <m:r>
                              <a:rPr lang="en-US" i="1" dirty="0">
                                <a:latin typeface="Cambria Math" panose="02040503050406030204" pitchFamily="18" charset="0"/>
                                <a:ea typeface="Cambria Math" panose="02040503050406030204" pitchFamily="18" charset="0"/>
                              </a:rPr>
                              <m:t>−</m:t>
                            </m:r>
                            <m:sSub>
                              <m:sSubPr>
                                <m:ctrlPr>
                                  <a:rPr lang="en-US">
                                    <a:latin typeface="Cambria Math" panose="02040503050406030204" pitchFamily="18" charset="0"/>
                                  </a:rPr>
                                </m:ctrlPr>
                              </m:sSubPr>
                              <m:e>
                                <m:r>
                                  <a:rPr lang="en-US">
                                    <a:latin typeface="Cambria Math" panose="02040503050406030204" pitchFamily="18" charset="0"/>
                                  </a:rPr>
                                  <m:t>𝑟</m:t>
                                </m:r>
                              </m:e>
                              <m:sub>
                                <m:r>
                                  <m:rPr>
                                    <m:sty m:val="p"/>
                                  </m:rPr>
                                  <a:rPr lang="en-US">
                                    <a:latin typeface="Cambria Math" panose="02040503050406030204" pitchFamily="18" charset="0"/>
                                  </a:rPr>
                                  <m:t>min</m:t>
                                </m:r>
                              </m:sub>
                            </m:sSub>
                          </m:e>
                        </m:d>
                      </m:den>
                    </m:f>
                  </m:oMath>
                </a14:m>
                <a:endParaRPr lang="en-US" dirty="0">
                  <a:ea typeface="Cambria Math" panose="02040503050406030204" pitchFamily="18" charset="0"/>
                </a:endParaRPr>
              </a:p>
              <a:p>
                <a:r>
                  <a:rPr lang="en-US" dirty="0"/>
                  <a:t>The output range is more narrowly restricted, for example only stretched to a certain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𝑆</m:t>
                        </m:r>
                      </m:e>
                      <m:sub>
                        <m:r>
                          <a:rPr lang="en-US" i="1" dirty="0">
                            <a:latin typeface="Cambria Math" panose="02040503050406030204" pitchFamily="18" charset="0"/>
                          </a:rPr>
                          <m:t>𝑚𝑎𝑥</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𝑆</m:t>
                        </m:r>
                      </m:e>
                      <m:sub>
                        <m:r>
                          <a:rPr lang="en-US" i="1" dirty="0">
                            <a:latin typeface="Cambria Math" panose="02040503050406030204" pitchFamily="18" charset="0"/>
                          </a:rPr>
                          <m:t>𝑚𝑖𝑛</m:t>
                        </m:r>
                      </m:sub>
                    </m:sSub>
                  </m:oMath>
                </a14:m>
                <a:r>
                  <a:rPr lang="en-US" dirty="0"/>
                  <a:t>] range (not to the full </a:t>
                </a:r>
                <a14:m>
                  <m:oMath xmlns:m="http://schemas.openxmlformats.org/officeDocument/2006/math">
                    <m:r>
                      <a:rPr lang="en-US" i="1" dirty="0">
                        <a:latin typeface="Cambria Math" panose="02040503050406030204" pitchFamily="18" charset="0"/>
                      </a:rPr>
                      <m:t>0–255</m:t>
                    </m:r>
                  </m:oMath>
                </a14:m>
                <a:r>
                  <a:rPr lang="en-US" dirty="0"/>
                  <a:t>)</a:t>
                </a:r>
              </a:p>
              <a:p>
                <a:pPr lvl="1"/>
                <a:endParaRPr lang="en-US" dirty="0"/>
              </a:p>
            </p:txBody>
          </p:sp>
        </mc:Choice>
        <mc:Fallback>
          <p:sp>
            <p:nvSpPr>
              <p:cNvPr id="3" name="Text Placeholder 2">
                <a:extLst>
                  <a:ext uri="{FF2B5EF4-FFF2-40B4-BE49-F238E27FC236}">
                    <a16:creationId xmlns:a16="http://schemas.microsoft.com/office/drawing/2014/main" id="{F81BB520-172D-EBA4-ECF4-53BF74BDE842}"/>
                  </a:ext>
                </a:extLst>
              </p:cNvPr>
              <p:cNvSpPr>
                <a:spLocks noGrp="1" noRot="1" noChangeAspect="1" noMove="1" noResize="1" noEditPoints="1" noAdjustHandles="1" noChangeArrowheads="1" noChangeShapeType="1" noTextEdit="1"/>
              </p:cNvSpPr>
              <p:nvPr>
                <p:ph type="body" idx="1"/>
              </p:nvPr>
            </p:nvSpPr>
            <p:spPr>
              <a:xfrm>
                <a:off x="720000" y="1215750"/>
                <a:ext cx="7790611" cy="3233100"/>
              </a:xfrm>
              <a:blipFill>
                <a:blip r:embed="rId3"/>
                <a:stretch>
                  <a:fillRect b="-13559"/>
                </a:stretch>
              </a:blipFill>
            </p:spPr>
            <p:txBody>
              <a:bodyPr/>
              <a:lstStyle/>
              <a:p>
                <a:r>
                  <a:rPr lang="en-US">
                    <a:noFill/>
                  </a:rPr>
                  <a:t> </a:t>
                </a:r>
              </a:p>
            </p:txBody>
          </p:sp>
        </mc:Fallback>
      </mc:AlternateContent>
    </p:spTree>
    <p:extLst>
      <p:ext uri="{BB962C8B-B14F-4D97-AF65-F5344CB8AC3E}">
        <p14:creationId xmlns:p14="http://schemas.microsoft.com/office/powerpoint/2010/main" val="30341491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915DB-0875-819D-F4C6-5D2E5D9B7041}"/>
              </a:ext>
            </a:extLst>
          </p:cNvPr>
          <p:cNvSpPr>
            <a:spLocks noGrp="1"/>
          </p:cNvSpPr>
          <p:nvPr>
            <p:ph type="title"/>
          </p:nvPr>
        </p:nvSpPr>
        <p:spPr>
          <a:xfrm>
            <a:off x="719999" y="445025"/>
            <a:ext cx="7995793" cy="572700"/>
          </a:xfrm>
        </p:spPr>
        <p:txBody>
          <a:bodyPr/>
          <a:lstStyle/>
          <a:p>
            <a:r>
              <a:rPr lang="en-US" dirty="0"/>
              <a:t>Example to Matrix : Stretching</a:t>
            </a:r>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98D4A921-490B-CD06-4A60-72A2FBEF5B1E}"/>
                  </a:ext>
                </a:extLst>
              </p:cNvPr>
              <p:cNvSpPr>
                <a:spLocks noGrp="1"/>
              </p:cNvSpPr>
              <p:nvPr>
                <p:ph type="body" idx="1"/>
              </p:nvPr>
            </p:nvSpPr>
            <p:spPr>
              <a:xfrm>
                <a:off x="720000" y="968665"/>
                <a:ext cx="8071621" cy="3233100"/>
              </a:xfrm>
            </p:spPr>
            <p:txBody>
              <a:bodyPr/>
              <a:lstStyle/>
              <a:p>
                <a:r>
                  <a:rPr lang="en-US" dirty="0"/>
                  <a:t>Given a </a:t>
                </a:r>
                <a14:m>
                  <m:oMath xmlns:m="http://schemas.openxmlformats.org/officeDocument/2006/math">
                    <m:r>
                      <a:rPr lang="en-US" i="1" dirty="0" smtClean="0">
                        <a:latin typeface="Cambria Math" panose="02040503050406030204" pitchFamily="18" charset="0"/>
                      </a:rPr>
                      <m:t>4×4</m:t>
                    </m:r>
                  </m:oMath>
                </a14:m>
                <a:r>
                  <a:rPr lang="en-US" dirty="0"/>
                  <a:t> grayscale image matrix with a narrow value range (only </a:t>
                </a:r>
                <a14:m>
                  <m:oMath xmlns:m="http://schemas.openxmlformats.org/officeDocument/2006/math">
                    <m:r>
                      <a:rPr lang="en-US" i="1" dirty="0" smtClean="0">
                        <a:latin typeface="Cambria Math" panose="02040503050406030204" pitchFamily="18" charset="0"/>
                      </a:rPr>
                      <m:t>100–150</m:t>
                    </m:r>
                  </m:oMath>
                </a14:m>
                <a:r>
                  <a:rPr lang="en-US" dirty="0"/>
                  <a:t>):</a:t>
                </a:r>
                <a:endParaRPr lang="en-US" b="0" i="0" dirty="0">
                  <a:latin typeface="Cambria Math" panose="02040503050406030204" pitchFamily="18" charset="0"/>
                </a:endParaRPr>
              </a:p>
              <a:p>
                <a:pPr marL="177800" indent="0">
                  <a:buNone/>
                </a:pPr>
                <a14:m>
                  <m:oMathPara xmlns:m="http://schemas.openxmlformats.org/officeDocument/2006/math">
                    <m:oMath>
                      <m:r>
                        <a:rPr lang="en-US" b="0" i="0" smtClean="0">
                          <a:latin typeface="Cambria Math" panose="02040503050406030204" pitchFamily="18" charset="0"/>
                        </a:rPr>
                        <m:t> </m:t>
                      </m:r>
                      <m:r>
                        <a:rPr lang="en-US" i="1">
                          <a:latin typeface="Cambria Math" panose="02040503050406030204" pitchFamily="18" charset="0"/>
                        </a:rPr>
                        <m:t>𝐼</m:t>
                      </m:r>
                      <m:r>
                        <a:rPr lang="en-US" i="1">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4"/>
                                    <m:mcJc m:val="center"/>
                                  </m:mcPr>
                                </m:mc>
                              </m:mcs>
                              <m:ctrlPr>
                                <a:rPr lang="en-US" i="1">
                                  <a:latin typeface="Cambria Math" panose="02040503050406030204" pitchFamily="18" charset="0"/>
                                </a:rPr>
                              </m:ctrlPr>
                            </m:mPr>
                            <m:mr>
                              <m:e>
                                <m:r>
                                  <m:rPr>
                                    <m:brk m:alnAt="7"/>
                                  </m:rPr>
                                  <a:rPr lang="en-US" b="0" i="1" smtClean="0">
                                    <a:latin typeface="Cambria Math" panose="02040503050406030204" pitchFamily="18" charset="0"/>
                                  </a:rPr>
                                  <m:t>1</m:t>
                                </m:r>
                                <m:r>
                                  <m:rPr>
                                    <m:brk m:alnAt="7"/>
                                  </m:rPr>
                                  <a:rPr lang="en-US" b="0" i="1" smtClean="0">
                                    <a:latin typeface="Cambria Math" panose="02040503050406030204" pitchFamily="18" charset="0"/>
                                  </a:rPr>
                                  <m:t>0</m:t>
                                </m:r>
                                <m:r>
                                  <m:rPr>
                                    <m:brk m:alnAt="7"/>
                                  </m:rPr>
                                  <a:rPr lang="en-US" i="1">
                                    <a:latin typeface="Cambria Math" panose="02040503050406030204" pitchFamily="18" charset="0"/>
                                  </a:rPr>
                                  <m:t>0</m:t>
                                </m:r>
                              </m:e>
                              <m:e>
                                <m:r>
                                  <a:rPr lang="en-US" b="0" i="1" smtClean="0">
                                    <a:latin typeface="Cambria Math" panose="02040503050406030204" pitchFamily="18" charset="0"/>
                                  </a:rPr>
                                  <m:t>11</m:t>
                                </m:r>
                                <m:r>
                                  <a:rPr lang="en-US" i="1">
                                    <a:latin typeface="Cambria Math" panose="02040503050406030204" pitchFamily="18" charset="0"/>
                                  </a:rPr>
                                  <m:t>0</m:t>
                                </m:r>
                              </m:e>
                              <m:e>
                                <m:r>
                                  <a:rPr lang="en-US" b="0" i="1" smtClean="0">
                                    <a:latin typeface="Cambria Math" panose="02040503050406030204" pitchFamily="18" charset="0"/>
                                  </a:rPr>
                                  <m:t>12</m:t>
                                </m:r>
                                <m:r>
                                  <a:rPr lang="en-US" i="1">
                                    <a:latin typeface="Cambria Math" panose="02040503050406030204" pitchFamily="18" charset="0"/>
                                  </a:rPr>
                                  <m:t>0</m:t>
                                </m:r>
                              </m:e>
                              <m:e>
                                <m:r>
                                  <a:rPr lang="en-US" b="0" i="1" smtClean="0">
                                    <a:latin typeface="Cambria Math" panose="02040503050406030204" pitchFamily="18" charset="0"/>
                                  </a:rPr>
                                  <m:t>13</m:t>
                                </m:r>
                                <m:r>
                                  <a:rPr lang="en-US" i="1">
                                    <a:latin typeface="Cambria Math" panose="02040503050406030204" pitchFamily="18" charset="0"/>
                                  </a:rPr>
                                  <m:t>0</m:t>
                                </m:r>
                              </m:e>
                            </m:mr>
                            <m:mr>
                              <m:e>
                                <m:r>
                                  <a:rPr lang="en-US" i="1">
                                    <a:latin typeface="Cambria Math" panose="02040503050406030204" pitchFamily="18" charset="0"/>
                                  </a:rPr>
                                  <m:t>110</m:t>
                                </m:r>
                              </m:e>
                              <m:e>
                                <m:r>
                                  <a:rPr lang="en-US" i="1">
                                    <a:latin typeface="Cambria Math" panose="02040503050406030204" pitchFamily="18" charset="0"/>
                                  </a:rPr>
                                  <m:t>1</m:t>
                                </m:r>
                                <m:r>
                                  <a:rPr lang="en-US" b="0" i="1" smtClean="0">
                                    <a:latin typeface="Cambria Math" panose="02040503050406030204" pitchFamily="18" charset="0"/>
                                  </a:rPr>
                                  <m:t>2</m:t>
                                </m:r>
                                <m:r>
                                  <a:rPr lang="en-US" i="1">
                                    <a:latin typeface="Cambria Math" panose="02040503050406030204" pitchFamily="18" charset="0"/>
                                  </a:rPr>
                                  <m:t>0</m:t>
                                </m:r>
                              </m:e>
                              <m:e>
                                <m:r>
                                  <a:rPr lang="en-US" i="1">
                                    <a:latin typeface="Cambria Math" panose="02040503050406030204" pitchFamily="18" charset="0"/>
                                  </a:rPr>
                                  <m:t>1</m:t>
                                </m:r>
                                <m:r>
                                  <a:rPr lang="en-US" b="0" i="1" smtClean="0">
                                    <a:latin typeface="Cambria Math" panose="02040503050406030204" pitchFamily="18" charset="0"/>
                                  </a:rPr>
                                  <m:t>3</m:t>
                                </m:r>
                                <m:r>
                                  <a:rPr lang="en-US" i="1">
                                    <a:latin typeface="Cambria Math" panose="02040503050406030204" pitchFamily="18" charset="0"/>
                                  </a:rPr>
                                  <m:t>0</m:t>
                                </m:r>
                              </m:e>
                              <m:e>
                                <m:r>
                                  <a:rPr lang="en-US" i="1">
                                    <a:latin typeface="Cambria Math" panose="02040503050406030204" pitchFamily="18" charset="0"/>
                                  </a:rPr>
                                  <m:t>1</m:t>
                                </m:r>
                                <m:r>
                                  <a:rPr lang="en-US" b="0" i="1" smtClean="0">
                                    <a:latin typeface="Cambria Math" panose="02040503050406030204" pitchFamily="18" charset="0"/>
                                  </a:rPr>
                                  <m:t>4</m:t>
                                </m:r>
                                <m:r>
                                  <a:rPr lang="en-US" i="1">
                                    <a:latin typeface="Cambria Math" panose="02040503050406030204" pitchFamily="18" charset="0"/>
                                  </a:rPr>
                                  <m:t>0</m:t>
                                </m:r>
                              </m:e>
                            </m:mr>
                            <m:mr>
                              <m:e>
                                <m:r>
                                  <a:rPr lang="en-US" i="1">
                                    <a:latin typeface="Cambria Math" panose="02040503050406030204" pitchFamily="18" charset="0"/>
                                  </a:rPr>
                                  <m:t>1</m:t>
                                </m:r>
                                <m:r>
                                  <a:rPr lang="en-US" b="0" i="1" smtClean="0">
                                    <a:latin typeface="Cambria Math" panose="02040503050406030204" pitchFamily="18" charset="0"/>
                                  </a:rPr>
                                  <m:t>2</m:t>
                                </m:r>
                                <m:r>
                                  <a:rPr lang="en-US" i="1">
                                    <a:latin typeface="Cambria Math" panose="02040503050406030204" pitchFamily="18" charset="0"/>
                                  </a:rPr>
                                  <m:t>0</m:t>
                                </m:r>
                              </m:e>
                              <m:e>
                                <m:r>
                                  <a:rPr lang="en-US" i="1">
                                    <a:latin typeface="Cambria Math" panose="02040503050406030204" pitchFamily="18" charset="0"/>
                                  </a:rPr>
                                  <m:t>1</m:t>
                                </m:r>
                                <m:r>
                                  <a:rPr lang="en-US" b="0" i="1" smtClean="0">
                                    <a:latin typeface="Cambria Math" panose="02040503050406030204" pitchFamily="18" charset="0"/>
                                  </a:rPr>
                                  <m:t>3</m:t>
                                </m:r>
                                <m:r>
                                  <a:rPr lang="en-US" i="1">
                                    <a:latin typeface="Cambria Math" panose="02040503050406030204" pitchFamily="18" charset="0"/>
                                  </a:rPr>
                                  <m:t>0</m:t>
                                </m:r>
                              </m:e>
                              <m:e>
                                <m:r>
                                  <a:rPr lang="en-US" b="0" i="1" smtClean="0">
                                    <a:latin typeface="Cambria Math" panose="02040503050406030204" pitchFamily="18" charset="0"/>
                                  </a:rPr>
                                  <m:t>14</m:t>
                                </m:r>
                                <m:r>
                                  <a:rPr lang="en-US" i="1">
                                    <a:latin typeface="Cambria Math" panose="02040503050406030204" pitchFamily="18" charset="0"/>
                                  </a:rPr>
                                  <m:t>0</m:t>
                                </m:r>
                              </m:e>
                              <m:e>
                                <m:r>
                                  <a:rPr lang="en-US" b="0" i="1" smtClean="0">
                                    <a:latin typeface="Cambria Math" panose="02040503050406030204" pitchFamily="18" charset="0"/>
                                  </a:rPr>
                                  <m:t>15</m:t>
                                </m:r>
                                <m:r>
                                  <a:rPr lang="en-US" i="1">
                                    <a:latin typeface="Cambria Math" panose="02040503050406030204" pitchFamily="18" charset="0"/>
                                  </a:rPr>
                                  <m:t>0</m:t>
                                </m:r>
                              </m:e>
                            </m:mr>
                            <m:mr>
                              <m:e>
                                <m:r>
                                  <a:rPr lang="en-US" b="0" i="1" smtClean="0">
                                    <a:latin typeface="Cambria Math" panose="02040503050406030204" pitchFamily="18" charset="0"/>
                                  </a:rPr>
                                  <m:t>13</m:t>
                                </m:r>
                                <m:r>
                                  <a:rPr lang="en-US" i="1">
                                    <a:latin typeface="Cambria Math" panose="02040503050406030204" pitchFamily="18" charset="0"/>
                                  </a:rPr>
                                  <m:t>0</m:t>
                                </m:r>
                              </m:e>
                              <m:e>
                                <m:r>
                                  <a:rPr lang="en-US" b="0" i="1" smtClean="0">
                                    <a:latin typeface="Cambria Math" panose="02040503050406030204" pitchFamily="18" charset="0"/>
                                  </a:rPr>
                                  <m:t>140</m:t>
                                </m:r>
                              </m:e>
                              <m:e>
                                <m:r>
                                  <a:rPr lang="en-US" b="0" i="1" smtClean="0">
                                    <a:latin typeface="Cambria Math" panose="02040503050406030204" pitchFamily="18" charset="0"/>
                                  </a:rPr>
                                  <m:t>15</m:t>
                                </m:r>
                                <m:r>
                                  <a:rPr lang="en-US" i="1">
                                    <a:latin typeface="Cambria Math" panose="02040503050406030204" pitchFamily="18" charset="0"/>
                                  </a:rPr>
                                  <m:t>0</m:t>
                                </m:r>
                              </m:e>
                              <m:e>
                                <m:r>
                                  <a:rPr lang="en-US" b="0" i="1" smtClean="0">
                                    <a:latin typeface="Cambria Math" panose="02040503050406030204" pitchFamily="18" charset="0"/>
                                  </a:rPr>
                                  <m:t>160</m:t>
                                </m:r>
                              </m:e>
                            </m:mr>
                          </m:m>
                        </m:e>
                      </m:d>
                    </m:oMath>
                  </m:oMathPara>
                </a14:m>
                <a:endParaRPr lang="en-US" dirty="0"/>
              </a:p>
              <a:p>
                <a:pPr marL="177800" indent="0">
                  <a:buNone/>
                </a:pPr>
                <a:endParaRPr lang="en-US" dirty="0"/>
              </a:p>
              <a:p>
                <a:r>
                  <a:rPr lang="en-US" dirty="0"/>
                  <a:t>Stretching step to the full </a:t>
                </a:r>
                <a14:m>
                  <m:oMath xmlns:m="http://schemas.openxmlformats.org/officeDocument/2006/math">
                    <m:r>
                      <a:rPr lang="en-US" i="1" dirty="0" smtClean="0">
                        <a:latin typeface="Cambria Math" panose="02040503050406030204" pitchFamily="18" charset="0"/>
                      </a:rPr>
                      <m:t>0–255</m:t>
                    </m:r>
                  </m:oMath>
                </a14:m>
                <a:r>
                  <a:rPr lang="en-US" dirty="0"/>
                  <a:t> range: </a:t>
                </a:r>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𝑟</m:t>
                        </m:r>
                      </m:e>
                      <m:sub>
                        <m:r>
                          <a:rPr lang="en-US" b="0" i="1" dirty="0" smtClean="0">
                            <a:latin typeface="Cambria Math" panose="02040503050406030204" pitchFamily="18" charset="0"/>
                          </a:rPr>
                          <m:t>𝑚𝑖𝑛</m:t>
                        </m:r>
                      </m:sub>
                    </m:sSub>
                    <m:r>
                      <a:rPr lang="en-US" i="1" dirty="0">
                        <a:latin typeface="Cambria Math" panose="02040503050406030204" pitchFamily="18" charset="0"/>
                      </a:rPr>
                      <m:t>⁡= 100,</m:t>
                    </m:r>
                    <m:sSub>
                      <m:sSubPr>
                        <m:ctrlPr>
                          <a:rPr lang="en-US" i="1" dirty="0">
                            <a:latin typeface="Cambria Math" panose="02040503050406030204" pitchFamily="18" charset="0"/>
                          </a:rPr>
                        </m:ctrlPr>
                      </m:sSubPr>
                      <m:e>
                        <m:r>
                          <a:rPr lang="en-US" i="1" dirty="0">
                            <a:latin typeface="Cambria Math" panose="02040503050406030204" pitchFamily="18" charset="0"/>
                          </a:rPr>
                          <m:t>𝑟</m:t>
                        </m:r>
                      </m:e>
                      <m:sub>
                        <m:r>
                          <a:rPr lang="en-US" i="1" dirty="0">
                            <a:latin typeface="Cambria Math" panose="02040503050406030204" pitchFamily="18" charset="0"/>
                          </a:rPr>
                          <m:t>𝑚</m:t>
                        </m:r>
                        <m:r>
                          <a:rPr lang="en-US" b="0" i="1" dirty="0" smtClean="0">
                            <a:latin typeface="Cambria Math" panose="02040503050406030204" pitchFamily="18" charset="0"/>
                          </a:rPr>
                          <m:t>𝑎𝑥</m:t>
                        </m:r>
                      </m:sub>
                    </m:sSub>
                    <m:r>
                      <a:rPr lang="en-US" i="1" dirty="0">
                        <a:latin typeface="Cambria Math" panose="02040503050406030204" pitchFamily="18" charset="0"/>
                      </a:rPr>
                      <m:t>⁡= 150, </m:t>
                    </m:r>
                    <m:r>
                      <a:rPr lang="en-US" i="1" dirty="0">
                        <a:latin typeface="Cambria Math" panose="02040503050406030204" pitchFamily="18" charset="0"/>
                      </a:rPr>
                      <m:t>𝐿</m:t>
                    </m:r>
                    <m:r>
                      <a:rPr lang="en-US" i="1" dirty="0">
                        <a:latin typeface="Cambria Math" panose="02040503050406030204" pitchFamily="18" charset="0"/>
                      </a:rPr>
                      <m:t>−1 = 255</m:t>
                    </m:r>
                  </m:oMath>
                </a14:m>
                <a:endParaRPr lang="en-US" dirty="0"/>
              </a:p>
              <a:p>
                <a:r>
                  <a:rPr lang="en-US" dirty="0"/>
                  <a:t>For a pixel with a value of </a:t>
                </a:r>
                <a14:m>
                  <m:oMath xmlns:m="http://schemas.openxmlformats.org/officeDocument/2006/math">
                    <m:r>
                      <a:rPr lang="en-US" i="1" dirty="0" smtClean="0">
                        <a:latin typeface="Cambria Math" panose="02040503050406030204" pitchFamily="18" charset="0"/>
                      </a:rPr>
                      <m:t>𝑟</m:t>
                    </m:r>
                    <m:r>
                      <a:rPr lang="en-US" i="1" dirty="0" smtClean="0">
                        <a:latin typeface="Cambria Math" panose="02040503050406030204" pitchFamily="18" charset="0"/>
                      </a:rPr>
                      <m:t> = 100: </m:t>
                    </m:r>
                    <m:r>
                      <m:rPr>
                        <m:sty m:val="p"/>
                      </m:rPr>
                      <a:rPr lang="en-US" dirty="0">
                        <a:latin typeface="Cambria Math" panose="02040503050406030204" pitchFamily="18" charset="0"/>
                      </a:rPr>
                      <m:t>S</m:t>
                    </m:r>
                    <m:r>
                      <a:rPr lang="en-US" dirty="0">
                        <a:latin typeface="Cambria Math" panose="02040503050406030204" pitchFamily="18" charset="0"/>
                      </a:rPr>
                      <m:t> = 255 ×</m:t>
                    </m:r>
                    <m:f>
                      <m:fPr>
                        <m:ctrlPr>
                          <a:rPr lang="en-US" dirty="0">
                            <a:latin typeface="Cambria Math" panose="02040503050406030204" pitchFamily="18" charset="0"/>
                          </a:rPr>
                        </m:ctrlPr>
                      </m:fPr>
                      <m:num>
                        <m:r>
                          <a:rPr lang="en-US" dirty="0">
                            <a:latin typeface="Cambria Math" panose="02040503050406030204" pitchFamily="18" charset="0"/>
                          </a:rPr>
                          <m:t>100−100</m:t>
                        </m:r>
                      </m:num>
                      <m:den>
                        <m:r>
                          <a:rPr lang="en-US" dirty="0">
                            <a:latin typeface="Cambria Math" panose="02040503050406030204" pitchFamily="18" charset="0"/>
                          </a:rPr>
                          <m:t>150−100</m:t>
                        </m:r>
                      </m:den>
                    </m:f>
                    <m:r>
                      <a:rPr lang="en-US" dirty="0">
                        <a:latin typeface="Cambria Math" panose="02040503050406030204" pitchFamily="18" charset="0"/>
                      </a:rPr>
                      <m:t> = 255 × 0/50 = 0</m:t>
                    </m:r>
                  </m:oMath>
                </a14:m>
                <a:endParaRPr lang="en-US" dirty="0"/>
              </a:p>
              <a:p>
                <a:r>
                  <a:rPr lang="en-US" dirty="0"/>
                  <a:t>For a pixel with a value of </a:t>
                </a:r>
                <a14:m>
                  <m:oMath xmlns:m="http://schemas.openxmlformats.org/officeDocument/2006/math">
                    <m:r>
                      <a:rPr lang="en-US" i="1" dirty="0" smtClean="0">
                        <a:latin typeface="Cambria Math" panose="02040503050406030204" pitchFamily="18" charset="0"/>
                      </a:rPr>
                      <m:t>𝑟</m:t>
                    </m:r>
                    <m:r>
                      <a:rPr lang="en-US" i="1" dirty="0" smtClean="0">
                        <a:latin typeface="Cambria Math" panose="02040503050406030204" pitchFamily="18" charset="0"/>
                      </a:rPr>
                      <m:t> = 120</m:t>
                    </m:r>
                  </m:oMath>
                </a14:m>
                <a:r>
                  <a:rPr lang="en-US" dirty="0"/>
                  <a:t>: </a:t>
                </a:r>
                <a14:m>
                  <m:oMath xmlns:m="http://schemas.openxmlformats.org/officeDocument/2006/math">
                    <m:r>
                      <a:rPr lang="en-US" i="1" dirty="0" smtClean="0">
                        <a:latin typeface="Cambria Math" panose="02040503050406030204" pitchFamily="18" charset="0"/>
                      </a:rPr>
                      <m:t>𝑆</m:t>
                    </m:r>
                    <m:r>
                      <a:rPr lang="en-US" i="1" dirty="0" smtClean="0">
                        <a:latin typeface="Cambria Math" panose="02040503050406030204" pitchFamily="18" charset="0"/>
                      </a:rPr>
                      <m:t> = 255 ×</m:t>
                    </m:r>
                    <m:f>
                      <m:fPr>
                        <m:ctrlPr>
                          <a:rPr lang="en-US" i="1" dirty="0" smtClean="0">
                            <a:latin typeface="Cambria Math" panose="02040503050406030204" pitchFamily="18" charset="0"/>
                          </a:rPr>
                        </m:ctrlPr>
                      </m:fPr>
                      <m:num>
                        <m:r>
                          <a:rPr lang="en-US" i="1" dirty="0" smtClean="0">
                            <a:latin typeface="Cambria Math" panose="02040503050406030204" pitchFamily="18" charset="0"/>
                          </a:rPr>
                          <m:t>120−100</m:t>
                        </m:r>
                      </m:num>
                      <m:den>
                        <m:r>
                          <a:rPr lang="en-US" i="1" dirty="0" smtClean="0">
                            <a:latin typeface="Cambria Math" panose="02040503050406030204" pitchFamily="18" charset="0"/>
                          </a:rPr>
                          <m:t>150−100</m:t>
                        </m:r>
                      </m:den>
                    </m:f>
                    <m:r>
                      <a:rPr lang="en-US" i="1" dirty="0" smtClean="0">
                        <a:latin typeface="Cambria Math" panose="02040503050406030204" pitchFamily="18" charset="0"/>
                      </a:rPr>
                      <m:t> = 255 × 20/50 = 102</m:t>
                    </m:r>
                  </m:oMath>
                </a14:m>
                <a:endParaRPr lang="en-US" dirty="0"/>
              </a:p>
              <a:p>
                <a:r>
                  <a:rPr lang="en-US" dirty="0"/>
                  <a:t>For a pixel with a value of </a:t>
                </a:r>
                <a14:m>
                  <m:oMath xmlns:m="http://schemas.openxmlformats.org/officeDocument/2006/math">
                    <m:r>
                      <a:rPr lang="en-US" i="1" dirty="0">
                        <a:latin typeface="Cambria Math" panose="02040503050406030204" pitchFamily="18" charset="0"/>
                      </a:rPr>
                      <m:t>𝑟</m:t>
                    </m:r>
                    <m:r>
                      <a:rPr lang="en-US" i="1" dirty="0">
                        <a:latin typeface="Cambria Math" panose="02040503050406030204" pitchFamily="18" charset="0"/>
                      </a:rPr>
                      <m:t> = 150</m:t>
                    </m:r>
                  </m:oMath>
                </a14:m>
                <a:r>
                  <a:rPr lang="en-US" dirty="0"/>
                  <a:t>:</a:t>
                </a:r>
                <a14:m>
                  <m:oMath xmlns:m="http://schemas.openxmlformats.org/officeDocument/2006/math">
                    <m:r>
                      <a:rPr lang="en-US" b="0" i="0" dirty="0" smtClean="0">
                        <a:latin typeface="Cambria Math" panose="02040503050406030204" pitchFamily="18" charset="0"/>
                      </a:rPr>
                      <m:t> </m:t>
                    </m:r>
                    <m:r>
                      <a:rPr lang="en-US" i="1" dirty="0" smtClean="0">
                        <a:latin typeface="Cambria Math" panose="02040503050406030204" pitchFamily="18" charset="0"/>
                      </a:rPr>
                      <m:t>𝑆</m:t>
                    </m:r>
                    <m:r>
                      <a:rPr lang="en-US" i="1" dirty="0" smtClean="0">
                        <a:latin typeface="Cambria Math" panose="02040503050406030204" pitchFamily="18" charset="0"/>
                      </a:rPr>
                      <m:t> = 255 ×</m:t>
                    </m:r>
                    <m:f>
                      <m:fPr>
                        <m:ctrlPr>
                          <a:rPr lang="en-US" i="1" dirty="0" smtClean="0">
                            <a:latin typeface="Cambria Math" panose="02040503050406030204" pitchFamily="18" charset="0"/>
                          </a:rPr>
                        </m:ctrlPr>
                      </m:fPr>
                      <m:num>
                        <m:r>
                          <a:rPr lang="en-US" i="1" dirty="0" smtClean="0">
                            <a:latin typeface="Cambria Math" panose="02040503050406030204" pitchFamily="18" charset="0"/>
                          </a:rPr>
                          <m:t>150−100</m:t>
                        </m:r>
                      </m:num>
                      <m:den>
                        <m:r>
                          <a:rPr lang="en-US" i="1" dirty="0" smtClean="0">
                            <a:latin typeface="Cambria Math" panose="02040503050406030204" pitchFamily="18" charset="0"/>
                          </a:rPr>
                          <m:t>150−100</m:t>
                        </m:r>
                      </m:den>
                    </m:f>
                    <m:r>
                      <a:rPr lang="en-US" i="1" dirty="0" smtClean="0">
                        <a:latin typeface="Cambria Math" panose="02040503050406030204" pitchFamily="18" charset="0"/>
                      </a:rPr>
                      <m:t> = 255 × 50/50 = 255</m:t>
                    </m:r>
                  </m:oMath>
                </a14:m>
                <a:endParaRPr lang="en-US" dirty="0"/>
              </a:p>
              <a:p>
                <a:r>
                  <a:rPr lang="en-US" dirty="0"/>
                  <a:t>Matrix result after stretching (rounded): </a:t>
                </a:r>
                <a14:m>
                  <m:oMath xmlns:m="http://schemas.openxmlformats.org/officeDocument/2006/math">
                    <m:r>
                      <a:rPr lang="en-US" b="0" i="1" smtClean="0">
                        <a:latin typeface="Cambria Math" panose="02040503050406030204" pitchFamily="18" charset="0"/>
                      </a:rPr>
                      <m:t>𝑆</m:t>
                    </m:r>
                    <m:r>
                      <a:rPr lang="en-US" i="1">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4"/>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0</m:t>
                              </m:r>
                            </m:e>
                            <m:e>
                              <m:r>
                                <a:rPr lang="en-US" b="0" i="1" smtClean="0">
                                  <a:latin typeface="Cambria Math" panose="02040503050406030204" pitchFamily="18" charset="0"/>
                                </a:rPr>
                                <m:t>51</m:t>
                              </m:r>
                            </m:e>
                            <m:e>
                              <m:r>
                                <a:rPr lang="en-US" i="1">
                                  <a:latin typeface="Cambria Math" panose="02040503050406030204" pitchFamily="18" charset="0"/>
                                </a:rPr>
                                <m:t>1</m:t>
                              </m:r>
                              <m:r>
                                <a:rPr lang="en-US" b="0" i="1" smtClean="0">
                                  <a:latin typeface="Cambria Math" panose="02040503050406030204" pitchFamily="18" charset="0"/>
                                </a:rPr>
                                <m:t>02</m:t>
                              </m:r>
                            </m:e>
                            <m:e>
                              <m:r>
                                <a:rPr lang="en-US" i="1">
                                  <a:latin typeface="Cambria Math" panose="02040503050406030204" pitchFamily="18" charset="0"/>
                                </a:rPr>
                                <m:t>1</m:t>
                              </m:r>
                              <m:r>
                                <a:rPr lang="en-US" b="0" i="1" smtClean="0">
                                  <a:latin typeface="Cambria Math" panose="02040503050406030204" pitchFamily="18" charset="0"/>
                                </a:rPr>
                                <m:t>53</m:t>
                              </m:r>
                            </m:e>
                          </m:mr>
                          <m:mr>
                            <m:e>
                              <m:r>
                                <a:rPr lang="en-US" b="0" i="1" smtClean="0">
                                  <a:latin typeface="Cambria Math" panose="02040503050406030204" pitchFamily="18" charset="0"/>
                                </a:rPr>
                                <m:t>51</m:t>
                              </m:r>
                            </m:e>
                            <m:e>
                              <m:r>
                                <a:rPr lang="en-US" b="0" i="1" smtClean="0">
                                  <a:latin typeface="Cambria Math" panose="02040503050406030204" pitchFamily="18" charset="0"/>
                                </a:rPr>
                                <m:t>102</m:t>
                              </m:r>
                            </m:e>
                            <m:e>
                              <m:r>
                                <a:rPr lang="en-US" i="1">
                                  <a:latin typeface="Cambria Math" panose="02040503050406030204" pitchFamily="18" charset="0"/>
                                </a:rPr>
                                <m:t>1</m:t>
                              </m:r>
                              <m:r>
                                <a:rPr lang="en-US" b="0" i="1" smtClean="0">
                                  <a:latin typeface="Cambria Math" panose="02040503050406030204" pitchFamily="18" charset="0"/>
                                </a:rPr>
                                <m:t>52</m:t>
                              </m:r>
                            </m:e>
                            <m:e>
                              <m:r>
                                <a:rPr lang="en-US" b="0" i="1" smtClean="0">
                                  <a:latin typeface="Cambria Math" panose="02040503050406030204" pitchFamily="18" charset="0"/>
                                </a:rPr>
                                <m:t>204</m:t>
                              </m:r>
                            </m:e>
                          </m:mr>
                          <m:mr>
                            <m:e>
                              <m:r>
                                <a:rPr lang="en-US" b="0" i="1" smtClean="0">
                                  <a:latin typeface="Cambria Math" panose="02040503050406030204" pitchFamily="18" charset="0"/>
                                </a:rPr>
                                <m:t>102</m:t>
                              </m:r>
                            </m:e>
                            <m:e>
                              <m:r>
                                <a:rPr lang="en-US" i="1">
                                  <a:latin typeface="Cambria Math" panose="02040503050406030204" pitchFamily="18" charset="0"/>
                                </a:rPr>
                                <m:t>1</m:t>
                              </m:r>
                              <m:r>
                                <a:rPr lang="en-US" b="0" i="1" smtClean="0">
                                  <a:latin typeface="Cambria Math" panose="02040503050406030204" pitchFamily="18" charset="0"/>
                                </a:rPr>
                                <m:t>53</m:t>
                              </m:r>
                            </m:e>
                            <m:e>
                              <m:r>
                                <a:rPr lang="en-US" b="0" i="1" smtClean="0">
                                  <a:latin typeface="Cambria Math" panose="02040503050406030204" pitchFamily="18" charset="0"/>
                                </a:rPr>
                                <m:t>204</m:t>
                              </m:r>
                            </m:e>
                            <m:e>
                              <m:r>
                                <a:rPr lang="en-US" b="0" i="1" smtClean="0">
                                  <a:latin typeface="Cambria Math" panose="02040503050406030204" pitchFamily="18" charset="0"/>
                                </a:rPr>
                                <m:t>255</m:t>
                              </m:r>
                            </m:e>
                          </m:mr>
                          <m:mr>
                            <m:e>
                              <m:r>
                                <a:rPr lang="en-US" i="1">
                                  <a:latin typeface="Cambria Math" panose="02040503050406030204" pitchFamily="18" charset="0"/>
                                </a:rPr>
                                <m:t>1</m:t>
                              </m:r>
                              <m:r>
                                <a:rPr lang="en-US" b="0" i="1" smtClean="0">
                                  <a:latin typeface="Cambria Math" panose="02040503050406030204" pitchFamily="18" charset="0"/>
                                </a:rPr>
                                <m:t>53</m:t>
                              </m:r>
                            </m:e>
                            <m:e>
                              <m:r>
                                <a:rPr lang="en-US" b="0" i="1" smtClean="0">
                                  <a:latin typeface="Cambria Math" panose="02040503050406030204" pitchFamily="18" charset="0"/>
                                </a:rPr>
                                <m:t>204</m:t>
                              </m:r>
                            </m:e>
                            <m:e>
                              <m:r>
                                <a:rPr lang="en-US" b="0" i="1" smtClean="0">
                                  <a:latin typeface="Cambria Math" panose="02040503050406030204" pitchFamily="18" charset="0"/>
                                </a:rPr>
                                <m:t>255</m:t>
                              </m:r>
                            </m:e>
                            <m:e>
                              <m:r>
                                <a:rPr lang="en-US" b="0" i="1" smtClean="0">
                                  <a:latin typeface="Cambria Math" panose="02040503050406030204" pitchFamily="18" charset="0"/>
                                </a:rPr>
                                <m:t>0</m:t>
                              </m:r>
                            </m:e>
                          </m:mr>
                        </m:m>
                      </m:e>
                    </m:d>
                  </m:oMath>
                </a14:m>
                <a:r>
                  <a:rPr lang="en-US" dirty="0"/>
                  <a:t>, The output now spans the full range from 0 to 255.</a:t>
                </a:r>
              </a:p>
              <a:p>
                <a:endParaRPr lang="en-US" dirty="0"/>
              </a:p>
              <a:p>
                <a:endParaRPr lang="en-US" dirty="0"/>
              </a:p>
              <a:p>
                <a:endParaRPr lang="en-US" dirty="0"/>
              </a:p>
              <a:p>
                <a:endParaRPr lang="en-US" dirty="0"/>
              </a:p>
              <a:p>
                <a:endParaRPr lang="en-US" dirty="0"/>
              </a:p>
              <a:p>
                <a:r>
                  <a:rPr lang="en-US" dirty="0"/>
                  <a:t>So, a histogram is not a representation of pixel positions. It simply shows </a:t>
                </a:r>
                <a:r>
                  <a:rPr lang="en-US" b="1" dirty="0"/>
                  <a:t>the distribution of intensities</a:t>
                </a:r>
                <a:r>
                  <a:rPr lang="en-US" dirty="0"/>
                  <a:t>.</a:t>
                </a:r>
              </a:p>
            </p:txBody>
          </p:sp>
        </mc:Choice>
        <mc:Fallback>
          <p:sp>
            <p:nvSpPr>
              <p:cNvPr id="3" name="Text Placeholder 2">
                <a:extLst>
                  <a:ext uri="{FF2B5EF4-FFF2-40B4-BE49-F238E27FC236}">
                    <a16:creationId xmlns:a16="http://schemas.microsoft.com/office/drawing/2014/main" id="{98D4A921-490B-CD06-4A60-72A2FBEF5B1E}"/>
                  </a:ext>
                </a:extLst>
              </p:cNvPr>
              <p:cNvSpPr>
                <a:spLocks noGrp="1" noRot="1" noChangeAspect="1" noMove="1" noResize="1" noEditPoints="1" noAdjustHandles="1" noChangeArrowheads="1" noChangeShapeType="1" noTextEdit="1"/>
              </p:cNvSpPr>
              <p:nvPr>
                <p:ph type="body" idx="1"/>
              </p:nvPr>
            </p:nvSpPr>
            <p:spPr>
              <a:xfrm>
                <a:off x="720000" y="968665"/>
                <a:ext cx="8071621" cy="3233100"/>
              </a:xfrm>
              <a:blipFill>
                <a:blip r:embed="rId2"/>
                <a:stretch>
                  <a:fillRect b="-77736"/>
                </a:stretch>
              </a:blipFill>
            </p:spPr>
            <p:txBody>
              <a:bodyPr/>
              <a:lstStyle/>
              <a:p>
                <a:r>
                  <a:rPr lang="en-US">
                    <a:noFill/>
                  </a:rPr>
                  <a:t> </a:t>
                </a:r>
              </a:p>
            </p:txBody>
          </p:sp>
        </mc:Fallback>
      </mc:AlternateContent>
    </p:spTree>
    <p:extLst>
      <p:ext uri="{BB962C8B-B14F-4D97-AF65-F5344CB8AC3E}">
        <p14:creationId xmlns:p14="http://schemas.microsoft.com/office/powerpoint/2010/main" val="15829777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96C73-D131-118F-891D-A54153B3C4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78CB92-D1D1-EF25-0C01-4AE8D0E30D31}"/>
              </a:ext>
            </a:extLst>
          </p:cNvPr>
          <p:cNvSpPr>
            <a:spLocks noGrp="1"/>
          </p:cNvSpPr>
          <p:nvPr>
            <p:ph type="title"/>
          </p:nvPr>
        </p:nvSpPr>
        <p:spPr/>
        <p:txBody>
          <a:bodyPr/>
          <a:lstStyle/>
          <a:p>
            <a:r>
              <a:rPr lang="en-US" dirty="0">
                <a:solidFill>
                  <a:schemeClr val="tx1"/>
                </a:solidFill>
              </a:rPr>
              <a:t>Example to Matrix : </a:t>
            </a:r>
            <a:r>
              <a:rPr lang="en-US" dirty="0"/>
              <a:t>Shrinking</a:t>
            </a:r>
            <a:endParaRPr lang="en-US" dirty="0">
              <a:solidFill>
                <a:schemeClr val="tx1"/>
              </a:solidFill>
            </a:endParaRP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0C389748-1D5A-1BE3-C1DB-B20862BC05CE}"/>
                  </a:ext>
                </a:extLst>
              </p:cNvPr>
              <p:cNvSpPr>
                <a:spLocks noGrp="1"/>
              </p:cNvSpPr>
              <p:nvPr>
                <p:ph type="body" idx="1"/>
              </p:nvPr>
            </p:nvSpPr>
            <p:spPr>
              <a:xfrm>
                <a:off x="684320" y="1017725"/>
                <a:ext cx="8366014" cy="3233100"/>
              </a:xfrm>
            </p:spPr>
            <p:txBody>
              <a:bodyPr/>
              <a:lstStyle/>
              <a:p>
                <a:r>
                  <a:rPr lang="en-US" dirty="0"/>
                  <a:t>Given a </a:t>
                </a:r>
                <a14:m>
                  <m:oMath xmlns:m="http://schemas.openxmlformats.org/officeDocument/2006/math">
                    <m:r>
                      <a:rPr lang="en-US" i="1" dirty="0" smtClean="0">
                        <a:latin typeface="Cambria Math" panose="02040503050406030204" pitchFamily="18" charset="0"/>
                      </a:rPr>
                      <m:t>4×4</m:t>
                    </m:r>
                  </m:oMath>
                </a14:m>
                <a:r>
                  <a:rPr lang="en-US" dirty="0"/>
                  <a:t> grayscale image matrix with a narrow value range (threshold </a:t>
                </a:r>
                <a14:m>
                  <m:oMath xmlns:m="http://schemas.openxmlformats.org/officeDocument/2006/math">
                    <m:r>
                      <a:rPr lang="en-US" i="1" dirty="0" smtClean="0">
                        <a:latin typeface="Cambria Math" panose="02040503050406030204" pitchFamily="18" charset="0"/>
                      </a:rPr>
                      <m:t>50–180</m:t>
                    </m:r>
                  </m:oMath>
                </a14:m>
                <a:r>
                  <a:rPr lang="en-US" dirty="0"/>
                  <a:t>):</a:t>
                </a:r>
                <a:endParaRPr lang="en-US" b="0" i="0" dirty="0">
                  <a:latin typeface="Cambria Math" panose="02040503050406030204" pitchFamily="18" charset="0"/>
                </a:endParaRPr>
              </a:p>
              <a:p>
                <a:pPr marL="177800" indent="0">
                  <a:buNone/>
                </a:pPr>
                <a14:m>
                  <m:oMathPara xmlns:m="http://schemas.openxmlformats.org/officeDocument/2006/math">
                    <m:oMath>
                      <m:r>
                        <a:rPr lang="en-US" b="0" i="0" smtClean="0">
                          <a:latin typeface="Cambria Math" panose="02040503050406030204" pitchFamily="18" charset="0"/>
                        </a:rPr>
                        <m:t> </m:t>
                      </m:r>
                      <m:r>
                        <a:rPr lang="en-US" i="1">
                          <a:latin typeface="Cambria Math" panose="02040503050406030204" pitchFamily="18" charset="0"/>
                        </a:rPr>
                        <m:t>𝐼</m:t>
                      </m:r>
                      <m:r>
                        <a:rPr lang="en-US" i="1">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4"/>
                                    <m:mcJc m:val="center"/>
                                  </m:mcPr>
                                </m:mc>
                              </m:mcs>
                              <m:ctrlPr>
                                <a:rPr lang="en-US" i="1">
                                  <a:latin typeface="Cambria Math" panose="02040503050406030204" pitchFamily="18" charset="0"/>
                                </a:rPr>
                              </m:ctrlPr>
                            </m:mPr>
                            <m:mr>
                              <m:e>
                                <m:r>
                                  <m:rPr>
                                    <m:brk m:alnAt="7"/>
                                  </m:rPr>
                                  <a:rPr lang="en-US" b="0" i="1" smtClean="0">
                                    <a:latin typeface="Cambria Math" panose="02040503050406030204" pitchFamily="18" charset="0"/>
                                  </a:rPr>
                                  <m:t>1</m:t>
                                </m:r>
                                <m:r>
                                  <m:rPr>
                                    <m:brk m:alnAt="7"/>
                                  </m:rPr>
                                  <a:rPr lang="en-US" b="0" i="1" smtClean="0">
                                    <a:latin typeface="Cambria Math" panose="02040503050406030204" pitchFamily="18" charset="0"/>
                                  </a:rPr>
                                  <m:t>0</m:t>
                                </m:r>
                                <m:r>
                                  <m:rPr>
                                    <m:brk m:alnAt="7"/>
                                  </m:rPr>
                                  <a:rPr lang="en-US" i="1">
                                    <a:latin typeface="Cambria Math" panose="02040503050406030204" pitchFamily="18" charset="0"/>
                                  </a:rPr>
                                  <m:t>0</m:t>
                                </m:r>
                              </m:e>
                              <m:e>
                                <m:r>
                                  <a:rPr lang="en-US" b="0" i="1" smtClean="0">
                                    <a:latin typeface="Cambria Math" panose="02040503050406030204" pitchFamily="18" charset="0"/>
                                  </a:rPr>
                                  <m:t>11</m:t>
                                </m:r>
                                <m:r>
                                  <a:rPr lang="en-US" i="1">
                                    <a:latin typeface="Cambria Math" panose="02040503050406030204" pitchFamily="18" charset="0"/>
                                  </a:rPr>
                                  <m:t>0</m:t>
                                </m:r>
                              </m:e>
                              <m:e>
                                <m:r>
                                  <a:rPr lang="en-US" b="0" i="1" smtClean="0">
                                    <a:latin typeface="Cambria Math" panose="02040503050406030204" pitchFamily="18" charset="0"/>
                                  </a:rPr>
                                  <m:t>12</m:t>
                                </m:r>
                                <m:r>
                                  <a:rPr lang="en-US" i="1">
                                    <a:latin typeface="Cambria Math" panose="02040503050406030204" pitchFamily="18" charset="0"/>
                                  </a:rPr>
                                  <m:t>0</m:t>
                                </m:r>
                              </m:e>
                              <m:e>
                                <m:r>
                                  <a:rPr lang="en-US" b="0" i="1" smtClean="0">
                                    <a:latin typeface="Cambria Math" panose="02040503050406030204" pitchFamily="18" charset="0"/>
                                  </a:rPr>
                                  <m:t>13</m:t>
                                </m:r>
                                <m:r>
                                  <a:rPr lang="en-US" i="1">
                                    <a:latin typeface="Cambria Math" panose="02040503050406030204" pitchFamily="18" charset="0"/>
                                  </a:rPr>
                                  <m:t>0</m:t>
                                </m:r>
                              </m:e>
                            </m:mr>
                            <m:mr>
                              <m:e>
                                <m:r>
                                  <a:rPr lang="en-US" i="1">
                                    <a:latin typeface="Cambria Math" panose="02040503050406030204" pitchFamily="18" charset="0"/>
                                  </a:rPr>
                                  <m:t>110</m:t>
                                </m:r>
                              </m:e>
                              <m:e>
                                <m:r>
                                  <a:rPr lang="en-US" i="1">
                                    <a:latin typeface="Cambria Math" panose="02040503050406030204" pitchFamily="18" charset="0"/>
                                  </a:rPr>
                                  <m:t>1</m:t>
                                </m:r>
                                <m:r>
                                  <a:rPr lang="en-US" b="0" i="1" smtClean="0">
                                    <a:latin typeface="Cambria Math" panose="02040503050406030204" pitchFamily="18" charset="0"/>
                                  </a:rPr>
                                  <m:t>2</m:t>
                                </m:r>
                                <m:r>
                                  <a:rPr lang="en-US" i="1">
                                    <a:latin typeface="Cambria Math" panose="02040503050406030204" pitchFamily="18" charset="0"/>
                                  </a:rPr>
                                  <m:t>0</m:t>
                                </m:r>
                              </m:e>
                              <m:e>
                                <m:r>
                                  <a:rPr lang="en-US" i="1">
                                    <a:latin typeface="Cambria Math" panose="02040503050406030204" pitchFamily="18" charset="0"/>
                                  </a:rPr>
                                  <m:t>1</m:t>
                                </m:r>
                                <m:r>
                                  <a:rPr lang="en-US" b="0" i="1" smtClean="0">
                                    <a:latin typeface="Cambria Math" panose="02040503050406030204" pitchFamily="18" charset="0"/>
                                  </a:rPr>
                                  <m:t>3</m:t>
                                </m:r>
                                <m:r>
                                  <a:rPr lang="en-US" i="1">
                                    <a:latin typeface="Cambria Math" panose="02040503050406030204" pitchFamily="18" charset="0"/>
                                  </a:rPr>
                                  <m:t>0</m:t>
                                </m:r>
                              </m:e>
                              <m:e>
                                <m:r>
                                  <a:rPr lang="en-US" i="1">
                                    <a:latin typeface="Cambria Math" panose="02040503050406030204" pitchFamily="18" charset="0"/>
                                  </a:rPr>
                                  <m:t>1</m:t>
                                </m:r>
                                <m:r>
                                  <a:rPr lang="en-US" b="0" i="1" smtClean="0">
                                    <a:latin typeface="Cambria Math" panose="02040503050406030204" pitchFamily="18" charset="0"/>
                                  </a:rPr>
                                  <m:t>4</m:t>
                                </m:r>
                                <m:r>
                                  <a:rPr lang="en-US" i="1">
                                    <a:latin typeface="Cambria Math" panose="02040503050406030204" pitchFamily="18" charset="0"/>
                                  </a:rPr>
                                  <m:t>0</m:t>
                                </m:r>
                              </m:e>
                            </m:mr>
                            <m:mr>
                              <m:e>
                                <m:r>
                                  <a:rPr lang="en-US" i="1">
                                    <a:latin typeface="Cambria Math" panose="02040503050406030204" pitchFamily="18" charset="0"/>
                                  </a:rPr>
                                  <m:t>1</m:t>
                                </m:r>
                                <m:r>
                                  <a:rPr lang="en-US" b="0" i="1" smtClean="0">
                                    <a:latin typeface="Cambria Math" panose="02040503050406030204" pitchFamily="18" charset="0"/>
                                  </a:rPr>
                                  <m:t>2</m:t>
                                </m:r>
                                <m:r>
                                  <a:rPr lang="en-US" i="1">
                                    <a:latin typeface="Cambria Math" panose="02040503050406030204" pitchFamily="18" charset="0"/>
                                  </a:rPr>
                                  <m:t>0</m:t>
                                </m:r>
                              </m:e>
                              <m:e>
                                <m:r>
                                  <a:rPr lang="en-US" i="1">
                                    <a:latin typeface="Cambria Math" panose="02040503050406030204" pitchFamily="18" charset="0"/>
                                  </a:rPr>
                                  <m:t>1</m:t>
                                </m:r>
                                <m:r>
                                  <a:rPr lang="en-US" b="0" i="1" smtClean="0">
                                    <a:latin typeface="Cambria Math" panose="02040503050406030204" pitchFamily="18" charset="0"/>
                                  </a:rPr>
                                  <m:t>3</m:t>
                                </m:r>
                                <m:r>
                                  <a:rPr lang="en-US" i="1">
                                    <a:latin typeface="Cambria Math" panose="02040503050406030204" pitchFamily="18" charset="0"/>
                                  </a:rPr>
                                  <m:t>0</m:t>
                                </m:r>
                              </m:e>
                              <m:e>
                                <m:r>
                                  <a:rPr lang="en-US" b="0" i="1" smtClean="0">
                                    <a:latin typeface="Cambria Math" panose="02040503050406030204" pitchFamily="18" charset="0"/>
                                  </a:rPr>
                                  <m:t>14</m:t>
                                </m:r>
                                <m:r>
                                  <a:rPr lang="en-US" i="1">
                                    <a:latin typeface="Cambria Math" panose="02040503050406030204" pitchFamily="18" charset="0"/>
                                  </a:rPr>
                                  <m:t>0</m:t>
                                </m:r>
                              </m:e>
                              <m:e>
                                <m:r>
                                  <a:rPr lang="en-US" b="0" i="1" smtClean="0">
                                    <a:latin typeface="Cambria Math" panose="02040503050406030204" pitchFamily="18" charset="0"/>
                                  </a:rPr>
                                  <m:t>15</m:t>
                                </m:r>
                                <m:r>
                                  <a:rPr lang="en-US" i="1">
                                    <a:latin typeface="Cambria Math" panose="02040503050406030204" pitchFamily="18" charset="0"/>
                                  </a:rPr>
                                  <m:t>0</m:t>
                                </m:r>
                              </m:e>
                            </m:mr>
                            <m:mr>
                              <m:e>
                                <m:r>
                                  <a:rPr lang="en-US" b="0" i="1" smtClean="0">
                                    <a:latin typeface="Cambria Math" panose="02040503050406030204" pitchFamily="18" charset="0"/>
                                  </a:rPr>
                                  <m:t>13</m:t>
                                </m:r>
                                <m:r>
                                  <a:rPr lang="en-US" i="1">
                                    <a:latin typeface="Cambria Math" panose="02040503050406030204" pitchFamily="18" charset="0"/>
                                  </a:rPr>
                                  <m:t>0</m:t>
                                </m:r>
                              </m:e>
                              <m:e>
                                <m:r>
                                  <a:rPr lang="en-US" b="0" i="1" smtClean="0">
                                    <a:latin typeface="Cambria Math" panose="02040503050406030204" pitchFamily="18" charset="0"/>
                                  </a:rPr>
                                  <m:t>140</m:t>
                                </m:r>
                              </m:e>
                              <m:e>
                                <m:r>
                                  <a:rPr lang="en-US" b="0" i="1" smtClean="0">
                                    <a:latin typeface="Cambria Math" panose="02040503050406030204" pitchFamily="18" charset="0"/>
                                  </a:rPr>
                                  <m:t>15</m:t>
                                </m:r>
                                <m:r>
                                  <a:rPr lang="en-US" i="1">
                                    <a:latin typeface="Cambria Math" panose="02040503050406030204" pitchFamily="18" charset="0"/>
                                  </a:rPr>
                                  <m:t>0</m:t>
                                </m:r>
                              </m:e>
                              <m:e>
                                <m:r>
                                  <a:rPr lang="en-US" b="0" i="1" smtClean="0">
                                    <a:latin typeface="Cambria Math" panose="02040503050406030204" pitchFamily="18" charset="0"/>
                                  </a:rPr>
                                  <m:t>160</m:t>
                                </m:r>
                              </m:e>
                            </m:mr>
                          </m:m>
                        </m:e>
                      </m:d>
                    </m:oMath>
                  </m:oMathPara>
                </a14:m>
                <a:endParaRPr lang="en-US" dirty="0"/>
              </a:p>
              <a:p>
                <a:r>
                  <a:rPr lang="en-US" dirty="0"/>
                  <a:t>Shrinking step : </a:t>
                </a:r>
                <a14:m>
                  <m:oMath xmlns:m="http://schemas.openxmlformats.org/officeDocument/2006/math">
                    <m:sSub>
                      <m:sSubPr>
                        <m:ctrlPr>
                          <a:rPr lang="en-US" b="0" i="1" dirty="0" smtClean="0">
                            <a:latin typeface="Cambria Math" panose="02040503050406030204" pitchFamily="18" charset="0"/>
                          </a:rPr>
                        </m:ctrlPr>
                      </m:sSubPr>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𝑆</m:t>
                            </m:r>
                          </m:e>
                          <m:sub>
                            <m:r>
                              <a:rPr lang="en-US" i="1" dirty="0">
                                <a:latin typeface="Cambria Math" panose="02040503050406030204" pitchFamily="18" charset="0"/>
                              </a:rPr>
                              <m:t>𝑚𝑖𝑛</m:t>
                            </m:r>
                          </m:sub>
                        </m:sSub>
                        <m:r>
                          <a:rPr lang="en-US" b="0" i="1" dirty="0" smtClean="0">
                            <a:latin typeface="Cambria Math" panose="02040503050406030204" pitchFamily="18" charset="0"/>
                          </a:rPr>
                          <m:t>=50,  </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𝑆</m:t>
                            </m:r>
                          </m:e>
                          <m:sub>
                            <m:r>
                              <a:rPr lang="en-US" i="1" dirty="0">
                                <a:latin typeface="Cambria Math" panose="02040503050406030204" pitchFamily="18" charset="0"/>
                              </a:rPr>
                              <m:t>𝑚</m:t>
                            </m:r>
                            <m:r>
                              <a:rPr lang="en-US" b="0" i="1" dirty="0" smtClean="0">
                                <a:latin typeface="Cambria Math" panose="02040503050406030204" pitchFamily="18" charset="0"/>
                              </a:rPr>
                              <m:t>𝑎𝑥</m:t>
                            </m:r>
                          </m:sub>
                        </m:sSub>
                        <m:r>
                          <a:rPr lang="en-US" b="0" i="1" dirty="0" smtClean="0">
                            <a:latin typeface="Cambria Math" panose="02040503050406030204" pitchFamily="18" charset="0"/>
                          </a:rPr>
                          <m:t>=180,  </m:t>
                        </m:r>
                        <m:r>
                          <a:rPr lang="en-US" b="0" i="1" dirty="0" smtClean="0">
                            <a:latin typeface="Cambria Math" panose="02040503050406030204" pitchFamily="18" charset="0"/>
                          </a:rPr>
                          <m:t>𝑟</m:t>
                        </m:r>
                      </m:e>
                      <m:sub>
                        <m:r>
                          <a:rPr lang="en-US" b="0" i="1" dirty="0" smtClean="0">
                            <a:latin typeface="Cambria Math" panose="02040503050406030204" pitchFamily="18" charset="0"/>
                          </a:rPr>
                          <m:t>𝑚𝑖𝑛</m:t>
                        </m:r>
                      </m:sub>
                    </m:sSub>
                    <m:r>
                      <a:rPr lang="en-US" i="1" dirty="0">
                        <a:latin typeface="Cambria Math" panose="02040503050406030204" pitchFamily="18" charset="0"/>
                      </a:rPr>
                      <m:t>⁡= 100,</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 </m:t>
                        </m:r>
                        <m:r>
                          <a:rPr lang="en-US" i="1" dirty="0">
                            <a:latin typeface="Cambria Math" panose="02040503050406030204" pitchFamily="18" charset="0"/>
                          </a:rPr>
                          <m:t>𝑟</m:t>
                        </m:r>
                      </m:e>
                      <m:sub>
                        <m:r>
                          <a:rPr lang="en-US" i="1" dirty="0">
                            <a:latin typeface="Cambria Math" panose="02040503050406030204" pitchFamily="18" charset="0"/>
                          </a:rPr>
                          <m:t>𝑚</m:t>
                        </m:r>
                        <m:r>
                          <a:rPr lang="en-US" b="0" i="1" dirty="0" smtClean="0">
                            <a:latin typeface="Cambria Math" panose="02040503050406030204" pitchFamily="18" charset="0"/>
                          </a:rPr>
                          <m:t>𝑎𝑥</m:t>
                        </m:r>
                      </m:sub>
                    </m:sSub>
                    <m:r>
                      <a:rPr lang="en-US" i="1" dirty="0">
                        <a:latin typeface="Cambria Math" panose="02040503050406030204" pitchFamily="18" charset="0"/>
                      </a:rPr>
                      <m:t>⁡= 150</m:t>
                    </m:r>
                  </m:oMath>
                </a14:m>
                <a:endParaRPr lang="en-US" dirty="0"/>
              </a:p>
              <a:p>
                <a:r>
                  <a:rPr lang="en-US" dirty="0"/>
                  <a:t>For a pixel with a value of  </a:t>
                </a:r>
                <a14:m>
                  <m:oMath xmlns:m="http://schemas.openxmlformats.org/officeDocument/2006/math">
                    <m:r>
                      <a:rPr lang="en-US" i="1" dirty="0" smtClean="0">
                        <a:latin typeface="Cambria Math" panose="02040503050406030204" pitchFamily="18" charset="0"/>
                      </a:rPr>
                      <m:t>𝑟</m:t>
                    </m:r>
                    <m:r>
                      <a:rPr lang="en-US" i="1" dirty="0" smtClean="0">
                        <a:latin typeface="Cambria Math" panose="02040503050406030204" pitchFamily="18" charset="0"/>
                      </a:rPr>
                      <m:t> = 100 :</m:t>
                    </m:r>
                    <m:r>
                      <m:rPr>
                        <m:sty m:val="p"/>
                      </m:rPr>
                      <a:rPr lang="en-US" dirty="0">
                        <a:latin typeface="Cambria Math" panose="02040503050406030204" pitchFamily="18" charset="0"/>
                      </a:rPr>
                      <m:t>S</m:t>
                    </m:r>
                    <m:r>
                      <a:rPr lang="en-US" dirty="0">
                        <a:latin typeface="Cambria Math" panose="02040503050406030204" pitchFamily="18" charset="0"/>
                      </a:rPr>
                      <m:t> =50+</m:t>
                    </m:r>
                    <m:d>
                      <m:dPr>
                        <m:ctrlPr>
                          <a:rPr lang="en-US" b="0" i="0" dirty="0" smtClean="0">
                            <a:latin typeface="Cambria Math" panose="02040503050406030204" pitchFamily="18" charset="0"/>
                          </a:rPr>
                        </m:ctrlPr>
                      </m:dPr>
                      <m:e>
                        <m:r>
                          <a:rPr lang="en-US" b="0" i="0" dirty="0" smtClean="0">
                            <a:latin typeface="Cambria Math" panose="02040503050406030204" pitchFamily="18" charset="0"/>
                          </a:rPr>
                          <m:t>180−50</m:t>
                        </m:r>
                      </m:e>
                    </m:d>
                    <m:r>
                      <a:rPr lang="en-US" dirty="0">
                        <a:latin typeface="Cambria Math" panose="02040503050406030204" pitchFamily="18" charset="0"/>
                      </a:rPr>
                      <m:t>×</m:t>
                    </m:r>
                    <m:f>
                      <m:fPr>
                        <m:ctrlPr>
                          <a:rPr lang="en-US" dirty="0">
                            <a:latin typeface="Cambria Math" panose="02040503050406030204" pitchFamily="18" charset="0"/>
                          </a:rPr>
                        </m:ctrlPr>
                      </m:fPr>
                      <m:num>
                        <m:r>
                          <a:rPr lang="en-US" dirty="0">
                            <a:latin typeface="Cambria Math" panose="02040503050406030204" pitchFamily="18" charset="0"/>
                          </a:rPr>
                          <m:t>100−100</m:t>
                        </m:r>
                      </m:num>
                      <m:den>
                        <m:r>
                          <a:rPr lang="en-US" dirty="0">
                            <a:latin typeface="Cambria Math" panose="02040503050406030204" pitchFamily="18" charset="0"/>
                          </a:rPr>
                          <m:t>150−100</m:t>
                        </m:r>
                      </m:den>
                    </m:f>
                    <m:r>
                      <a:rPr lang="en-US" dirty="0">
                        <a:latin typeface="Cambria Math" panose="02040503050406030204" pitchFamily="18" charset="0"/>
                      </a:rPr>
                      <m:t> =</m:t>
                    </m:r>
                    <m:r>
                      <a:rPr lang="en-US" b="0" i="0" dirty="0" smtClean="0">
                        <a:latin typeface="Cambria Math" panose="02040503050406030204" pitchFamily="18" charset="0"/>
                      </a:rPr>
                      <m:t>5</m:t>
                    </m:r>
                    <m:r>
                      <a:rPr lang="en-US" dirty="0">
                        <a:latin typeface="Cambria Math" panose="02040503050406030204" pitchFamily="18" charset="0"/>
                      </a:rPr>
                      <m:t>0</m:t>
                    </m:r>
                  </m:oMath>
                </a14:m>
                <a:endParaRPr lang="en-US" dirty="0"/>
              </a:p>
              <a:p>
                <a:r>
                  <a:rPr lang="en-US" dirty="0"/>
                  <a:t>For a pixel with a value of  </a:t>
                </a:r>
                <a14:m>
                  <m:oMath xmlns:m="http://schemas.openxmlformats.org/officeDocument/2006/math">
                    <m:r>
                      <a:rPr lang="en-US" i="1" dirty="0">
                        <a:latin typeface="Cambria Math" panose="02040503050406030204" pitchFamily="18" charset="0"/>
                      </a:rPr>
                      <m:t>𝑟</m:t>
                    </m:r>
                    <m:r>
                      <a:rPr lang="en-US" i="1" dirty="0">
                        <a:latin typeface="Cambria Math" panose="02040503050406030204" pitchFamily="18" charset="0"/>
                      </a:rPr>
                      <m:t> = 110 :</m:t>
                    </m:r>
                    <m:r>
                      <m:rPr>
                        <m:sty m:val="p"/>
                      </m:rPr>
                      <a:rPr lang="en-US" dirty="0">
                        <a:latin typeface="Cambria Math" panose="02040503050406030204" pitchFamily="18" charset="0"/>
                      </a:rPr>
                      <m:t>S</m:t>
                    </m:r>
                    <m:r>
                      <a:rPr lang="en-US" dirty="0">
                        <a:latin typeface="Cambria Math" panose="02040503050406030204" pitchFamily="18" charset="0"/>
                      </a:rPr>
                      <m:t> =50+</m:t>
                    </m:r>
                    <m:d>
                      <m:dPr>
                        <m:ctrlPr>
                          <a:rPr lang="en-US" dirty="0">
                            <a:latin typeface="Cambria Math" panose="02040503050406030204" pitchFamily="18" charset="0"/>
                          </a:rPr>
                        </m:ctrlPr>
                      </m:dPr>
                      <m:e>
                        <m:r>
                          <a:rPr lang="en-US" dirty="0">
                            <a:latin typeface="Cambria Math" panose="02040503050406030204" pitchFamily="18" charset="0"/>
                          </a:rPr>
                          <m:t>180−50</m:t>
                        </m:r>
                      </m:e>
                    </m:d>
                    <m:r>
                      <a:rPr lang="en-US" dirty="0">
                        <a:latin typeface="Cambria Math" panose="02040503050406030204" pitchFamily="18" charset="0"/>
                      </a:rPr>
                      <m:t>×</m:t>
                    </m:r>
                    <m:f>
                      <m:fPr>
                        <m:ctrlPr>
                          <a:rPr lang="en-US" dirty="0">
                            <a:latin typeface="Cambria Math" panose="02040503050406030204" pitchFamily="18" charset="0"/>
                          </a:rPr>
                        </m:ctrlPr>
                      </m:fPr>
                      <m:num>
                        <m:r>
                          <a:rPr lang="en-US" dirty="0">
                            <a:latin typeface="Cambria Math" panose="02040503050406030204" pitchFamily="18" charset="0"/>
                          </a:rPr>
                          <m:t>1</m:t>
                        </m:r>
                        <m:r>
                          <a:rPr lang="en-US" b="0" i="0" dirty="0" smtClean="0">
                            <a:latin typeface="Cambria Math" panose="02040503050406030204" pitchFamily="18" charset="0"/>
                          </a:rPr>
                          <m:t>1</m:t>
                        </m:r>
                        <m:r>
                          <a:rPr lang="en-US" dirty="0">
                            <a:latin typeface="Cambria Math" panose="02040503050406030204" pitchFamily="18" charset="0"/>
                          </a:rPr>
                          <m:t>0−100</m:t>
                        </m:r>
                      </m:num>
                      <m:den>
                        <m:r>
                          <a:rPr lang="en-US" dirty="0">
                            <a:latin typeface="Cambria Math" panose="02040503050406030204" pitchFamily="18" charset="0"/>
                          </a:rPr>
                          <m:t>150−100</m:t>
                        </m:r>
                      </m:den>
                    </m:f>
                    <m:r>
                      <a:rPr lang="en-US" dirty="0">
                        <a:latin typeface="Cambria Math" panose="02040503050406030204" pitchFamily="18" charset="0"/>
                      </a:rPr>
                      <m:t> =50</m:t>
                    </m:r>
                    <m:r>
                      <a:rPr lang="en-US" b="0" i="0" dirty="0" smtClean="0">
                        <a:latin typeface="Cambria Math" panose="02040503050406030204" pitchFamily="18" charset="0"/>
                      </a:rPr>
                      <m:t>+26=76</m:t>
                    </m:r>
                  </m:oMath>
                </a14:m>
                <a:endParaRPr lang="en-US" dirty="0"/>
              </a:p>
              <a:p>
                <a:r>
                  <a:rPr lang="en-US" dirty="0"/>
                  <a:t>For a pixel with a value of </a:t>
                </a:r>
                <a14:m>
                  <m:oMath xmlns:m="http://schemas.openxmlformats.org/officeDocument/2006/math">
                    <m:r>
                      <a:rPr lang="en-US" i="1" dirty="0" smtClean="0">
                        <a:latin typeface="Cambria Math" panose="02040503050406030204" pitchFamily="18" charset="0"/>
                      </a:rPr>
                      <m:t>𝑟</m:t>
                    </m:r>
                    <m:r>
                      <a:rPr lang="en-US" i="1" dirty="0" smtClean="0">
                        <a:latin typeface="Cambria Math" panose="02040503050406030204" pitchFamily="18" charset="0"/>
                      </a:rPr>
                      <m:t> = 120 </m:t>
                    </m:r>
                  </m:oMath>
                </a14:m>
                <a:r>
                  <a:rPr lang="en-US" dirty="0"/>
                  <a:t>: </a:t>
                </a:r>
                <a14:m>
                  <m:oMath xmlns:m="http://schemas.openxmlformats.org/officeDocument/2006/math">
                    <m:r>
                      <a:rPr lang="en-US" i="1" dirty="0" smtClean="0">
                        <a:latin typeface="Cambria Math" panose="02040503050406030204" pitchFamily="18" charset="0"/>
                      </a:rPr>
                      <m:t>𝑆</m:t>
                    </m:r>
                    <m:r>
                      <a:rPr lang="en-US" i="1" dirty="0" smtClean="0">
                        <a:latin typeface="Cambria Math" panose="02040503050406030204" pitchFamily="18" charset="0"/>
                      </a:rPr>
                      <m:t> =50+</m:t>
                    </m:r>
                    <m:d>
                      <m:dPr>
                        <m:ctrlPr>
                          <a:rPr lang="en-US" dirty="0">
                            <a:latin typeface="Cambria Math" panose="02040503050406030204" pitchFamily="18" charset="0"/>
                          </a:rPr>
                        </m:ctrlPr>
                      </m:dPr>
                      <m:e>
                        <m:r>
                          <a:rPr lang="en-US" dirty="0">
                            <a:latin typeface="Cambria Math" panose="02040503050406030204" pitchFamily="18" charset="0"/>
                          </a:rPr>
                          <m:t>180−50</m:t>
                        </m:r>
                      </m:e>
                    </m:d>
                    <m:r>
                      <a:rPr lang="en-US" i="1" dirty="0" smtClean="0">
                        <a:latin typeface="Cambria Math" panose="02040503050406030204" pitchFamily="18" charset="0"/>
                      </a:rPr>
                      <m:t>×</m:t>
                    </m:r>
                    <m:f>
                      <m:fPr>
                        <m:ctrlPr>
                          <a:rPr lang="en-US" i="1" dirty="0" smtClean="0">
                            <a:latin typeface="Cambria Math" panose="02040503050406030204" pitchFamily="18" charset="0"/>
                          </a:rPr>
                        </m:ctrlPr>
                      </m:fPr>
                      <m:num>
                        <m:r>
                          <a:rPr lang="en-US" i="1" dirty="0" smtClean="0">
                            <a:latin typeface="Cambria Math" panose="02040503050406030204" pitchFamily="18" charset="0"/>
                          </a:rPr>
                          <m:t>120−100</m:t>
                        </m:r>
                      </m:num>
                      <m:den>
                        <m:r>
                          <a:rPr lang="en-US" i="1" dirty="0" smtClean="0">
                            <a:latin typeface="Cambria Math" panose="02040503050406030204" pitchFamily="18" charset="0"/>
                          </a:rPr>
                          <m:t>150−100</m:t>
                        </m:r>
                      </m:den>
                    </m:f>
                    <m:r>
                      <a:rPr lang="en-US" i="1" dirty="0" smtClean="0">
                        <a:latin typeface="Cambria Math" panose="02040503050406030204" pitchFamily="18" charset="0"/>
                      </a:rPr>
                      <m:t>=</m:t>
                    </m:r>
                    <m:r>
                      <a:rPr lang="en-US" b="0" i="1" dirty="0" smtClean="0">
                        <a:latin typeface="Cambria Math" panose="02040503050406030204" pitchFamily="18" charset="0"/>
                      </a:rPr>
                      <m:t>50</m:t>
                    </m:r>
                    <m:r>
                      <a:rPr lang="en-US" i="1" dirty="0" smtClean="0">
                        <a:latin typeface="Cambria Math" panose="02040503050406030204" pitchFamily="18" charset="0"/>
                      </a:rPr>
                      <m:t> ×</m:t>
                    </m:r>
                    <m:f>
                      <m:fPr>
                        <m:ctrlPr>
                          <a:rPr lang="en-US" i="1" dirty="0" smtClean="0">
                            <a:latin typeface="Cambria Math" panose="02040503050406030204" pitchFamily="18" charset="0"/>
                          </a:rPr>
                        </m:ctrlPr>
                      </m:fPr>
                      <m:num>
                        <m:r>
                          <a:rPr lang="en-US" i="1" dirty="0" smtClean="0">
                            <a:latin typeface="Cambria Math" panose="02040503050406030204" pitchFamily="18" charset="0"/>
                          </a:rPr>
                          <m:t>20</m:t>
                        </m:r>
                      </m:num>
                      <m:den>
                        <m:r>
                          <a:rPr lang="en-US" i="1" dirty="0" smtClean="0">
                            <a:latin typeface="Cambria Math" panose="02040503050406030204" pitchFamily="18" charset="0"/>
                          </a:rPr>
                          <m:t>50</m:t>
                        </m:r>
                      </m:den>
                    </m:f>
                    <m:r>
                      <a:rPr lang="en-US" i="1" dirty="0" smtClean="0">
                        <a:latin typeface="Cambria Math" panose="02040503050406030204" pitchFamily="18" charset="0"/>
                      </a:rPr>
                      <m:t>=</m:t>
                    </m:r>
                    <m:r>
                      <a:rPr lang="en-US" b="0" i="1" dirty="0" smtClean="0">
                        <a:latin typeface="Cambria Math" panose="02040503050406030204" pitchFamily="18" charset="0"/>
                      </a:rPr>
                      <m:t>50+52=</m:t>
                    </m:r>
                    <m:r>
                      <a:rPr lang="en-US" i="1" dirty="0" smtClean="0">
                        <a:latin typeface="Cambria Math" panose="02040503050406030204" pitchFamily="18" charset="0"/>
                      </a:rPr>
                      <m:t> 102</m:t>
                    </m:r>
                  </m:oMath>
                </a14:m>
                <a:endParaRPr lang="en-US" dirty="0"/>
              </a:p>
              <a:p>
                <a:r>
                  <a:rPr lang="en-US" dirty="0"/>
                  <a:t>For a pixel with a value of </a:t>
                </a:r>
                <a14:m>
                  <m:oMath xmlns:m="http://schemas.openxmlformats.org/officeDocument/2006/math">
                    <m:r>
                      <a:rPr lang="en-US" i="1" dirty="0">
                        <a:latin typeface="Cambria Math" panose="02040503050406030204" pitchFamily="18" charset="0"/>
                      </a:rPr>
                      <m:t>𝑟</m:t>
                    </m:r>
                    <m:r>
                      <a:rPr lang="en-US" i="1" dirty="0">
                        <a:latin typeface="Cambria Math" panose="02040503050406030204" pitchFamily="18" charset="0"/>
                      </a:rPr>
                      <m:t> = 150</m:t>
                    </m:r>
                  </m:oMath>
                </a14:m>
                <a:r>
                  <a:rPr lang="en-US" dirty="0"/>
                  <a:t> :</a:t>
                </a:r>
                <a14:m>
                  <m:oMath xmlns:m="http://schemas.openxmlformats.org/officeDocument/2006/math">
                    <m:r>
                      <a:rPr lang="en-US" b="0" i="0" dirty="0" smtClean="0">
                        <a:latin typeface="Cambria Math" panose="02040503050406030204" pitchFamily="18" charset="0"/>
                      </a:rPr>
                      <m:t> </m:t>
                    </m:r>
                    <m:r>
                      <a:rPr lang="en-US" i="1" dirty="0" smtClean="0">
                        <a:latin typeface="Cambria Math" panose="02040503050406030204" pitchFamily="18" charset="0"/>
                      </a:rPr>
                      <m:t>𝑆</m:t>
                    </m:r>
                    <m:r>
                      <a:rPr lang="en-US" i="1" dirty="0" smtClean="0">
                        <a:latin typeface="Cambria Math" panose="02040503050406030204" pitchFamily="18" charset="0"/>
                      </a:rPr>
                      <m:t> =50+</m:t>
                    </m:r>
                    <m:d>
                      <m:dPr>
                        <m:ctrlPr>
                          <a:rPr lang="en-US" dirty="0">
                            <a:latin typeface="Cambria Math" panose="02040503050406030204" pitchFamily="18" charset="0"/>
                          </a:rPr>
                        </m:ctrlPr>
                      </m:dPr>
                      <m:e>
                        <m:r>
                          <a:rPr lang="en-US" dirty="0">
                            <a:latin typeface="Cambria Math" panose="02040503050406030204" pitchFamily="18" charset="0"/>
                          </a:rPr>
                          <m:t>180−50</m:t>
                        </m:r>
                      </m:e>
                    </m:d>
                    <m:r>
                      <a:rPr lang="en-US" i="1" dirty="0" smtClean="0">
                        <a:latin typeface="Cambria Math" panose="02040503050406030204" pitchFamily="18" charset="0"/>
                      </a:rPr>
                      <m:t>×</m:t>
                    </m:r>
                    <m:f>
                      <m:fPr>
                        <m:ctrlPr>
                          <a:rPr lang="en-US" i="1" dirty="0" smtClean="0">
                            <a:latin typeface="Cambria Math" panose="02040503050406030204" pitchFamily="18" charset="0"/>
                          </a:rPr>
                        </m:ctrlPr>
                      </m:fPr>
                      <m:num>
                        <m:r>
                          <a:rPr lang="en-US" i="1" dirty="0" smtClean="0">
                            <a:latin typeface="Cambria Math" panose="02040503050406030204" pitchFamily="18" charset="0"/>
                          </a:rPr>
                          <m:t>150−100</m:t>
                        </m:r>
                      </m:num>
                      <m:den>
                        <m:r>
                          <a:rPr lang="en-US" i="1" dirty="0" smtClean="0">
                            <a:latin typeface="Cambria Math" panose="02040503050406030204" pitchFamily="18" charset="0"/>
                          </a:rPr>
                          <m:t>150−100</m:t>
                        </m:r>
                      </m:den>
                    </m:f>
                    <m:r>
                      <a:rPr lang="en-US" i="1" dirty="0" smtClean="0">
                        <a:latin typeface="Cambria Math" panose="02040503050406030204" pitchFamily="18" charset="0"/>
                      </a:rPr>
                      <m:t> =</m:t>
                    </m:r>
                    <m:r>
                      <a:rPr lang="en-US" b="0" i="1" dirty="0" smtClean="0">
                        <a:latin typeface="Cambria Math" panose="02040503050406030204" pitchFamily="18" charset="0"/>
                      </a:rPr>
                      <m:t>50</m:t>
                    </m:r>
                    <m:r>
                      <a:rPr lang="en-US" i="1" dirty="0" smtClean="0">
                        <a:latin typeface="Cambria Math" panose="02040503050406030204" pitchFamily="18" charset="0"/>
                      </a:rPr>
                      <m:t>×</m:t>
                    </m:r>
                    <m:f>
                      <m:fPr>
                        <m:ctrlPr>
                          <a:rPr lang="en-US" i="1" dirty="0" smtClean="0">
                            <a:latin typeface="Cambria Math" panose="02040503050406030204" pitchFamily="18" charset="0"/>
                          </a:rPr>
                        </m:ctrlPr>
                      </m:fPr>
                      <m:num>
                        <m:r>
                          <a:rPr lang="en-US" i="1" dirty="0" smtClean="0">
                            <a:latin typeface="Cambria Math" panose="02040503050406030204" pitchFamily="18" charset="0"/>
                          </a:rPr>
                          <m:t>50</m:t>
                        </m:r>
                      </m:num>
                      <m:den>
                        <m:r>
                          <a:rPr lang="en-US" i="1" dirty="0" smtClean="0">
                            <a:latin typeface="Cambria Math" panose="02040503050406030204" pitchFamily="18" charset="0"/>
                          </a:rPr>
                          <m:t>50</m:t>
                        </m:r>
                      </m:den>
                    </m:f>
                    <m:r>
                      <a:rPr lang="en-US" i="1" dirty="0" smtClean="0">
                        <a:latin typeface="Cambria Math" panose="02040503050406030204" pitchFamily="18" charset="0"/>
                      </a:rPr>
                      <m:t>=</m:t>
                    </m:r>
                    <m:r>
                      <a:rPr lang="en-US" b="0" i="1" dirty="0" smtClean="0">
                        <a:latin typeface="Cambria Math" panose="02040503050406030204" pitchFamily="18" charset="0"/>
                      </a:rPr>
                      <m:t>50+130=180</m:t>
                    </m:r>
                  </m:oMath>
                </a14:m>
                <a:endParaRPr lang="en-US" dirty="0"/>
              </a:p>
              <a:p>
                <a:r>
                  <a:rPr lang="en-US" dirty="0"/>
                  <a:t>Matrix result after stretching (rounded): </a:t>
                </a:r>
                <a14:m>
                  <m:oMath xmlns:m="http://schemas.openxmlformats.org/officeDocument/2006/math">
                    <m:r>
                      <a:rPr lang="en-US" i="1">
                        <a:latin typeface="Cambria Math" panose="02040503050406030204" pitchFamily="18" charset="0"/>
                      </a:rPr>
                      <m:t>𝐼</m:t>
                    </m:r>
                    <m:r>
                      <a:rPr lang="en-US" i="1">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4"/>
                                  <m:mcJc m:val="center"/>
                                </m:mcPr>
                              </m:mc>
                            </m:mcs>
                            <m:ctrlPr>
                              <a:rPr lang="en-US" i="1">
                                <a:latin typeface="Cambria Math" panose="02040503050406030204" pitchFamily="18" charset="0"/>
                              </a:rPr>
                            </m:ctrlPr>
                          </m:mPr>
                          <m:mr>
                            <m:e>
                              <m:r>
                                <m:rPr>
                                  <m:brk m:alnAt="7"/>
                                </m:rPr>
                                <a:rPr lang="en-US" b="0" i="1" smtClean="0">
                                  <a:latin typeface="Cambria Math" panose="02040503050406030204" pitchFamily="18" charset="0"/>
                                </a:rPr>
                                <m:t>5</m:t>
                              </m:r>
                              <m:r>
                                <m:rPr>
                                  <m:brk m:alnAt="7"/>
                                </m:rPr>
                                <a:rPr lang="en-US" b="0" i="1" smtClean="0">
                                  <a:latin typeface="Cambria Math" panose="02040503050406030204" pitchFamily="18" charset="0"/>
                                </a:rPr>
                                <m:t>0</m:t>
                              </m:r>
                            </m:e>
                            <m:e>
                              <m:r>
                                <a:rPr lang="en-US" b="0" i="1" smtClean="0">
                                  <a:latin typeface="Cambria Math" panose="02040503050406030204" pitchFamily="18" charset="0"/>
                                </a:rPr>
                                <m:t>76</m:t>
                              </m:r>
                            </m:e>
                            <m:e>
                              <m:r>
                                <a:rPr lang="en-US" i="1">
                                  <a:latin typeface="Cambria Math" panose="02040503050406030204" pitchFamily="18" charset="0"/>
                                </a:rPr>
                                <m:t>1</m:t>
                              </m:r>
                              <m:r>
                                <a:rPr lang="en-US" b="0" i="1" smtClean="0">
                                  <a:latin typeface="Cambria Math" panose="02040503050406030204" pitchFamily="18" charset="0"/>
                                </a:rPr>
                                <m:t>02</m:t>
                              </m:r>
                            </m:e>
                            <m:e>
                              <m:r>
                                <a:rPr lang="en-US" i="1">
                                  <a:latin typeface="Cambria Math" panose="02040503050406030204" pitchFamily="18" charset="0"/>
                                </a:rPr>
                                <m:t>1</m:t>
                              </m:r>
                              <m:r>
                                <a:rPr lang="en-US" b="0" i="1" smtClean="0">
                                  <a:latin typeface="Cambria Math" panose="02040503050406030204" pitchFamily="18" charset="0"/>
                                </a:rPr>
                                <m:t>28</m:t>
                              </m:r>
                            </m:e>
                          </m:mr>
                          <m:mr>
                            <m:e>
                              <m:r>
                                <a:rPr lang="en-US" b="0" i="1" smtClean="0">
                                  <a:latin typeface="Cambria Math" panose="02040503050406030204" pitchFamily="18" charset="0"/>
                                </a:rPr>
                                <m:t>76</m:t>
                              </m:r>
                            </m:e>
                            <m:e>
                              <m:r>
                                <a:rPr lang="en-US" b="0" i="1" smtClean="0">
                                  <a:latin typeface="Cambria Math" panose="02040503050406030204" pitchFamily="18" charset="0"/>
                                </a:rPr>
                                <m:t>102</m:t>
                              </m:r>
                            </m:e>
                            <m:e>
                              <m:r>
                                <a:rPr lang="en-US" i="1">
                                  <a:latin typeface="Cambria Math" panose="02040503050406030204" pitchFamily="18" charset="0"/>
                                </a:rPr>
                                <m:t>1</m:t>
                              </m:r>
                              <m:r>
                                <a:rPr lang="en-US" b="0" i="1" smtClean="0">
                                  <a:latin typeface="Cambria Math" panose="02040503050406030204" pitchFamily="18" charset="0"/>
                                </a:rPr>
                                <m:t>28</m:t>
                              </m:r>
                            </m:e>
                            <m:e>
                              <m:r>
                                <a:rPr lang="en-US" b="0" i="1" smtClean="0">
                                  <a:latin typeface="Cambria Math" panose="02040503050406030204" pitchFamily="18" charset="0"/>
                                </a:rPr>
                                <m:t>154</m:t>
                              </m:r>
                            </m:e>
                          </m:mr>
                          <m:mr>
                            <m:e>
                              <m:r>
                                <a:rPr lang="en-US" b="0" i="1" smtClean="0">
                                  <a:latin typeface="Cambria Math" panose="02040503050406030204" pitchFamily="18" charset="0"/>
                                </a:rPr>
                                <m:t>102</m:t>
                              </m:r>
                            </m:e>
                            <m:e>
                              <m:r>
                                <a:rPr lang="en-US" i="1">
                                  <a:latin typeface="Cambria Math" panose="02040503050406030204" pitchFamily="18" charset="0"/>
                                </a:rPr>
                                <m:t>1</m:t>
                              </m:r>
                              <m:r>
                                <a:rPr lang="en-US" b="0" i="1" smtClean="0">
                                  <a:latin typeface="Cambria Math" panose="02040503050406030204" pitchFamily="18" charset="0"/>
                                </a:rPr>
                                <m:t>28</m:t>
                              </m:r>
                            </m:e>
                            <m:e>
                              <m:r>
                                <a:rPr lang="en-US" b="0" i="1" smtClean="0">
                                  <a:latin typeface="Cambria Math" panose="02040503050406030204" pitchFamily="18" charset="0"/>
                                </a:rPr>
                                <m:t>154</m:t>
                              </m:r>
                            </m:e>
                            <m:e>
                              <m:r>
                                <a:rPr lang="en-US" b="0" i="1" smtClean="0">
                                  <a:latin typeface="Cambria Math" panose="02040503050406030204" pitchFamily="18" charset="0"/>
                                </a:rPr>
                                <m:t>180</m:t>
                              </m:r>
                            </m:e>
                          </m:mr>
                          <m:mr>
                            <m:e>
                              <m:r>
                                <a:rPr lang="en-US" i="1">
                                  <a:latin typeface="Cambria Math" panose="02040503050406030204" pitchFamily="18" charset="0"/>
                                </a:rPr>
                                <m:t>1</m:t>
                              </m:r>
                              <m:r>
                                <a:rPr lang="en-US" b="0" i="1" smtClean="0">
                                  <a:latin typeface="Cambria Math" panose="02040503050406030204" pitchFamily="18" charset="0"/>
                                </a:rPr>
                                <m:t>28</m:t>
                              </m:r>
                            </m:e>
                            <m:e>
                              <m:r>
                                <a:rPr lang="en-US" b="0" i="1" smtClean="0">
                                  <a:latin typeface="Cambria Math" panose="02040503050406030204" pitchFamily="18" charset="0"/>
                                </a:rPr>
                                <m:t>154</m:t>
                              </m:r>
                            </m:e>
                            <m:e>
                              <m:r>
                                <a:rPr lang="en-US" b="0" i="1" smtClean="0">
                                  <a:latin typeface="Cambria Math" panose="02040503050406030204" pitchFamily="18" charset="0"/>
                                </a:rPr>
                                <m:t>180</m:t>
                              </m:r>
                            </m:e>
                            <m:e>
                              <m:r>
                                <a:rPr lang="en-US" b="0" i="1" smtClean="0">
                                  <a:latin typeface="Cambria Math" panose="02040503050406030204" pitchFamily="18" charset="0"/>
                                </a:rPr>
                                <m:t>50</m:t>
                              </m:r>
                            </m:e>
                          </m:mr>
                        </m:m>
                      </m:e>
                    </m:d>
                  </m:oMath>
                </a14:m>
                <a:endParaRPr lang="en-US" dirty="0"/>
              </a:p>
              <a:p>
                <a:endParaRPr lang="en-US" dirty="0"/>
              </a:p>
              <a:p>
                <a:endParaRPr lang="en-US" dirty="0"/>
              </a:p>
              <a:p>
                <a:endParaRPr lang="en-US" dirty="0"/>
              </a:p>
              <a:p>
                <a:endParaRPr lang="en-US" dirty="0"/>
              </a:p>
              <a:p>
                <a:endParaRPr lang="en-US" dirty="0"/>
              </a:p>
              <a:p>
                <a:r>
                  <a:rPr lang="en-US" dirty="0"/>
                  <a:t>So, a histogram is not a representation of pixel positions. It simply shows </a:t>
                </a:r>
                <a:r>
                  <a:rPr lang="en-US" b="1" dirty="0"/>
                  <a:t>the distribution of intensities</a:t>
                </a:r>
                <a:r>
                  <a:rPr lang="en-US" dirty="0"/>
                  <a:t>.</a:t>
                </a:r>
              </a:p>
            </p:txBody>
          </p:sp>
        </mc:Choice>
        <mc:Fallback xmlns="">
          <p:sp>
            <p:nvSpPr>
              <p:cNvPr id="3" name="Text Placeholder 2">
                <a:extLst>
                  <a:ext uri="{FF2B5EF4-FFF2-40B4-BE49-F238E27FC236}">
                    <a16:creationId xmlns:a16="http://schemas.microsoft.com/office/drawing/2014/main" id="{0C389748-1D5A-1BE3-C1DB-B20862BC05CE}"/>
                  </a:ext>
                </a:extLst>
              </p:cNvPr>
              <p:cNvSpPr>
                <a:spLocks noGrp="1" noRot="1" noChangeAspect="1" noMove="1" noResize="1" noEditPoints="1" noAdjustHandles="1" noChangeArrowheads="1" noChangeShapeType="1" noTextEdit="1"/>
              </p:cNvSpPr>
              <p:nvPr>
                <p:ph type="body" idx="1"/>
              </p:nvPr>
            </p:nvSpPr>
            <p:spPr>
              <a:xfrm>
                <a:off x="684320" y="1017725"/>
                <a:ext cx="8366014" cy="3233100"/>
              </a:xfrm>
              <a:blipFill>
                <a:blip r:embed="rId2"/>
                <a:stretch>
                  <a:fillRect b="-73396"/>
                </a:stretch>
              </a:blipFill>
            </p:spPr>
            <p:txBody>
              <a:bodyPr/>
              <a:lstStyle/>
              <a:p>
                <a:r>
                  <a:rPr lang="en-US">
                    <a:noFill/>
                  </a:rPr>
                  <a:t> </a:t>
                </a:r>
              </a:p>
            </p:txBody>
          </p:sp>
        </mc:Fallback>
      </mc:AlternateContent>
    </p:spTree>
    <p:extLst>
      <p:ext uri="{BB962C8B-B14F-4D97-AF65-F5344CB8AC3E}">
        <p14:creationId xmlns:p14="http://schemas.microsoft.com/office/powerpoint/2010/main" val="39203141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24377-3964-1A3A-8E7B-89AFC8410655}"/>
              </a:ext>
            </a:extLst>
          </p:cNvPr>
          <p:cNvSpPr>
            <a:spLocks noGrp="1"/>
          </p:cNvSpPr>
          <p:nvPr>
            <p:ph type="title"/>
          </p:nvPr>
        </p:nvSpPr>
        <p:spPr/>
        <p:txBody>
          <a:bodyPr/>
          <a:lstStyle/>
          <a:p>
            <a:r>
              <a:rPr lang="en-US" dirty="0"/>
              <a:t>Interpretation in Image</a:t>
            </a:r>
          </a:p>
        </p:txBody>
      </p:sp>
      <p:sp>
        <p:nvSpPr>
          <p:cNvPr id="3" name="Text Placeholder 2">
            <a:extLst>
              <a:ext uri="{FF2B5EF4-FFF2-40B4-BE49-F238E27FC236}">
                <a16:creationId xmlns:a16="http://schemas.microsoft.com/office/drawing/2014/main" id="{9355D0E4-9CE3-B0E4-62B6-925B5C773328}"/>
              </a:ext>
            </a:extLst>
          </p:cNvPr>
          <p:cNvSpPr>
            <a:spLocks noGrp="1"/>
          </p:cNvSpPr>
          <p:nvPr>
            <p:ph type="body" idx="1"/>
          </p:nvPr>
        </p:nvSpPr>
        <p:spPr>
          <a:xfrm>
            <a:off x="579865" y="3924043"/>
            <a:ext cx="8412478" cy="1219457"/>
          </a:xfrm>
        </p:spPr>
        <p:txBody>
          <a:bodyPr/>
          <a:lstStyle/>
          <a:p>
            <a:pPr marL="0" marR="0" indent="0" algn="l">
              <a:lnSpc>
                <a:spcPct val="56435"/>
              </a:lnSpc>
              <a:buNone/>
            </a:pPr>
            <a:r>
              <a:rPr lang="en-US" sz="1100" b="0" i="0" dirty="0">
                <a:solidFill>
                  <a:srgbClr val="333333"/>
                </a:solidFill>
                <a:effectLst/>
                <a:latin typeface="Courier New" panose="02070309020205020404" pitchFamily="49" charset="0"/>
              </a:rPr>
              <a:t>result = </a:t>
            </a:r>
            <a:r>
              <a:rPr lang="en-US" sz="1100" b="0" i="0" dirty="0" err="1">
                <a:solidFill>
                  <a:srgbClr val="333333"/>
                </a:solidFill>
                <a:effectLst/>
                <a:latin typeface="Courier New" panose="02070309020205020404" pitchFamily="49" charset="0"/>
              </a:rPr>
              <a:t>s_min</a:t>
            </a:r>
            <a:r>
              <a:rPr lang="en-US" sz="1100" b="0" i="0" dirty="0">
                <a:solidFill>
                  <a:srgbClr val="333333"/>
                </a:solidFill>
                <a:effectLst/>
                <a:latin typeface="Courier New" panose="02070309020205020404" pitchFamily="49" charset="0"/>
              </a:rPr>
              <a:t> + (</a:t>
            </a:r>
            <a:r>
              <a:rPr lang="en-US" sz="1100" b="0" i="0" dirty="0" err="1">
                <a:solidFill>
                  <a:srgbClr val="333333"/>
                </a:solidFill>
                <a:effectLst/>
                <a:latin typeface="Courier New" panose="02070309020205020404" pitchFamily="49" charset="0"/>
              </a:rPr>
              <a:t>s_max</a:t>
            </a:r>
            <a:r>
              <a:rPr lang="en-US" sz="1100" b="0" i="0" dirty="0">
                <a:solidFill>
                  <a:srgbClr val="333333"/>
                </a:solidFill>
                <a:effectLst/>
                <a:latin typeface="Courier New" panose="02070309020205020404" pitchFamily="49" charset="0"/>
              </a:rPr>
              <a:t> - </a:t>
            </a:r>
            <a:r>
              <a:rPr lang="en-US" sz="1100" b="0" i="0" dirty="0" err="1">
                <a:solidFill>
                  <a:srgbClr val="333333"/>
                </a:solidFill>
                <a:effectLst/>
                <a:latin typeface="Courier New" panose="02070309020205020404" pitchFamily="49" charset="0"/>
              </a:rPr>
              <a:t>s_min</a:t>
            </a:r>
            <a:r>
              <a:rPr lang="en-US" sz="1100" b="0" i="0" dirty="0">
                <a:solidFill>
                  <a:srgbClr val="333333"/>
                </a:solidFill>
                <a:effectLst/>
                <a:latin typeface="Courier New" panose="02070309020205020404" pitchFamily="49" charset="0"/>
              </a:rPr>
              <a:t>) * (</a:t>
            </a:r>
            <a:r>
              <a:rPr lang="en-US" sz="1100" b="0" i="0" dirty="0" err="1">
                <a:solidFill>
                  <a:srgbClr val="333333"/>
                </a:solidFill>
                <a:effectLst/>
                <a:latin typeface="Courier New" panose="02070309020205020404" pitchFamily="49" charset="0"/>
              </a:rPr>
              <a:t>citra_float</a:t>
            </a:r>
            <a:r>
              <a:rPr lang="en-US" sz="1100" b="0" i="0" dirty="0">
                <a:solidFill>
                  <a:srgbClr val="333333"/>
                </a:solidFill>
                <a:effectLst/>
                <a:latin typeface="Courier New" panose="02070309020205020404" pitchFamily="49" charset="0"/>
              </a:rPr>
              <a:t> - </a:t>
            </a:r>
            <a:r>
              <a:rPr lang="en-US" sz="1100" b="0" i="0" dirty="0" err="1">
                <a:solidFill>
                  <a:srgbClr val="333333"/>
                </a:solidFill>
                <a:effectLst/>
                <a:latin typeface="Courier New" panose="02070309020205020404" pitchFamily="49" charset="0"/>
              </a:rPr>
              <a:t>r_min</a:t>
            </a:r>
            <a:r>
              <a:rPr lang="en-US" sz="1100" b="0" i="0" dirty="0">
                <a:solidFill>
                  <a:srgbClr val="333333"/>
                </a:solidFill>
                <a:effectLst/>
                <a:latin typeface="Courier New" panose="02070309020205020404" pitchFamily="49" charset="0"/>
              </a:rPr>
              <a:t>) / (</a:t>
            </a:r>
            <a:r>
              <a:rPr lang="en-US" sz="1100" b="0" i="0" dirty="0" err="1">
                <a:solidFill>
                  <a:srgbClr val="333333"/>
                </a:solidFill>
                <a:effectLst/>
                <a:latin typeface="Courier New" panose="02070309020205020404" pitchFamily="49" charset="0"/>
              </a:rPr>
              <a:t>r_max</a:t>
            </a:r>
            <a:r>
              <a:rPr lang="en-US" sz="1100" b="0" i="0" dirty="0">
                <a:solidFill>
                  <a:srgbClr val="333333"/>
                </a:solidFill>
                <a:effectLst/>
                <a:latin typeface="Courier New" panose="02070309020205020404" pitchFamily="49" charset="0"/>
              </a:rPr>
              <a:t> - </a:t>
            </a:r>
            <a:r>
              <a:rPr lang="en-US" sz="1100" b="0" i="0" dirty="0" err="1">
                <a:solidFill>
                  <a:srgbClr val="333333"/>
                </a:solidFill>
                <a:effectLst/>
                <a:latin typeface="Courier New" panose="02070309020205020404" pitchFamily="49" charset="0"/>
              </a:rPr>
              <a:t>r_min</a:t>
            </a:r>
            <a:r>
              <a:rPr lang="en-US" sz="1100" b="0" i="0" dirty="0">
                <a:solidFill>
                  <a:srgbClr val="333333"/>
                </a:solidFill>
                <a:effectLst/>
                <a:latin typeface="Courier New" panose="02070309020205020404" pitchFamily="49" charset="0"/>
              </a:rPr>
              <a:t>)</a:t>
            </a:r>
          </a:p>
          <a:p>
            <a:pPr marL="0" marR="0" indent="0" algn="l">
              <a:lnSpc>
                <a:spcPct val="56435"/>
              </a:lnSpc>
              <a:buNone/>
            </a:pPr>
            <a:endParaRPr lang="en-US" sz="1100" b="0" i="0" dirty="0">
              <a:solidFill>
                <a:srgbClr val="333333"/>
              </a:solidFill>
              <a:effectLst/>
              <a:latin typeface="Courier New" panose="02070309020205020404" pitchFamily="49" charset="0"/>
            </a:endParaRPr>
          </a:p>
          <a:p>
            <a:pPr marL="0" marR="0" indent="0" algn="l">
              <a:lnSpc>
                <a:spcPct val="56435"/>
              </a:lnSpc>
              <a:buNone/>
            </a:pPr>
            <a:r>
              <a:rPr lang="en-US" sz="1100" b="0" i="0" dirty="0">
                <a:solidFill>
                  <a:srgbClr val="333333"/>
                </a:solidFill>
                <a:effectLst/>
                <a:latin typeface="Courier New" panose="02070309020205020404" pitchFamily="49" charset="0"/>
              </a:rPr>
              <a:t>    </a:t>
            </a:r>
            <a:r>
              <a:rPr lang="en-US" sz="1100" b="1" i="0" dirty="0">
                <a:solidFill>
                  <a:srgbClr val="008800"/>
                </a:solidFill>
                <a:effectLst/>
                <a:latin typeface="Courier New" panose="02070309020205020404" pitchFamily="49" charset="0"/>
              </a:rPr>
              <a:t>return</a:t>
            </a:r>
            <a:r>
              <a:rPr lang="en-US" sz="1100" b="0" i="0" dirty="0">
                <a:solidFill>
                  <a:srgbClr val="333333"/>
                </a:solidFill>
                <a:effectLst/>
                <a:latin typeface="Courier New" panose="02070309020205020404" pitchFamily="49" charset="0"/>
              </a:rPr>
              <a:t> </a:t>
            </a:r>
            <a:r>
              <a:rPr lang="en-US" sz="1100" b="0" i="0" dirty="0" err="1">
                <a:solidFill>
                  <a:srgbClr val="333333"/>
                </a:solidFill>
                <a:effectLst/>
                <a:latin typeface="Courier New" panose="02070309020205020404" pitchFamily="49" charset="0"/>
              </a:rPr>
              <a:t>np.clip</a:t>
            </a:r>
            <a:r>
              <a:rPr lang="en-US" sz="1100" b="0" i="0" dirty="0">
                <a:solidFill>
                  <a:srgbClr val="333333"/>
                </a:solidFill>
                <a:effectLst/>
                <a:latin typeface="Courier New" panose="02070309020205020404" pitchFamily="49" charset="0"/>
              </a:rPr>
              <a:t>(</a:t>
            </a:r>
            <a:r>
              <a:rPr lang="en-US" sz="1100" b="0" i="0" dirty="0" err="1">
                <a:solidFill>
                  <a:srgbClr val="333333"/>
                </a:solidFill>
                <a:effectLst/>
                <a:latin typeface="Courier New" panose="02070309020205020404" pitchFamily="49" charset="0"/>
              </a:rPr>
              <a:t>hasil</a:t>
            </a:r>
            <a:r>
              <a:rPr lang="en-US" sz="1100" b="0" i="0" dirty="0">
                <a:solidFill>
                  <a:srgbClr val="333333"/>
                </a:solidFill>
                <a:effectLst/>
                <a:latin typeface="Courier New" panose="02070309020205020404" pitchFamily="49" charset="0"/>
              </a:rPr>
              <a:t>, </a:t>
            </a:r>
            <a:r>
              <a:rPr lang="en-US" sz="1100" b="1" i="0" dirty="0">
                <a:solidFill>
                  <a:srgbClr val="0000DD"/>
                </a:solidFill>
                <a:effectLst/>
                <a:latin typeface="Courier New" panose="02070309020205020404" pitchFamily="49" charset="0"/>
              </a:rPr>
              <a:t>0</a:t>
            </a:r>
            <a:r>
              <a:rPr lang="en-US" sz="1100" b="0" i="0" dirty="0">
                <a:solidFill>
                  <a:srgbClr val="333333"/>
                </a:solidFill>
                <a:effectLst/>
                <a:latin typeface="Courier New" panose="02070309020205020404" pitchFamily="49" charset="0"/>
              </a:rPr>
              <a:t>, </a:t>
            </a:r>
            <a:r>
              <a:rPr lang="en-US" sz="1100" b="1" i="0" dirty="0">
                <a:solidFill>
                  <a:srgbClr val="0000DD"/>
                </a:solidFill>
                <a:effectLst/>
                <a:latin typeface="Courier New" panose="02070309020205020404" pitchFamily="49" charset="0"/>
              </a:rPr>
              <a:t>255</a:t>
            </a:r>
            <a:r>
              <a:rPr lang="en-US" sz="1100" b="0" i="0" dirty="0">
                <a:solidFill>
                  <a:srgbClr val="333333"/>
                </a:solidFill>
                <a:effectLst/>
                <a:latin typeface="Courier New" panose="02070309020205020404" pitchFamily="49" charset="0"/>
              </a:rPr>
              <a:t>).</a:t>
            </a:r>
            <a:r>
              <a:rPr lang="en-US" sz="1100" b="0" i="0" dirty="0" err="1">
                <a:solidFill>
                  <a:srgbClr val="333333"/>
                </a:solidFill>
                <a:effectLst/>
                <a:latin typeface="Courier New" panose="02070309020205020404" pitchFamily="49" charset="0"/>
              </a:rPr>
              <a:t>astype</a:t>
            </a:r>
            <a:r>
              <a:rPr lang="en-US" sz="1100" b="0" i="0" dirty="0">
                <a:solidFill>
                  <a:srgbClr val="333333"/>
                </a:solidFill>
                <a:effectLst/>
                <a:latin typeface="Courier New" panose="02070309020205020404" pitchFamily="49" charset="0"/>
              </a:rPr>
              <a:t>(np.uint8)</a:t>
            </a:r>
          </a:p>
          <a:p>
            <a:pPr marL="0" marR="0" indent="0" algn="l">
              <a:lnSpc>
                <a:spcPct val="56435"/>
              </a:lnSpc>
              <a:buNone/>
            </a:pPr>
            <a:endParaRPr lang="en-US" sz="1100" b="0" i="0" dirty="0">
              <a:solidFill>
                <a:srgbClr val="333333"/>
              </a:solidFill>
              <a:effectLst/>
              <a:latin typeface="Courier New" panose="02070309020205020404" pitchFamily="49" charset="0"/>
            </a:endParaRPr>
          </a:p>
          <a:p>
            <a:pPr marL="0" marR="0" indent="0" algn="l">
              <a:lnSpc>
                <a:spcPct val="56435"/>
              </a:lnSpc>
              <a:buNone/>
            </a:pPr>
            <a:r>
              <a:rPr lang="en-US" sz="1100" b="0" i="0" dirty="0">
                <a:solidFill>
                  <a:srgbClr val="888888"/>
                </a:solidFill>
                <a:effectLst/>
                <a:latin typeface="Courier New" panose="02070309020205020404" pitchFamily="49" charset="0"/>
              </a:rPr>
              <a:t># Stretching 0-255</a:t>
            </a:r>
            <a:endParaRPr lang="en-US" sz="1100" b="0" i="0" dirty="0">
              <a:solidFill>
                <a:srgbClr val="333333"/>
              </a:solidFill>
              <a:effectLst/>
              <a:latin typeface="Courier New" panose="02070309020205020404" pitchFamily="49" charset="0"/>
            </a:endParaRPr>
          </a:p>
          <a:p>
            <a:pPr marL="0" marR="0" indent="0" algn="l">
              <a:lnSpc>
                <a:spcPct val="56435"/>
              </a:lnSpc>
              <a:buNone/>
            </a:pPr>
            <a:r>
              <a:rPr lang="en-US" sz="1100" b="0" i="0" dirty="0" err="1">
                <a:solidFill>
                  <a:srgbClr val="333333"/>
                </a:solidFill>
                <a:effectLst/>
                <a:latin typeface="Courier New" panose="02070309020205020404" pitchFamily="49" charset="0"/>
              </a:rPr>
              <a:t>citra_stretch</a:t>
            </a:r>
            <a:r>
              <a:rPr lang="en-US" sz="1100" b="0" i="0" dirty="0">
                <a:solidFill>
                  <a:srgbClr val="333333"/>
                </a:solidFill>
                <a:effectLst/>
                <a:latin typeface="Courier New" panose="02070309020205020404" pitchFamily="49" charset="0"/>
              </a:rPr>
              <a:t> = </a:t>
            </a:r>
            <a:r>
              <a:rPr lang="en-US" sz="1100" b="0" i="0" dirty="0" err="1">
                <a:solidFill>
                  <a:srgbClr val="333333"/>
                </a:solidFill>
                <a:effectLst/>
                <a:latin typeface="Courier New" panose="02070309020205020404" pitchFamily="49" charset="0"/>
              </a:rPr>
              <a:t>histogram_stretching</a:t>
            </a:r>
            <a:r>
              <a:rPr lang="en-US" sz="1100" b="0" i="0" dirty="0">
                <a:solidFill>
                  <a:srgbClr val="333333"/>
                </a:solidFill>
                <a:effectLst/>
                <a:latin typeface="Courier New" panose="02070309020205020404" pitchFamily="49" charset="0"/>
              </a:rPr>
              <a:t>(</a:t>
            </a:r>
            <a:r>
              <a:rPr lang="en-US" sz="1100" b="0" i="0" dirty="0" err="1">
                <a:solidFill>
                  <a:srgbClr val="333333"/>
                </a:solidFill>
                <a:effectLst/>
                <a:latin typeface="Courier New" panose="02070309020205020404" pitchFamily="49" charset="0"/>
              </a:rPr>
              <a:t>citra_gray</a:t>
            </a:r>
            <a:r>
              <a:rPr lang="en-US" sz="1100" b="0" i="0" dirty="0">
                <a:solidFill>
                  <a:srgbClr val="333333"/>
                </a:solidFill>
                <a:effectLst/>
                <a:latin typeface="Courier New" panose="02070309020205020404" pitchFamily="49" charset="0"/>
              </a:rPr>
              <a:t>, </a:t>
            </a:r>
            <a:r>
              <a:rPr lang="en-US" sz="1100" b="0" i="0" dirty="0" err="1">
                <a:solidFill>
                  <a:srgbClr val="333333"/>
                </a:solidFill>
                <a:effectLst/>
                <a:latin typeface="Courier New" panose="02070309020205020404" pitchFamily="49" charset="0"/>
              </a:rPr>
              <a:t>s_min</a:t>
            </a:r>
            <a:r>
              <a:rPr lang="en-US" sz="1100" b="0" i="0" dirty="0">
                <a:solidFill>
                  <a:srgbClr val="333333"/>
                </a:solidFill>
                <a:effectLst/>
                <a:latin typeface="Courier New" panose="02070309020205020404" pitchFamily="49" charset="0"/>
              </a:rPr>
              <a:t>=</a:t>
            </a:r>
            <a:r>
              <a:rPr lang="en-US" sz="1100" b="1" i="0" dirty="0">
                <a:solidFill>
                  <a:srgbClr val="0000DD"/>
                </a:solidFill>
                <a:effectLst/>
                <a:latin typeface="Courier New" panose="02070309020205020404" pitchFamily="49" charset="0"/>
              </a:rPr>
              <a:t>0</a:t>
            </a:r>
            <a:r>
              <a:rPr lang="en-US" sz="1100" b="0" i="0" dirty="0">
                <a:solidFill>
                  <a:srgbClr val="333333"/>
                </a:solidFill>
                <a:effectLst/>
                <a:latin typeface="Courier New" panose="02070309020205020404" pitchFamily="49" charset="0"/>
              </a:rPr>
              <a:t>, </a:t>
            </a:r>
            <a:r>
              <a:rPr lang="en-US" sz="1100" b="0" i="0" dirty="0" err="1">
                <a:solidFill>
                  <a:srgbClr val="333333"/>
                </a:solidFill>
                <a:effectLst/>
                <a:latin typeface="Courier New" panose="02070309020205020404" pitchFamily="49" charset="0"/>
              </a:rPr>
              <a:t>s_max</a:t>
            </a:r>
            <a:r>
              <a:rPr lang="en-US" sz="1100" b="0" i="0" dirty="0">
                <a:solidFill>
                  <a:srgbClr val="333333"/>
                </a:solidFill>
                <a:effectLst/>
                <a:latin typeface="Courier New" panose="02070309020205020404" pitchFamily="49" charset="0"/>
              </a:rPr>
              <a:t>=</a:t>
            </a:r>
            <a:r>
              <a:rPr lang="en-US" sz="1100" b="1" i="0" dirty="0">
                <a:solidFill>
                  <a:srgbClr val="0000DD"/>
                </a:solidFill>
                <a:effectLst/>
                <a:latin typeface="Courier New" panose="02070309020205020404" pitchFamily="49" charset="0"/>
              </a:rPr>
              <a:t>255</a:t>
            </a:r>
            <a:r>
              <a:rPr lang="en-US" sz="1100" b="0" i="0" dirty="0">
                <a:solidFill>
                  <a:srgbClr val="333333"/>
                </a:solidFill>
                <a:effectLst/>
                <a:latin typeface="Courier New" panose="02070309020205020404" pitchFamily="49" charset="0"/>
              </a:rPr>
              <a:t>)</a:t>
            </a:r>
          </a:p>
          <a:p>
            <a:pPr marL="0" marR="0" indent="0" algn="l">
              <a:lnSpc>
                <a:spcPct val="56435"/>
              </a:lnSpc>
              <a:buNone/>
            </a:pPr>
            <a:endParaRPr lang="en-US" sz="1100" b="0" i="0" dirty="0">
              <a:solidFill>
                <a:srgbClr val="333333"/>
              </a:solidFill>
              <a:effectLst/>
              <a:latin typeface="Courier New" panose="02070309020205020404" pitchFamily="49" charset="0"/>
            </a:endParaRPr>
          </a:p>
          <a:p>
            <a:pPr marL="0" marR="0" indent="0" algn="l">
              <a:lnSpc>
                <a:spcPct val="56435"/>
              </a:lnSpc>
              <a:buNone/>
            </a:pPr>
            <a:r>
              <a:rPr lang="en-US" sz="1100" b="0" i="0" dirty="0">
                <a:solidFill>
                  <a:srgbClr val="888888"/>
                </a:solidFill>
                <a:effectLst/>
                <a:latin typeface="Courier New" panose="02070309020205020404" pitchFamily="49" charset="0"/>
              </a:rPr>
              <a:t># Shrinking 50-180 (contrast reduced)</a:t>
            </a:r>
            <a:endParaRPr lang="en-US" sz="1100" b="0" i="0" dirty="0">
              <a:solidFill>
                <a:srgbClr val="333333"/>
              </a:solidFill>
              <a:effectLst/>
              <a:latin typeface="Courier New" panose="02070309020205020404" pitchFamily="49" charset="0"/>
            </a:endParaRPr>
          </a:p>
          <a:p>
            <a:pPr marL="0" marR="0" indent="0" algn="l">
              <a:lnSpc>
                <a:spcPct val="56435"/>
              </a:lnSpc>
              <a:buNone/>
            </a:pPr>
            <a:r>
              <a:rPr lang="en-US" sz="1100" b="0" i="0" dirty="0" err="1">
                <a:solidFill>
                  <a:srgbClr val="333333"/>
                </a:solidFill>
                <a:effectLst/>
                <a:latin typeface="Courier New" panose="02070309020205020404" pitchFamily="49" charset="0"/>
              </a:rPr>
              <a:t>citra_shrink</a:t>
            </a:r>
            <a:r>
              <a:rPr lang="en-US" sz="1100" b="0" i="0" dirty="0">
                <a:solidFill>
                  <a:srgbClr val="333333"/>
                </a:solidFill>
                <a:effectLst/>
                <a:latin typeface="Courier New" panose="02070309020205020404" pitchFamily="49" charset="0"/>
              </a:rPr>
              <a:t> = </a:t>
            </a:r>
            <a:r>
              <a:rPr lang="en-US" sz="1100" b="0" i="0" dirty="0" err="1">
                <a:solidFill>
                  <a:srgbClr val="333333"/>
                </a:solidFill>
                <a:effectLst/>
                <a:latin typeface="Courier New" panose="02070309020205020404" pitchFamily="49" charset="0"/>
              </a:rPr>
              <a:t>histogram_stretching</a:t>
            </a:r>
            <a:r>
              <a:rPr lang="en-US" sz="1100" b="0" i="0" dirty="0">
                <a:solidFill>
                  <a:srgbClr val="333333"/>
                </a:solidFill>
                <a:effectLst/>
                <a:latin typeface="Courier New" panose="02070309020205020404" pitchFamily="49" charset="0"/>
              </a:rPr>
              <a:t>(</a:t>
            </a:r>
            <a:r>
              <a:rPr lang="en-US" sz="1100" b="0" i="0" dirty="0" err="1">
                <a:solidFill>
                  <a:srgbClr val="333333"/>
                </a:solidFill>
                <a:effectLst/>
                <a:latin typeface="Courier New" panose="02070309020205020404" pitchFamily="49" charset="0"/>
              </a:rPr>
              <a:t>citra_gray</a:t>
            </a:r>
            <a:r>
              <a:rPr lang="en-US" sz="1100" b="0" i="0" dirty="0">
                <a:solidFill>
                  <a:srgbClr val="333333"/>
                </a:solidFill>
                <a:effectLst/>
                <a:latin typeface="Courier New" panose="02070309020205020404" pitchFamily="49" charset="0"/>
              </a:rPr>
              <a:t>, </a:t>
            </a:r>
            <a:r>
              <a:rPr lang="en-US" sz="1100" b="0" i="0" dirty="0" err="1">
                <a:solidFill>
                  <a:srgbClr val="333333"/>
                </a:solidFill>
                <a:effectLst/>
                <a:latin typeface="Courier New" panose="02070309020205020404" pitchFamily="49" charset="0"/>
              </a:rPr>
              <a:t>s_min</a:t>
            </a:r>
            <a:r>
              <a:rPr lang="en-US" sz="1100" b="0" i="0" dirty="0">
                <a:solidFill>
                  <a:srgbClr val="333333"/>
                </a:solidFill>
                <a:effectLst/>
                <a:latin typeface="Courier New" panose="02070309020205020404" pitchFamily="49" charset="0"/>
              </a:rPr>
              <a:t>=</a:t>
            </a:r>
            <a:r>
              <a:rPr lang="en-US" sz="1100" b="1" i="0" dirty="0">
                <a:solidFill>
                  <a:srgbClr val="0000DD"/>
                </a:solidFill>
                <a:effectLst/>
                <a:latin typeface="Courier New" panose="02070309020205020404" pitchFamily="49" charset="0"/>
              </a:rPr>
              <a:t>50</a:t>
            </a:r>
            <a:r>
              <a:rPr lang="en-US" sz="1100" b="0" i="0" dirty="0">
                <a:solidFill>
                  <a:srgbClr val="333333"/>
                </a:solidFill>
                <a:effectLst/>
                <a:latin typeface="Courier New" panose="02070309020205020404" pitchFamily="49" charset="0"/>
              </a:rPr>
              <a:t>, </a:t>
            </a:r>
            <a:r>
              <a:rPr lang="en-US" sz="1100" b="0" i="0" dirty="0" err="1">
                <a:solidFill>
                  <a:srgbClr val="333333"/>
                </a:solidFill>
                <a:effectLst/>
                <a:latin typeface="Courier New" panose="02070309020205020404" pitchFamily="49" charset="0"/>
              </a:rPr>
              <a:t>s_max</a:t>
            </a:r>
            <a:r>
              <a:rPr lang="en-US" sz="1100" b="0" i="0" dirty="0">
                <a:solidFill>
                  <a:srgbClr val="333333"/>
                </a:solidFill>
                <a:effectLst/>
                <a:latin typeface="Courier New" panose="02070309020205020404" pitchFamily="49" charset="0"/>
              </a:rPr>
              <a:t>=</a:t>
            </a:r>
            <a:r>
              <a:rPr lang="en-US" sz="1100" b="1" i="0" dirty="0">
                <a:solidFill>
                  <a:srgbClr val="0000DD"/>
                </a:solidFill>
                <a:effectLst/>
                <a:latin typeface="Courier New" panose="02070309020205020404" pitchFamily="49" charset="0"/>
              </a:rPr>
              <a:t>180</a:t>
            </a:r>
            <a:r>
              <a:rPr lang="en-US" sz="1100" b="0" i="0" dirty="0">
                <a:solidFill>
                  <a:srgbClr val="333333"/>
                </a:solidFill>
                <a:effectLst/>
                <a:latin typeface="Courier New" panose="02070309020205020404" pitchFamily="49" charset="0"/>
              </a:rPr>
              <a:t>)</a:t>
            </a:r>
          </a:p>
          <a:p>
            <a:pPr marL="177800" indent="0">
              <a:buNone/>
            </a:pPr>
            <a:endParaRPr lang="en-US" sz="1100" dirty="0"/>
          </a:p>
        </p:txBody>
      </p:sp>
      <p:pic>
        <p:nvPicPr>
          <p:cNvPr id="6" name="Picture 5">
            <a:extLst>
              <a:ext uri="{FF2B5EF4-FFF2-40B4-BE49-F238E27FC236}">
                <a16:creationId xmlns:a16="http://schemas.microsoft.com/office/drawing/2014/main" id="{83E4C331-786E-8243-E073-949F77781423}"/>
              </a:ext>
            </a:extLst>
          </p:cNvPr>
          <p:cNvPicPr>
            <a:picLocks noChangeAspect="1"/>
          </p:cNvPicPr>
          <p:nvPr/>
        </p:nvPicPr>
        <p:blipFill>
          <a:blip r:embed="rId2"/>
          <a:stretch>
            <a:fillRect/>
          </a:stretch>
        </p:blipFill>
        <p:spPr>
          <a:xfrm>
            <a:off x="1547232" y="1017725"/>
            <a:ext cx="5326379" cy="2763417"/>
          </a:xfrm>
          <a:prstGeom prst="rect">
            <a:avLst/>
          </a:prstGeom>
        </p:spPr>
      </p:pic>
    </p:spTree>
    <p:extLst>
      <p:ext uri="{BB962C8B-B14F-4D97-AF65-F5344CB8AC3E}">
        <p14:creationId xmlns:p14="http://schemas.microsoft.com/office/powerpoint/2010/main" val="18895848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CE7507-A907-2A43-5A59-04F0731FD3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C89CDE-C497-E500-F1AF-135A2FDF6060}"/>
              </a:ext>
            </a:extLst>
          </p:cNvPr>
          <p:cNvSpPr>
            <a:spLocks noGrp="1"/>
          </p:cNvSpPr>
          <p:nvPr>
            <p:ph type="title"/>
          </p:nvPr>
        </p:nvSpPr>
        <p:spPr/>
        <p:txBody>
          <a:bodyPr/>
          <a:lstStyle/>
          <a:p>
            <a:r>
              <a:rPr lang="en-US" dirty="0"/>
              <a:t>Histogram Shifting</a:t>
            </a:r>
          </a:p>
        </p:txBody>
      </p:sp>
      <mc:AlternateContent xmlns:mc="http://schemas.openxmlformats.org/markup-compatibility/2006">
        <mc:Choice xmlns:a14="http://schemas.microsoft.com/office/drawing/2010/main" Requires="a14">
          <p:sp>
            <p:nvSpPr>
              <p:cNvPr id="6" name="Text Placeholder 5">
                <a:extLst>
                  <a:ext uri="{FF2B5EF4-FFF2-40B4-BE49-F238E27FC236}">
                    <a16:creationId xmlns:a16="http://schemas.microsoft.com/office/drawing/2014/main" id="{DAC694D1-A589-0791-3406-D2D739E7E678}"/>
                  </a:ext>
                </a:extLst>
              </p:cNvPr>
              <p:cNvSpPr>
                <a:spLocks noGrp="1"/>
              </p:cNvSpPr>
              <p:nvPr>
                <p:ph type="body" idx="1"/>
              </p:nvPr>
            </p:nvSpPr>
            <p:spPr/>
            <p:txBody>
              <a:bodyPr/>
              <a:lstStyle/>
              <a:p>
                <a:r>
                  <a:rPr lang="en-US" dirty="0"/>
                  <a:t>Histogram shifting is a technique that shifts all pixel intensity values ​​of an image by adding or subtracting a constant c, without altering the shape or width of the distribution. </a:t>
                </a:r>
              </a:p>
              <a:p>
                <a:r>
                  <a:rPr lang="en-US" dirty="0"/>
                  <a:t>The effect is that the image becomes brighter (if c is positive) or darker (if c is negative), yet the contrast remains unchanged—only the position of the histogram shifts to the right or left.</a:t>
                </a:r>
              </a:p>
              <a:p>
                <a:r>
                  <a:rPr lang="en-US" dirty="0"/>
                  <a:t>Formula : </a:t>
                </a:r>
                <a14:m>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m:t>
                    </m:r>
                    <m:r>
                      <a:rPr lang="en-US" b="0" i="1" smtClean="0">
                        <a:latin typeface="Cambria Math" panose="02040503050406030204" pitchFamily="18" charset="0"/>
                      </a:rPr>
                      <m:t>𝑟</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𝑐</m:t>
                    </m:r>
                  </m:oMath>
                </a14:m>
                <a:endParaRPr lang="en-US" dirty="0"/>
              </a:p>
              <a:p>
                <a:pPr marL="177800" indent="0">
                  <a:buNone/>
                </a:pPr>
                <a:r>
                  <a:rPr lang="en-US" dirty="0"/>
                  <a:t>With</a:t>
                </a:r>
              </a:p>
              <a:p>
                <a:pPr lvl="1"/>
                <a14:m>
                  <m:oMath xmlns:m="http://schemas.openxmlformats.org/officeDocument/2006/math">
                    <m:r>
                      <a:rPr lang="en-US" i="1" dirty="0" smtClean="0">
                        <a:latin typeface="Cambria Math" panose="02040503050406030204" pitchFamily="18" charset="0"/>
                      </a:rPr>
                      <m:t>𝑟</m:t>
                    </m:r>
                    <m:r>
                      <a:rPr lang="en-US" i="1" dirty="0" smtClean="0">
                        <a:latin typeface="Cambria Math" panose="02040503050406030204" pitchFamily="18" charset="0"/>
                      </a:rPr>
                      <m:t> </m:t>
                    </m:r>
                  </m:oMath>
                </a14:m>
                <a:r>
                  <a:rPr lang="en-US" dirty="0"/>
                  <a:t>= original pixel intensity value</a:t>
                </a:r>
              </a:p>
              <a:p>
                <a:pPr lvl="1"/>
                <a14:m>
                  <m:oMath xmlns:m="http://schemas.openxmlformats.org/officeDocument/2006/math">
                    <m:r>
                      <a:rPr lang="en-US" i="1" dirty="0" smtClean="0">
                        <a:latin typeface="Cambria Math" panose="02040503050406030204" pitchFamily="18" charset="0"/>
                      </a:rPr>
                      <m:t>𝑐</m:t>
                    </m:r>
                    <m:r>
                      <a:rPr lang="en-US" i="1" dirty="0" smtClean="0">
                        <a:latin typeface="Cambria Math" panose="02040503050406030204" pitchFamily="18" charset="0"/>
                      </a:rPr>
                      <m:t> </m:t>
                    </m:r>
                  </m:oMath>
                </a14:m>
                <a:r>
                  <a:rPr lang="en-US" dirty="0"/>
                  <a:t>= shift constant (positive = brighter, negative = darker)</a:t>
                </a:r>
              </a:p>
              <a:p>
                <a:pPr lvl="1"/>
                <a14:m>
                  <m:oMath xmlns:m="http://schemas.openxmlformats.org/officeDocument/2006/math">
                    <m:r>
                      <a:rPr lang="en-US" i="1" dirty="0" smtClean="0">
                        <a:latin typeface="Cambria Math" panose="02040503050406030204" pitchFamily="18" charset="0"/>
                      </a:rPr>
                      <m:t>𝑆</m:t>
                    </m:r>
                  </m:oMath>
                </a14:m>
                <a:r>
                  <a:rPr lang="en-US" dirty="0"/>
                  <a:t> = result value, must be clipped to the range [</a:t>
                </a:r>
                <a14:m>
                  <m:oMath xmlns:m="http://schemas.openxmlformats.org/officeDocument/2006/math">
                    <m:r>
                      <a:rPr lang="en-US" i="1" dirty="0" smtClean="0">
                        <a:latin typeface="Cambria Math" panose="02040503050406030204" pitchFamily="18" charset="0"/>
                      </a:rPr>
                      <m:t>0, 255</m:t>
                    </m:r>
                  </m:oMath>
                </a14:m>
                <a:r>
                  <a:rPr lang="en-US" dirty="0"/>
                  <a:t>]</a:t>
                </a:r>
              </a:p>
            </p:txBody>
          </p:sp>
        </mc:Choice>
        <mc:Fallback>
          <p:sp>
            <p:nvSpPr>
              <p:cNvPr id="6" name="Text Placeholder 5">
                <a:extLst>
                  <a:ext uri="{FF2B5EF4-FFF2-40B4-BE49-F238E27FC236}">
                    <a16:creationId xmlns:a16="http://schemas.microsoft.com/office/drawing/2014/main" id="{DAC694D1-A589-0791-3406-D2D739E7E678}"/>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97176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F90F1-88D1-A109-596A-059D0097B400}"/>
              </a:ext>
            </a:extLst>
          </p:cNvPr>
          <p:cNvSpPr>
            <a:spLocks noGrp="1"/>
          </p:cNvSpPr>
          <p:nvPr>
            <p:ph type="title"/>
          </p:nvPr>
        </p:nvSpPr>
        <p:spPr>
          <a:xfrm>
            <a:off x="720000" y="445025"/>
            <a:ext cx="8000254" cy="572700"/>
          </a:xfrm>
        </p:spPr>
        <p:txBody>
          <a:bodyPr/>
          <a:lstStyle/>
          <a:p>
            <a:r>
              <a:rPr lang="en-US" dirty="0"/>
              <a:t>Example to Matrix</a:t>
            </a:r>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254ACBB3-8C56-E1B2-697C-F84B0462FB2D}"/>
                  </a:ext>
                </a:extLst>
              </p:cNvPr>
              <p:cNvSpPr>
                <a:spLocks noGrp="1"/>
              </p:cNvSpPr>
              <p:nvPr>
                <p:ph type="body" idx="1"/>
              </p:nvPr>
            </p:nvSpPr>
            <p:spPr>
              <a:xfrm>
                <a:off x="571872" y="1021070"/>
                <a:ext cx="5828928" cy="3677405"/>
              </a:xfrm>
            </p:spPr>
            <p:txBody>
              <a:bodyPr/>
              <a:lstStyle/>
              <a:p>
                <a:r>
                  <a:rPr lang="en-US" dirty="0"/>
                  <a:t>Given a </a:t>
                </a:r>
                <a14:m>
                  <m:oMath xmlns:m="http://schemas.openxmlformats.org/officeDocument/2006/math">
                    <m:r>
                      <a:rPr lang="en-US" b="0" i="1" smtClean="0">
                        <a:latin typeface="Cambria Math" panose="02040503050406030204" pitchFamily="18" charset="0"/>
                      </a:rPr>
                      <m:t>3</m:t>
                    </m:r>
                    <m:r>
                      <a:rPr lang="en-US" b="0" i="1" smtClean="0">
                        <a:latin typeface="Cambria Math" panose="02040503050406030204" pitchFamily="18" charset="0"/>
                        <a:ea typeface="Cambria Math" panose="02040503050406030204" pitchFamily="18" charset="0"/>
                      </a:rPr>
                      <m:t>×3</m:t>
                    </m:r>
                  </m:oMath>
                </a14:m>
                <a:r>
                  <a:rPr lang="en-US" dirty="0"/>
                  <a:t> grayscale image matrix :</a:t>
                </a:r>
              </a:p>
              <a:p>
                <a:pPr marL="177800" indent="0">
                  <a:buNone/>
                </a:pPr>
                <a14:m>
                  <m:oMathPara xmlns:m="http://schemas.openxmlformats.org/officeDocument/2006/math">
                    <m:oMath>
                      <m:r>
                        <a:rPr lang="en-US" b="0" i="1" smtClean="0">
                          <a:latin typeface="Cambria Math" panose="02040503050406030204" pitchFamily="18" charset="0"/>
                        </a:rPr>
                        <m:t>𝐼</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3"/>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5</m:t>
                                </m:r>
                                <m:r>
                                  <m:rPr>
                                    <m:brk m:alnAt="7"/>
                                  </m:rPr>
                                  <a:rPr lang="en-US" b="0" i="1" smtClean="0">
                                    <a:latin typeface="Cambria Math" panose="02040503050406030204" pitchFamily="18" charset="0"/>
                                  </a:rPr>
                                  <m:t>0</m:t>
                                </m:r>
                              </m:e>
                              <m:e>
                                <m:r>
                                  <a:rPr lang="en-US" b="0" i="1" smtClean="0">
                                    <a:latin typeface="Cambria Math" panose="02040503050406030204" pitchFamily="18" charset="0"/>
                                  </a:rPr>
                                  <m:t>80</m:t>
                                </m:r>
                              </m:e>
                              <m:e>
                                <m:r>
                                  <a:rPr lang="en-US" b="0" i="1" smtClean="0">
                                    <a:latin typeface="Cambria Math" panose="02040503050406030204" pitchFamily="18" charset="0"/>
                                  </a:rPr>
                                  <m:t>100</m:t>
                                </m:r>
                              </m:e>
                            </m:mr>
                            <m:mr>
                              <m:e>
                                <m:r>
                                  <a:rPr lang="en-US" b="0" i="1" smtClean="0">
                                    <a:latin typeface="Cambria Math" panose="02040503050406030204" pitchFamily="18" charset="0"/>
                                  </a:rPr>
                                  <m:t>120</m:t>
                                </m:r>
                              </m:e>
                              <m:e>
                                <m:r>
                                  <a:rPr lang="en-US" b="0" i="1" smtClean="0">
                                    <a:latin typeface="Cambria Math" panose="02040503050406030204" pitchFamily="18" charset="0"/>
                                  </a:rPr>
                                  <m:t>150</m:t>
                                </m:r>
                              </m:e>
                              <m:e>
                                <m:r>
                                  <a:rPr lang="en-US" b="0" i="1" smtClean="0">
                                    <a:latin typeface="Cambria Math" panose="02040503050406030204" pitchFamily="18" charset="0"/>
                                  </a:rPr>
                                  <m:t>200</m:t>
                                </m:r>
                              </m:e>
                            </m:mr>
                            <m:mr>
                              <m:e>
                                <m:r>
                                  <a:rPr lang="en-US" b="0" i="1" smtClean="0">
                                    <a:latin typeface="Cambria Math" panose="02040503050406030204" pitchFamily="18" charset="0"/>
                                  </a:rPr>
                                  <m:t>30</m:t>
                                </m:r>
                              </m:e>
                              <m:e>
                                <m:r>
                                  <a:rPr lang="en-US" b="0" i="1" smtClean="0">
                                    <a:latin typeface="Cambria Math" panose="02040503050406030204" pitchFamily="18" charset="0"/>
                                  </a:rPr>
                                  <m:t>240</m:t>
                                </m:r>
                              </m:e>
                              <m:e>
                                <m:r>
                                  <a:rPr lang="en-US" b="0" i="1" smtClean="0">
                                    <a:latin typeface="Cambria Math" panose="02040503050406030204" pitchFamily="18" charset="0"/>
                                  </a:rPr>
                                  <m:t>255</m:t>
                                </m:r>
                              </m:e>
                            </m:mr>
                          </m:m>
                        </m:e>
                      </m:d>
                    </m:oMath>
                  </m:oMathPara>
                </a14:m>
                <a:endParaRPr lang="en-US" dirty="0"/>
              </a:p>
              <a:p>
                <a:pPr marL="177800" indent="0">
                  <a:buNone/>
                </a:pPr>
                <a:endParaRPr lang="en-US" dirty="0"/>
              </a:p>
              <a:p>
                <a:r>
                  <a:rPr lang="en-US" dirty="0"/>
                  <a:t>Shift with </a:t>
                </a:r>
                <a14:m>
                  <m:oMath xmlns:m="http://schemas.openxmlformats.org/officeDocument/2006/math">
                    <m:r>
                      <a:rPr lang="en-US" i="1" dirty="0" smtClean="0">
                        <a:latin typeface="Cambria Math" panose="02040503050406030204" pitchFamily="18" charset="0"/>
                      </a:rPr>
                      <m:t>𝑐</m:t>
                    </m:r>
                    <m:r>
                      <a:rPr lang="en-US" i="1" dirty="0" smtClean="0">
                        <a:latin typeface="Cambria Math" panose="02040503050406030204" pitchFamily="18" charset="0"/>
                      </a:rPr>
                      <m:t> = +40 </m:t>
                    </m:r>
                  </m:oMath>
                </a14:m>
                <a:r>
                  <a:rPr lang="en-US" dirty="0"/>
                  <a:t>(increases brightness): Formula : </a:t>
                </a:r>
                <a14:m>
                  <m:oMath xmlns:m="http://schemas.openxmlformats.org/officeDocument/2006/math">
                    <m:r>
                      <a:rPr lang="en-US" i="1">
                        <a:latin typeface="Cambria Math" panose="02040503050406030204" pitchFamily="18" charset="0"/>
                      </a:rPr>
                      <m:t>𝑆</m:t>
                    </m:r>
                    <m:r>
                      <a:rPr lang="en-US" i="1">
                        <a:latin typeface="Cambria Math" panose="02040503050406030204" pitchFamily="18" charset="0"/>
                      </a:rPr>
                      <m:t>=</m:t>
                    </m:r>
                    <m:r>
                      <a:rPr lang="en-US" i="1">
                        <a:latin typeface="Cambria Math" panose="02040503050406030204" pitchFamily="18" charset="0"/>
                      </a:rPr>
                      <m:t>𝑟</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𝑐</m:t>
                    </m:r>
                  </m:oMath>
                </a14:m>
                <a:endParaRPr lang="en-US" dirty="0"/>
              </a:p>
              <a:p>
                <a:pPr lvl="1"/>
                <a14:m>
                  <m:oMath xmlns:m="http://schemas.openxmlformats.org/officeDocument/2006/math">
                    <m:r>
                      <a:rPr lang="en-US" i="1" dirty="0" smtClean="0">
                        <a:latin typeface="Cambria Math" panose="02040503050406030204" pitchFamily="18" charset="0"/>
                      </a:rPr>
                      <m:t>𝑆</m:t>
                    </m:r>
                    <m:r>
                      <a:rPr lang="en-US" i="1" dirty="0" smtClean="0">
                        <a:latin typeface="Cambria Math" panose="02040503050406030204" pitchFamily="18" charset="0"/>
                      </a:rPr>
                      <m:t>(0,0) = 50+40 = 90 </m:t>
                    </m:r>
                  </m:oMath>
                </a14:m>
                <a:endParaRPr lang="en-US" dirty="0"/>
              </a:p>
              <a:p>
                <a:pPr lvl="1"/>
                <a14:m>
                  <m:oMath xmlns:m="http://schemas.openxmlformats.org/officeDocument/2006/math">
                    <m:r>
                      <a:rPr lang="en-US" i="1" dirty="0" smtClean="0">
                        <a:latin typeface="Cambria Math" panose="02040503050406030204" pitchFamily="18" charset="0"/>
                      </a:rPr>
                      <m:t>𝑆</m:t>
                    </m:r>
                    <m:r>
                      <a:rPr lang="en-US" i="1" dirty="0">
                        <a:latin typeface="Cambria Math" panose="02040503050406030204" pitchFamily="18" charset="0"/>
                      </a:rPr>
                      <m:t>(0,1) = 80+40 = 120 </m:t>
                    </m:r>
                  </m:oMath>
                </a14:m>
                <a:endParaRPr lang="en-US" dirty="0"/>
              </a:p>
              <a:p>
                <a:pPr lvl="1"/>
                <a14:m>
                  <m:oMath xmlns:m="http://schemas.openxmlformats.org/officeDocument/2006/math">
                    <m:r>
                      <a:rPr lang="en-US" i="1" dirty="0" smtClean="0">
                        <a:latin typeface="Cambria Math" panose="02040503050406030204" pitchFamily="18" charset="0"/>
                      </a:rPr>
                      <m:t>𝑆</m:t>
                    </m:r>
                    <m:r>
                      <a:rPr lang="en-US" i="1" dirty="0">
                        <a:latin typeface="Cambria Math" panose="02040503050406030204" pitchFamily="18" charset="0"/>
                      </a:rPr>
                      <m:t>(0,2) = 100+40 = 140 </m:t>
                    </m:r>
                  </m:oMath>
                </a14:m>
                <a:endParaRPr lang="en-US" dirty="0"/>
              </a:p>
              <a:p>
                <a:pPr lvl="1"/>
                <a14:m>
                  <m:oMath xmlns:m="http://schemas.openxmlformats.org/officeDocument/2006/math">
                    <m:r>
                      <a:rPr lang="en-US" i="1" dirty="0" smtClean="0">
                        <a:latin typeface="Cambria Math" panose="02040503050406030204" pitchFamily="18" charset="0"/>
                      </a:rPr>
                      <m:t>𝑆</m:t>
                    </m:r>
                    <m:r>
                      <a:rPr lang="en-US" i="1" dirty="0">
                        <a:latin typeface="Cambria Math" panose="02040503050406030204" pitchFamily="18" charset="0"/>
                      </a:rPr>
                      <m:t>(1,0) = 120+40 = 160 </m:t>
                    </m:r>
                  </m:oMath>
                </a14:m>
                <a:r>
                  <a:rPr lang="en-US" dirty="0"/>
                  <a:t>       </a:t>
                </a:r>
              </a:p>
              <a:p>
                <a:pPr lvl="1"/>
                <a14:m>
                  <m:oMath xmlns:m="http://schemas.openxmlformats.org/officeDocument/2006/math">
                    <m:r>
                      <a:rPr lang="en-US" i="1" dirty="0" smtClean="0">
                        <a:latin typeface="Cambria Math" panose="02040503050406030204" pitchFamily="18" charset="0"/>
                      </a:rPr>
                      <m:t>𝑆</m:t>
                    </m:r>
                    <m:r>
                      <a:rPr lang="en-US" i="1" dirty="0">
                        <a:latin typeface="Cambria Math" panose="02040503050406030204" pitchFamily="18" charset="0"/>
                      </a:rPr>
                      <m:t>(1,1) = 150+40 = 190 </m:t>
                    </m:r>
                  </m:oMath>
                </a14:m>
                <a:endParaRPr lang="en-US" dirty="0"/>
              </a:p>
              <a:p>
                <a:pPr lvl="1"/>
                <a14:m>
                  <m:oMath xmlns:m="http://schemas.openxmlformats.org/officeDocument/2006/math">
                    <m:r>
                      <a:rPr lang="en-US" i="1" dirty="0" smtClean="0">
                        <a:latin typeface="Cambria Math" panose="02040503050406030204" pitchFamily="18" charset="0"/>
                      </a:rPr>
                      <m:t>𝑆</m:t>
                    </m:r>
                    <m:r>
                      <a:rPr lang="en-US" i="1" dirty="0">
                        <a:latin typeface="Cambria Math" panose="02040503050406030204" pitchFamily="18" charset="0"/>
                      </a:rPr>
                      <m:t>(1,2) = 200+40 = 240 </m:t>
                    </m:r>
                  </m:oMath>
                </a14:m>
                <a:endParaRPr lang="en-US" dirty="0"/>
              </a:p>
              <a:p>
                <a:pPr lvl="1"/>
                <a14:m>
                  <m:oMath xmlns:m="http://schemas.openxmlformats.org/officeDocument/2006/math">
                    <m:r>
                      <a:rPr lang="en-US" i="1" dirty="0" smtClean="0">
                        <a:latin typeface="Cambria Math" panose="02040503050406030204" pitchFamily="18" charset="0"/>
                      </a:rPr>
                      <m:t>𝑆</m:t>
                    </m:r>
                    <m:r>
                      <a:rPr lang="en-US" i="1" dirty="0">
                        <a:latin typeface="Cambria Math" panose="02040503050406030204" pitchFamily="18" charset="0"/>
                      </a:rPr>
                      <m:t>(2,0) = 30+40 = 70 </m:t>
                    </m:r>
                  </m:oMath>
                </a14:m>
                <a:endParaRPr lang="en-US" dirty="0"/>
              </a:p>
              <a:p>
                <a:pPr lvl="1"/>
                <a14:m>
                  <m:oMath xmlns:m="http://schemas.openxmlformats.org/officeDocument/2006/math">
                    <m:r>
                      <a:rPr lang="en-US" i="1" dirty="0" smtClean="0">
                        <a:latin typeface="Cambria Math" panose="02040503050406030204" pitchFamily="18" charset="0"/>
                      </a:rPr>
                      <m:t>𝑆</m:t>
                    </m:r>
                    <m:r>
                      <a:rPr lang="en-US" i="1" dirty="0">
                        <a:latin typeface="Cambria Math" panose="02040503050406030204" pitchFamily="18" charset="0"/>
                      </a:rPr>
                      <m:t>(2,1) = 240+40 = 280 </m:t>
                    </m:r>
                  </m:oMath>
                </a14:m>
                <a:r>
                  <a:rPr lang="en-US" dirty="0"/>
                  <a:t>-&gt; clipped into </a:t>
                </a:r>
                <a14:m>
                  <m:oMath xmlns:m="http://schemas.openxmlformats.org/officeDocument/2006/math">
                    <m:r>
                      <a:rPr lang="en-US" i="1" dirty="0" smtClean="0">
                        <a:latin typeface="Cambria Math" panose="02040503050406030204" pitchFamily="18" charset="0"/>
                      </a:rPr>
                      <m:t>255</m:t>
                    </m:r>
                  </m:oMath>
                </a14:m>
                <a:r>
                  <a:rPr lang="en-US" dirty="0"/>
                  <a:t> </a:t>
                </a:r>
              </a:p>
              <a:p>
                <a:pPr lvl="1"/>
                <a14:m>
                  <m:oMath xmlns:m="http://schemas.openxmlformats.org/officeDocument/2006/math">
                    <m:r>
                      <a:rPr lang="en-US" i="1" dirty="0" smtClean="0">
                        <a:latin typeface="Cambria Math" panose="02040503050406030204" pitchFamily="18" charset="0"/>
                      </a:rPr>
                      <m:t>𝑆</m:t>
                    </m:r>
                    <m:r>
                      <a:rPr lang="en-US" i="1" dirty="0">
                        <a:latin typeface="Cambria Math" panose="02040503050406030204" pitchFamily="18" charset="0"/>
                      </a:rPr>
                      <m:t>(2,2) = 255+40 = 295 </m:t>
                    </m:r>
                  </m:oMath>
                </a14:m>
                <a:r>
                  <a:rPr lang="en-US" dirty="0"/>
                  <a:t>-&gt; clipped into </a:t>
                </a:r>
                <a14:m>
                  <m:oMath xmlns:m="http://schemas.openxmlformats.org/officeDocument/2006/math">
                    <m:r>
                      <a:rPr lang="en-US" i="1" dirty="0" smtClean="0">
                        <a:latin typeface="Cambria Math" panose="02040503050406030204" pitchFamily="18" charset="0"/>
                      </a:rPr>
                      <m:t>255</m:t>
                    </m:r>
                  </m:oMath>
                </a14:m>
                <a:endParaRPr lang="en-US" dirty="0"/>
              </a:p>
            </p:txBody>
          </p:sp>
        </mc:Choice>
        <mc:Fallback>
          <p:sp>
            <p:nvSpPr>
              <p:cNvPr id="3" name="Text Placeholder 2">
                <a:extLst>
                  <a:ext uri="{FF2B5EF4-FFF2-40B4-BE49-F238E27FC236}">
                    <a16:creationId xmlns:a16="http://schemas.microsoft.com/office/drawing/2014/main" id="{254ACBB3-8C56-E1B2-697C-F84B0462FB2D}"/>
                  </a:ext>
                </a:extLst>
              </p:cNvPr>
              <p:cNvSpPr>
                <a:spLocks noGrp="1" noRot="1" noChangeAspect="1" noMove="1" noResize="1" noEditPoints="1" noAdjustHandles="1" noChangeArrowheads="1" noChangeShapeType="1" noTextEdit="1"/>
              </p:cNvSpPr>
              <p:nvPr>
                <p:ph type="body" idx="1"/>
              </p:nvPr>
            </p:nvSpPr>
            <p:spPr>
              <a:xfrm>
                <a:off x="571872" y="1021070"/>
                <a:ext cx="5828928" cy="3677405"/>
              </a:xfrm>
              <a:blipFill>
                <a:blip r:embed="rId2"/>
                <a:stretch>
                  <a:fillRect b="-28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014DD22-B9AD-9FEE-B74A-42B0C5639069}"/>
                  </a:ext>
                </a:extLst>
              </p:cNvPr>
              <p:cNvSpPr txBox="1"/>
              <p:nvPr/>
            </p:nvSpPr>
            <p:spPr>
              <a:xfrm>
                <a:off x="5263376" y="2859772"/>
                <a:ext cx="2132113" cy="666464"/>
              </a:xfrm>
              <a:prstGeom prst="rect">
                <a:avLst/>
              </a:prstGeom>
              <a:noFill/>
            </p:spPr>
            <p:txBody>
              <a:bodyPr wrap="square" rtlCol="0">
                <a:spAutoFit/>
              </a:bodyPr>
              <a:lstStyle/>
              <a:p>
                <a:pPr/>
                <a14:m>
                  <m:oMathPara xmlns:m="http://schemas.openxmlformats.org/officeDocument/2006/math">
                    <m:oMath>
                      <m:r>
                        <a:rPr lang="en-US" b="0" i="1" smtClean="0">
                          <a:latin typeface="Cambria Math" panose="02040503050406030204" pitchFamily="18" charset="0"/>
                        </a:rPr>
                        <m:t>𝑆</m:t>
                      </m:r>
                      <m:r>
                        <a:rPr lang="en-US" i="1">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3"/>
                                    <m:mcJc m:val="center"/>
                                  </m:mcPr>
                                </m:mc>
                              </m:mcs>
                              <m:ctrlPr>
                                <a:rPr lang="en-US" i="1">
                                  <a:latin typeface="Cambria Math" panose="02040503050406030204" pitchFamily="18" charset="0"/>
                                </a:rPr>
                              </m:ctrlPr>
                            </m:mPr>
                            <m:mr>
                              <m:e>
                                <m:r>
                                  <m:rPr>
                                    <m:brk m:alnAt="7"/>
                                  </m:rPr>
                                  <a:rPr lang="en-US" b="0" i="1" smtClean="0">
                                    <a:latin typeface="Cambria Math" panose="02040503050406030204" pitchFamily="18" charset="0"/>
                                  </a:rPr>
                                  <m:t>9</m:t>
                                </m:r>
                                <m:r>
                                  <m:rPr>
                                    <m:brk m:alnAt="7"/>
                                  </m:rPr>
                                  <a:rPr lang="en-US" i="1">
                                    <a:latin typeface="Cambria Math" panose="02040503050406030204" pitchFamily="18" charset="0"/>
                                  </a:rPr>
                                  <m:t>0</m:t>
                                </m:r>
                              </m:e>
                              <m:e>
                                <m:r>
                                  <a:rPr lang="en-US" b="0" i="1" smtClean="0">
                                    <a:latin typeface="Cambria Math" panose="02040503050406030204" pitchFamily="18" charset="0"/>
                                  </a:rPr>
                                  <m:t>12</m:t>
                                </m:r>
                                <m:r>
                                  <a:rPr lang="en-US" i="1">
                                    <a:latin typeface="Cambria Math" panose="02040503050406030204" pitchFamily="18" charset="0"/>
                                  </a:rPr>
                                  <m:t>0</m:t>
                                </m:r>
                              </m:e>
                              <m:e>
                                <m:r>
                                  <a:rPr lang="en-US" i="1">
                                    <a:latin typeface="Cambria Math" panose="02040503050406030204" pitchFamily="18" charset="0"/>
                                  </a:rPr>
                                  <m:t>1</m:t>
                                </m:r>
                                <m:r>
                                  <a:rPr lang="en-US" b="0" i="1" smtClean="0">
                                    <a:latin typeface="Cambria Math" panose="02040503050406030204" pitchFamily="18" charset="0"/>
                                  </a:rPr>
                                  <m:t>4</m:t>
                                </m:r>
                                <m:r>
                                  <a:rPr lang="en-US" i="1">
                                    <a:latin typeface="Cambria Math" panose="02040503050406030204" pitchFamily="18" charset="0"/>
                                  </a:rPr>
                                  <m:t>0</m:t>
                                </m:r>
                              </m:e>
                            </m:mr>
                            <m:mr>
                              <m:e>
                                <m:r>
                                  <a:rPr lang="en-US" b="0" i="1" smtClean="0">
                                    <a:latin typeface="Cambria Math" panose="02040503050406030204" pitchFamily="18" charset="0"/>
                                  </a:rPr>
                                  <m:t>6</m:t>
                                </m:r>
                                <m:r>
                                  <a:rPr lang="en-US" i="1">
                                    <a:latin typeface="Cambria Math" panose="02040503050406030204" pitchFamily="18" charset="0"/>
                                  </a:rPr>
                                  <m:t>0</m:t>
                                </m:r>
                              </m:e>
                              <m:e>
                                <m:r>
                                  <a:rPr lang="en-US" i="1">
                                    <a:latin typeface="Cambria Math" panose="02040503050406030204" pitchFamily="18" charset="0"/>
                                  </a:rPr>
                                  <m:t>1</m:t>
                                </m:r>
                                <m:r>
                                  <a:rPr lang="en-US" b="0" i="1" smtClean="0">
                                    <a:latin typeface="Cambria Math" panose="02040503050406030204" pitchFamily="18" charset="0"/>
                                  </a:rPr>
                                  <m:t>9</m:t>
                                </m:r>
                                <m:r>
                                  <a:rPr lang="en-US" i="1">
                                    <a:latin typeface="Cambria Math" panose="02040503050406030204" pitchFamily="18" charset="0"/>
                                  </a:rPr>
                                  <m:t>0</m:t>
                                </m:r>
                              </m:e>
                              <m:e>
                                <m:r>
                                  <a:rPr lang="en-US" i="1">
                                    <a:latin typeface="Cambria Math" panose="02040503050406030204" pitchFamily="18" charset="0"/>
                                  </a:rPr>
                                  <m:t>2</m:t>
                                </m:r>
                                <m:r>
                                  <a:rPr lang="en-US" b="0" i="1" smtClean="0">
                                    <a:latin typeface="Cambria Math" panose="02040503050406030204" pitchFamily="18" charset="0"/>
                                  </a:rPr>
                                  <m:t>4</m:t>
                                </m:r>
                                <m:r>
                                  <a:rPr lang="en-US" i="1">
                                    <a:latin typeface="Cambria Math" panose="02040503050406030204" pitchFamily="18" charset="0"/>
                                  </a:rPr>
                                  <m:t>0</m:t>
                                </m:r>
                              </m:e>
                            </m:mr>
                            <m:mr>
                              <m:e>
                                <m:r>
                                  <a:rPr lang="en-US" b="0" i="1" smtClean="0">
                                    <a:latin typeface="Cambria Math" panose="02040503050406030204" pitchFamily="18" charset="0"/>
                                  </a:rPr>
                                  <m:t>7</m:t>
                                </m:r>
                                <m:r>
                                  <a:rPr lang="en-US" i="1">
                                    <a:latin typeface="Cambria Math" panose="02040503050406030204" pitchFamily="18" charset="0"/>
                                  </a:rPr>
                                  <m:t>0</m:t>
                                </m:r>
                              </m:e>
                              <m:e>
                                <m:r>
                                  <a:rPr lang="en-US" i="1">
                                    <a:latin typeface="Cambria Math" panose="02040503050406030204" pitchFamily="18" charset="0"/>
                                  </a:rPr>
                                  <m:t>2</m:t>
                                </m:r>
                                <m:r>
                                  <a:rPr lang="en-US" b="0" i="1" smtClean="0">
                                    <a:latin typeface="Cambria Math" panose="02040503050406030204" pitchFamily="18" charset="0"/>
                                  </a:rPr>
                                  <m:t>55</m:t>
                                </m:r>
                              </m:e>
                              <m:e>
                                <m:r>
                                  <a:rPr lang="en-US" i="1">
                                    <a:latin typeface="Cambria Math" panose="02040503050406030204" pitchFamily="18" charset="0"/>
                                  </a:rPr>
                                  <m:t>255</m:t>
                                </m:r>
                              </m:e>
                            </m:mr>
                          </m:m>
                        </m:e>
                      </m:d>
                    </m:oMath>
                  </m:oMathPara>
                </a14:m>
                <a:endParaRPr lang="en-US" dirty="0"/>
              </a:p>
            </p:txBody>
          </p:sp>
        </mc:Choice>
        <mc:Fallback xmlns="">
          <p:sp>
            <p:nvSpPr>
              <p:cNvPr id="7" name="TextBox 6">
                <a:extLst>
                  <a:ext uri="{FF2B5EF4-FFF2-40B4-BE49-F238E27FC236}">
                    <a16:creationId xmlns:a16="http://schemas.microsoft.com/office/drawing/2014/main" id="{F014DD22-B9AD-9FEE-B74A-42B0C5639069}"/>
                  </a:ext>
                </a:extLst>
              </p:cNvPr>
              <p:cNvSpPr txBox="1">
                <a:spLocks noRot="1" noChangeAspect="1" noMove="1" noResize="1" noEditPoints="1" noAdjustHandles="1" noChangeArrowheads="1" noChangeShapeType="1" noTextEdit="1"/>
              </p:cNvSpPr>
              <p:nvPr/>
            </p:nvSpPr>
            <p:spPr>
              <a:xfrm>
                <a:off x="5263376" y="2859772"/>
                <a:ext cx="2132113" cy="666464"/>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3990365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38A196-21D3-D29B-1904-0FC6653EF6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6ECF96-E0E2-70F8-4C05-4D772F9EB278}"/>
              </a:ext>
            </a:extLst>
          </p:cNvPr>
          <p:cNvSpPr>
            <a:spLocks noGrp="1"/>
          </p:cNvSpPr>
          <p:nvPr>
            <p:ph type="title"/>
          </p:nvPr>
        </p:nvSpPr>
        <p:spPr/>
        <p:txBody>
          <a:bodyPr/>
          <a:lstStyle/>
          <a:p>
            <a:r>
              <a:rPr lang="en-US" dirty="0"/>
              <a:t>Interpretation in Image</a:t>
            </a:r>
          </a:p>
        </p:txBody>
      </p:sp>
      <p:sp>
        <p:nvSpPr>
          <p:cNvPr id="3" name="Text Placeholder 2">
            <a:extLst>
              <a:ext uri="{FF2B5EF4-FFF2-40B4-BE49-F238E27FC236}">
                <a16:creationId xmlns:a16="http://schemas.microsoft.com/office/drawing/2014/main" id="{DABD9F14-41DA-EA16-848E-4697DDC8BAFC}"/>
              </a:ext>
            </a:extLst>
          </p:cNvPr>
          <p:cNvSpPr>
            <a:spLocks noGrp="1"/>
          </p:cNvSpPr>
          <p:nvPr>
            <p:ph type="body" idx="1"/>
          </p:nvPr>
        </p:nvSpPr>
        <p:spPr>
          <a:xfrm>
            <a:off x="653093" y="4175016"/>
            <a:ext cx="7704000" cy="802889"/>
          </a:xfrm>
        </p:spPr>
        <p:txBody>
          <a:bodyPr/>
          <a:lstStyle/>
          <a:p>
            <a:pPr marL="0" marR="0" indent="0" algn="l">
              <a:lnSpc>
                <a:spcPct val="56435"/>
              </a:lnSpc>
              <a:buNone/>
            </a:pPr>
            <a:r>
              <a:rPr lang="en-US" sz="1200" b="0" i="0" dirty="0">
                <a:solidFill>
                  <a:srgbClr val="333333"/>
                </a:solidFill>
                <a:effectLst/>
                <a:latin typeface="Courier New" panose="02070309020205020404" pitchFamily="49" charset="0"/>
              </a:rPr>
              <a:t>result = </a:t>
            </a:r>
            <a:r>
              <a:rPr lang="en-US" sz="1200" b="0" i="0" dirty="0" err="1">
                <a:solidFill>
                  <a:srgbClr val="333333"/>
                </a:solidFill>
                <a:effectLst/>
                <a:latin typeface="Courier New" panose="02070309020205020404" pitchFamily="49" charset="0"/>
              </a:rPr>
              <a:t>citra.astype</a:t>
            </a:r>
            <a:r>
              <a:rPr lang="en-US" sz="1200" b="0" i="0" dirty="0">
                <a:solidFill>
                  <a:srgbClr val="333333"/>
                </a:solidFill>
                <a:effectLst/>
                <a:latin typeface="Courier New" panose="02070309020205020404" pitchFamily="49" charset="0"/>
              </a:rPr>
              <a:t>(</a:t>
            </a:r>
            <a:r>
              <a:rPr lang="en-US" sz="1200" b="0" i="0" dirty="0">
                <a:solidFill>
                  <a:srgbClr val="007020"/>
                </a:solidFill>
                <a:effectLst/>
                <a:latin typeface="Courier New" panose="02070309020205020404" pitchFamily="49" charset="0"/>
              </a:rPr>
              <a:t>int</a:t>
            </a:r>
            <a:r>
              <a:rPr lang="en-US" sz="1200" b="0" i="0" dirty="0">
                <a:solidFill>
                  <a:srgbClr val="333333"/>
                </a:solidFill>
                <a:effectLst/>
                <a:latin typeface="Courier New" panose="02070309020205020404" pitchFamily="49" charset="0"/>
              </a:rPr>
              <a:t>) + c</a:t>
            </a:r>
          </a:p>
          <a:p>
            <a:pPr marL="0" marR="0" indent="0" algn="l">
              <a:lnSpc>
                <a:spcPct val="56435"/>
              </a:lnSpc>
              <a:buNone/>
            </a:pPr>
            <a:r>
              <a:rPr lang="en-US" sz="1200" b="0" i="0" dirty="0">
                <a:solidFill>
                  <a:srgbClr val="333333"/>
                </a:solidFill>
                <a:effectLst/>
                <a:latin typeface="Courier New" panose="02070309020205020404" pitchFamily="49" charset="0"/>
              </a:rPr>
              <a:t>    </a:t>
            </a:r>
            <a:r>
              <a:rPr lang="en-US" sz="1200" b="1" i="0" dirty="0">
                <a:solidFill>
                  <a:srgbClr val="008800"/>
                </a:solidFill>
                <a:effectLst/>
                <a:latin typeface="Courier New" panose="02070309020205020404" pitchFamily="49" charset="0"/>
              </a:rPr>
              <a:t>return</a:t>
            </a:r>
            <a:r>
              <a:rPr lang="en-US" sz="1200" b="0" i="0" dirty="0">
                <a:solidFill>
                  <a:srgbClr val="333333"/>
                </a:solidFill>
                <a:effectLst/>
                <a:latin typeface="Courier New" panose="02070309020205020404" pitchFamily="49" charset="0"/>
              </a:rPr>
              <a:t> </a:t>
            </a:r>
            <a:r>
              <a:rPr lang="en-US" sz="1200" b="0" i="0" dirty="0" err="1">
                <a:solidFill>
                  <a:srgbClr val="333333"/>
                </a:solidFill>
                <a:effectLst/>
                <a:latin typeface="Courier New" panose="02070309020205020404" pitchFamily="49" charset="0"/>
              </a:rPr>
              <a:t>np.clip</a:t>
            </a:r>
            <a:r>
              <a:rPr lang="en-US" sz="1200" b="0" i="0" dirty="0">
                <a:solidFill>
                  <a:srgbClr val="333333"/>
                </a:solidFill>
                <a:effectLst/>
                <a:latin typeface="Courier New" panose="02070309020205020404" pitchFamily="49" charset="0"/>
              </a:rPr>
              <a:t>(result, </a:t>
            </a:r>
            <a:r>
              <a:rPr lang="en-US" sz="1200" b="1" i="0" dirty="0">
                <a:solidFill>
                  <a:srgbClr val="0000DD"/>
                </a:solidFill>
                <a:effectLst/>
                <a:latin typeface="Courier New" panose="02070309020205020404" pitchFamily="49" charset="0"/>
              </a:rPr>
              <a:t>0</a:t>
            </a:r>
            <a:r>
              <a:rPr lang="en-US" sz="1200" b="0" i="0" dirty="0">
                <a:solidFill>
                  <a:srgbClr val="333333"/>
                </a:solidFill>
                <a:effectLst/>
                <a:latin typeface="Courier New" panose="02070309020205020404" pitchFamily="49" charset="0"/>
              </a:rPr>
              <a:t>, </a:t>
            </a:r>
            <a:r>
              <a:rPr lang="en-US" sz="1200" b="1" i="0" dirty="0">
                <a:solidFill>
                  <a:srgbClr val="0000DD"/>
                </a:solidFill>
                <a:effectLst/>
                <a:latin typeface="Courier New" panose="02070309020205020404" pitchFamily="49" charset="0"/>
              </a:rPr>
              <a:t>255</a:t>
            </a:r>
            <a:r>
              <a:rPr lang="en-US" sz="1200" b="0" i="0" dirty="0">
                <a:solidFill>
                  <a:srgbClr val="333333"/>
                </a:solidFill>
                <a:effectLst/>
                <a:latin typeface="Courier New" panose="02070309020205020404" pitchFamily="49" charset="0"/>
              </a:rPr>
              <a:t>).</a:t>
            </a:r>
            <a:r>
              <a:rPr lang="en-US" sz="1200" b="0" i="0" dirty="0" err="1">
                <a:solidFill>
                  <a:srgbClr val="333333"/>
                </a:solidFill>
                <a:effectLst/>
                <a:latin typeface="Courier New" panose="02070309020205020404" pitchFamily="49" charset="0"/>
              </a:rPr>
              <a:t>astype</a:t>
            </a:r>
            <a:r>
              <a:rPr lang="en-US" sz="1200" b="0" i="0" dirty="0">
                <a:solidFill>
                  <a:srgbClr val="333333"/>
                </a:solidFill>
                <a:effectLst/>
                <a:latin typeface="Courier New" panose="02070309020205020404" pitchFamily="49" charset="0"/>
              </a:rPr>
              <a:t>(np.uint8)</a:t>
            </a:r>
          </a:p>
          <a:p>
            <a:pPr marL="0" marR="0" indent="0" algn="l">
              <a:lnSpc>
                <a:spcPct val="56435"/>
              </a:lnSpc>
              <a:buNone/>
            </a:pPr>
            <a:endParaRPr lang="en-US" sz="1200" b="0" i="0" dirty="0">
              <a:solidFill>
                <a:srgbClr val="333333"/>
              </a:solidFill>
              <a:effectLst/>
              <a:latin typeface="Courier New" panose="02070309020205020404" pitchFamily="49" charset="0"/>
            </a:endParaRPr>
          </a:p>
          <a:p>
            <a:pPr marL="0" marR="0" indent="0" algn="l">
              <a:lnSpc>
                <a:spcPct val="56435"/>
              </a:lnSpc>
              <a:buNone/>
            </a:pPr>
            <a:r>
              <a:rPr lang="en-US" sz="1200" b="0" i="0" dirty="0" err="1">
                <a:solidFill>
                  <a:srgbClr val="333333"/>
                </a:solidFill>
                <a:effectLst/>
                <a:latin typeface="Courier New" panose="02070309020205020404" pitchFamily="49" charset="0"/>
              </a:rPr>
              <a:t>citra_bright</a:t>
            </a:r>
            <a:r>
              <a:rPr lang="en-US" sz="1200" b="0" i="0" dirty="0">
                <a:solidFill>
                  <a:srgbClr val="333333"/>
                </a:solidFill>
                <a:effectLst/>
                <a:latin typeface="Courier New" panose="02070309020205020404" pitchFamily="49" charset="0"/>
              </a:rPr>
              <a:t> = </a:t>
            </a:r>
            <a:r>
              <a:rPr lang="en-US" sz="1200" b="0" i="0" dirty="0" err="1">
                <a:solidFill>
                  <a:srgbClr val="333333"/>
                </a:solidFill>
                <a:effectLst/>
                <a:latin typeface="Courier New" panose="02070309020205020404" pitchFamily="49" charset="0"/>
              </a:rPr>
              <a:t>geser_histogram</a:t>
            </a:r>
            <a:r>
              <a:rPr lang="en-US" sz="1200" b="0" i="0" dirty="0">
                <a:solidFill>
                  <a:srgbClr val="333333"/>
                </a:solidFill>
                <a:effectLst/>
                <a:latin typeface="Courier New" panose="02070309020205020404" pitchFamily="49" charset="0"/>
              </a:rPr>
              <a:t>(</a:t>
            </a:r>
            <a:r>
              <a:rPr lang="en-US" sz="1200" b="0" i="0" dirty="0" err="1">
                <a:solidFill>
                  <a:srgbClr val="333333"/>
                </a:solidFill>
                <a:effectLst/>
                <a:latin typeface="Courier New" panose="02070309020205020404" pitchFamily="49" charset="0"/>
              </a:rPr>
              <a:t>citra_gray</a:t>
            </a:r>
            <a:r>
              <a:rPr lang="en-US" sz="1200" b="0" i="0" dirty="0">
                <a:solidFill>
                  <a:srgbClr val="333333"/>
                </a:solidFill>
                <a:effectLst/>
                <a:latin typeface="Courier New" panose="02070309020205020404" pitchFamily="49" charset="0"/>
              </a:rPr>
              <a:t>, c=</a:t>
            </a:r>
            <a:r>
              <a:rPr lang="en-US" sz="1200" b="1" i="0" dirty="0">
                <a:solidFill>
                  <a:srgbClr val="0000DD"/>
                </a:solidFill>
                <a:effectLst/>
                <a:latin typeface="Courier New" panose="02070309020205020404" pitchFamily="49" charset="0"/>
              </a:rPr>
              <a:t>40</a:t>
            </a:r>
            <a:r>
              <a:rPr lang="en-US" sz="1200" b="0" i="0" dirty="0">
                <a:solidFill>
                  <a:srgbClr val="333333"/>
                </a:solidFill>
                <a:effectLst/>
                <a:latin typeface="Courier New" panose="02070309020205020404" pitchFamily="49" charset="0"/>
              </a:rPr>
              <a:t>)   </a:t>
            </a:r>
            <a:r>
              <a:rPr lang="en-US" sz="1200" b="0" i="0" dirty="0">
                <a:solidFill>
                  <a:srgbClr val="888888"/>
                </a:solidFill>
                <a:effectLst/>
                <a:latin typeface="Courier New" panose="02070309020205020404" pitchFamily="49" charset="0"/>
              </a:rPr>
              <a:t># swipe right (brighter)</a:t>
            </a:r>
          </a:p>
          <a:p>
            <a:pPr marL="0" marR="0" indent="0" algn="l">
              <a:lnSpc>
                <a:spcPct val="56435"/>
              </a:lnSpc>
              <a:buNone/>
            </a:pPr>
            <a:endParaRPr lang="en-US" sz="1200" b="0" i="0" dirty="0">
              <a:solidFill>
                <a:srgbClr val="333333"/>
              </a:solidFill>
              <a:effectLst/>
              <a:latin typeface="Courier New" panose="02070309020205020404" pitchFamily="49" charset="0"/>
            </a:endParaRPr>
          </a:p>
          <a:p>
            <a:pPr marL="0" marR="0" indent="0" algn="l">
              <a:lnSpc>
                <a:spcPct val="56435"/>
              </a:lnSpc>
              <a:buNone/>
            </a:pPr>
            <a:r>
              <a:rPr lang="en-US" sz="1200" b="0" i="0" dirty="0" err="1">
                <a:solidFill>
                  <a:srgbClr val="333333"/>
                </a:solidFill>
                <a:effectLst/>
                <a:latin typeface="Courier New" panose="02070309020205020404" pitchFamily="49" charset="0"/>
              </a:rPr>
              <a:t>citra_dark</a:t>
            </a:r>
            <a:r>
              <a:rPr lang="en-US" sz="1200" b="0" i="0" dirty="0">
                <a:solidFill>
                  <a:srgbClr val="333333"/>
                </a:solidFill>
                <a:effectLst/>
                <a:latin typeface="Courier New" panose="02070309020205020404" pitchFamily="49" charset="0"/>
              </a:rPr>
              <a:t>  = </a:t>
            </a:r>
            <a:r>
              <a:rPr lang="en-US" sz="1200" b="0" i="0" dirty="0" err="1">
                <a:solidFill>
                  <a:srgbClr val="333333"/>
                </a:solidFill>
                <a:effectLst/>
                <a:latin typeface="Courier New" panose="02070309020205020404" pitchFamily="49" charset="0"/>
              </a:rPr>
              <a:t>geser_histogram</a:t>
            </a:r>
            <a:r>
              <a:rPr lang="en-US" sz="1200" b="0" i="0" dirty="0">
                <a:solidFill>
                  <a:srgbClr val="333333"/>
                </a:solidFill>
                <a:effectLst/>
                <a:latin typeface="Courier New" panose="02070309020205020404" pitchFamily="49" charset="0"/>
              </a:rPr>
              <a:t>(</a:t>
            </a:r>
            <a:r>
              <a:rPr lang="en-US" sz="1200" b="0" i="0" dirty="0" err="1">
                <a:solidFill>
                  <a:srgbClr val="333333"/>
                </a:solidFill>
                <a:effectLst/>
                <a:latin typeface="Courier New" panose="02070309020205020404" pitchFamily="49" charset="0"/>
              </a:rPr>
              <a:t>citra_gray</a:t>
            </a:r>
            <a:r>
              <a:rPr lang="en-US" sz="1200" b="0" i="0" dirty="0">
                <a:solidFill>
                  <a:srgbClr val="333333"/>
                </a:solidFill>
                <a:effectLst/>
                <a:latin typeface="Courier New" panose="02070309020205020404" pitchFamily="49" charset="0"/>
              </a:rPr>
              <a:t>, c=-</a:t>
            </a:r>
            <a:r>
              <a:rPr lang="en-US" sz="1200" b="1" i="0" dirty="0">
                <a:solidFill>
                  <a:srgbClr val="0000DD"/>
                </a:solidFill>
                <a:effectLst/>
                <a:latin typeface="Courier New" panose="02070309020205020404" pitchFamily="49" charset="0"/>
              </a:rPr>
              <a:t>40</a:t>
            </a:r>
            <a:r>
              <a:rPr lang="en-US" sz="1200" b="0" i="0" dirty="0">
                <a:solidFill>
                  <a:srgbClr val="333333"/>
                </a:solidFill>
                <a:effectLst/>
                <a:latin typeface="Courier New" panose="02070309020205020404" pitchFamily="49" charset="0"/>
              </a:rPr>
              <a:t>)  </a:t>
            </a:r>
            <a:r>
              <a:rPr lang="en-US" sz="1200" b="0" i="0" dirty="0">
                <a:solidFill>
                  <a:srgbClr val="888888"/>
                </a:solidFill>
                <a:effectLst/>
                <a:latin typeface="Courier New" panose="02070309020205020404" pitchFamily="49" charset="0"/>
              </a:rPr>
              <a:t># swipe left(darker)</a:t>
            </a:r>
            <a:endParaRPr lang="en-US" sz="1200" b="0" i="0" dirty="0">
              <a:solidFill>
                <a:srgbClr val="333333"/>
              </a:solidFill>
              <a:effectLst/>
              <a:latin typeface="Courier New" panose="02070309020205020404" pitchFamily="49" charset="0"/>
            </a:endParaRPr>
          </a:p>
        </p:txBody>
      </p:sp>
      <p:pic>
        <p:nvPicPr>
          <p:cNvPr id="4" name="Picture 3">
            <a:extLst>
              <a:ext uri="{FF2B5EF4-FFF2-40B4-BE49-F238E27FC236}">
                <a16:creationId xmlns:a16="http://schemas.microsoft.com/office/drawing/2014/main" id="{71F8625B-ABC4-47B7-2EDD-4A681AC11D63}"/>
              </a:ext>
            </a:extLst>
          </p:cNvPr>
          <p:cNvPicPr>
            <a:picLocks noChangeAspect="1"/>
          </p:cNvPicPr>
          <p:nvPr/>
        </p:nvPicPr>
        <p:blipFill>
          <a:blip r:embed="rId2"/>
          <a:stretch>
            <a:fillRect/>
          </a:stretch>
        </p:blipFill>
        <p:spPr>
          <a:xfrm>
            <a:off x="773336" y="986240"/>
            <a:ext cx="7551394" cy="1585510"/>
          </a:xfrm>
          <a:prstGeom prst="rect">
            <a:avLst/>
          </a:prstGeom>
        </p:spPr>
      </p:pic>
      <p:pic>
        <p:nvPicPr>
          <p:cNvPr id="10" name="Picture 9">
            <a:extLst>
              <a:ext uri="{FF2B5EF4-FFF2-40B4-BE49-F238E27FC236}">
                <a16:creationId xmlns:a16="http://schemas.microsoft.com/office/drawing/2014/main" id="{BCB63E3B-A8AC-D158-750E-7B2D9B5A35F7}"/>
              </a:ext>
            </a:extLst>
          </p:cNvPr>
          <p:cNvPicPr>
            <a:picLocks noChangeAspect="1"/>
          </p:cNvPicPr>
          <p:nvPr/>
        </p:nvPicPr>
        <p:blipFill>
          <a:blip r:embed="rId3"/>
          <a:stretch>
            <a:fillRect/>
          </a:stretch>
        </p:blipFill>
        <p:spPr>
          <a:xfrm>
            <a:off x="773336" y="2571750"/>
            <a:ext cx="7597325" cy="1491171"/>
          </a:xfrm>
          <a:prstGeom prst="rect">
            <a:avLst/>
          </a:prstGeom>
        </p:spPr>
      </p:pic>
    </p:spTree>
    <p:extLst>
      <p:ext uri="{BB962C8B-B14F-4D97-AF65-F5344CB8AC3E}">
        <p14:creationId xmlns:p14="http://schemas.microsoft.com/office/powerpoint/2010/main" val="12325226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C321E-73BA-5257-2992-D78C2757C1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130BB3-12C1-9972-9E86-8637DA8FBBE7}"/>
              </a:ext>
            </a:extLst>
          </p:cNvPr>
          <p:cNvSpPr>
            <a:spLocks noGrp="1"/>
          </p:cNvSpPr>
          <p:nvPr>
            <p:ph type="title"/>
          </p:nvPr>
        </p:nvSpPr>
        <p:spPr>
          <a:xfrm>
            <a:off x="720000" y="445025"/>
            <a:ext cx="8000254" cy="572700"/>
          </a:xfrm>
        </p:spPr>
        <p:txBody>
          <a:bodyPr/>
          <a:lstStyle/>
          <a:p>
            <a:r>
              <a:rPr lang="en-US" dirty="0"/>
              <a:t>FILTERING</a:t>
            </a:r>
          </a:p>
        </p:txBody>
      </p:sp>
      <p:sp>
        <p:nvSpPr>
          <p:cNvPr id="3" name="Text Placeholder 2">
            <a:extLst>
              <a:ext uri="{FF2B5EF4-FFF2-40B4-BE49-F238E27FC236}">
                <a16:creationId xmlns:a16="http://schemas.microsoft.com/office/drawing/2014/main" id="{4B49E088-9FFA-2FFE-F51B-E49E91F71E90}"/>
              </a:ext>
            </a:extLst>
          </p:cNvPr>
          <p:cNvSpPr>
            <a:spLocks noGrp="1"/>
          </p:cNvSpPr>
          <p:nvPr>
            <p:ph type="body" idx="1"/>
          </p:nvPr>
        </p:nvSpPr>
        <p:spPr>
          <a:xfrm>
            <a:off x="571872" y="1021070"/>
            <a:ext cx="8000255" cy="3677405"/>
          </a:xfrm>
        </p:spPr>
        <p:txBody>
          <a:bodyPr/>
          <a:lstStyle/>
          <a:p>
            <a:r>
              <a:rPr lang="en-US" dirty="0"/>
              <a:t>Statistical filtering (order-statistic filtering) is a filtering technique that sorts pixel values ​​within a neighborhood window and then selects one of the order statistics as the output value such as the median, minimum, maximum, or mode. </a:t>
            </a:r>
          </a:p>
          <a:p>
            <a:pPr marL="177800" indent="0">
              <a:buNone/>
            </a:pPr>
            <a:endParaRPr lang="en-US" dirty="0"/>
          </a:p>
        </p:txBody>
      </p:sp>
      <p:graphicFrame>
        <p:nvGraphicFramePr>
          <p:cNvPr id="4" name="Table 3">
            <a:extLst>
              <a:ext uri="{FF2B5EF4-FFF2-40B4-BE49-F238E27FC236}">
                <a16:creationId xmlns:a16="http://schemas.microsoft.com/office/drawing/2014/main" id="{B4999342-F7A4-5114-6AB0-0B761CD69537}"/>
              </a:ext>
            </a:extLst>
          </p:cNvPr>
          <p:cNvGraphicFramePr>
            <a:graphicFrameLocks noGrp="1"/>
          </p:cNvGraphicFramePr>
          <p:nvPr>
            <p:extLst>
              <p:ext uri="{D42A27DB-BD31-4B8C-83A1-F6EECF244321}">
                <p14:modId xmlns:p14="http://schemas.microsoft.com/office/powerpoint/2010/main" val="3356214223"/>
              </p:ext>
            </p:extLst>
          </p:nvPr>
        </p:nvGraphicFramePr>
        <p:xfrm>
          <a:off x="921834" y="2078615"/>
          <a:ext cx="7597698" cy="2443480"/>
        </p:xfrm>
        <a:graphic>
          <a:graphicData uri="http://schemas.openxmlformats.org/drawingml/2006/table">
            <a:tbl>
              <a:tblPr firstRow="1" bandRow="1">
                <a:tableStyleId>{647A7D3A-C76E-4340-B591-1BAF9B2FF1C5}</a:tableStyleId>
              </a:tblPr>
              <a:tblGrid>
                <a:gridCol w="1379778">
                  <a:extLst>
                    <a:ext uri="{9D8B030D-6E8A-4147-A177-3AD203B41FA5}">
                      <a16:colId xmlns:a16="http://schemas.microsoft.com/office/drawing/2014/main" val="2336977304"/>
                    </a:ext>
                  </a:extLst>
                </a:gridCol>
                <a:gridCol w="3126802">
                  <a:extLst>
                    <a:ext uri="{9D8B030D-6E8A-4147-A177-3AD203B41FA5}">
                      <a16:colId xmlns:a16="http://schemas.microsoft.com/office/drawing/2014/main" val="192777368"/>
                    </a:ext>
                  </a:extLst>
                </a:gridCol>
                <a:gridCol w="3091118">
                  <a:extLst>
                    <a:ext uri="{9D8B030D-6E8A-4147-A177-3AD203B41FA5}">
                      <a16:colId xmlns:a16="http://schemas.microsoft.com/office/drawing/2014/main" val="2256159843"/>
                    </a:ext>
                  </a:extLst>
                </a:gridCol>
              </a:tblGrid>
              <a:tr h="370840">
                <a:tc>
                  <a:txBody>
                    <a:bodyPr/>
                    <a:lstStyle/>
                    <a:p>
                      <a:r>
                        <a:rPr lang="en-US" dirty="0"/>
                        <a:t>Filter</a:t>
                      </a:r>
                    </a:p>
                  </a:txBody>
                  <a:tcPr/>
                </a:tc>
                <a:tc>
                  <a:txBody>
                    <a:bodyPr/>
                    <a:lstStyle/>
                    <a:p>
                      <a:r>
                        <a:rPr lang="en-US" dirty="0"/>
                        <a:t>How It Works</a:t>
                      </a:r>
                    </a:p>
                  </a:txBody>
                  <a:tcPr/>
                </a:tc>
                <a:tc>
                  <a:txBody>
                    <a:bodyPr/>
                    <a:lstStyle/>
                    <a:p>
                      <a:r>
                        <a:rPr lang="en-US" dirty="0"/>
                        <a:t>Main Uses</a:t>
                      </a:r>
                    </a:p>
                  </a:txBody>
                  <a:tcPr/>
                </a:tc>
                <a:extLst>
                  <a:ext uri="{0D108BD9-81ED-4DB2-BD59-A6C34878D82A}">
                    <a16:rowId xmlns:a16="http://schemas.microsoft.com/office/drawing/2014/main" val="625979072"/>
                  </a:ext>
                </a:extLst>
              </a:tr>
              <a:tr h="370840">
                <a:tc>
                  <a:txBody>
                    <a:bodyPr/>
                    <a:lstStyle/>
                    <a:p>
                      <a:r>
                        <a:rPr lang="en-US" dirty="0"/>
                        <a:t>Median Filter </a:t>
                      </a:r>
                    </a:p>
                  </a:txBody>
                  <a:tcPr/>
                </a:tc>
                <a:tc>
                  <a:txBody>
                    <a:bodyPr/>
                    <a:lstStyle/>
                    <a:p>
                      <a:r>
                        <a:rPr lang="en-US" dirty="0"/>
                        <a:t>Taking the median value from the sorted window</a:t>
                      </a:r>
                    </a:p>
                  </a:txBody>
                  <a:tcPr/>
                </a:tc>
                <a:tc>
                  <a:txBody>
                    <a:bodyPr/>
                    <a:lstStyle/>
                    <a:p>
                      <a:r>
                        <a:rPr lang="en-US" dirty="0"/>
                        <a:t>Removing salt-and-pepper noise without excessively blurring edges</a:t>
                      </a:r>
                    </a:p>
                  </a:txBody>
                  <a:tcPr/>
                </a:tc>
                <a:extLst>
                  <a:ext uri="{0D108BD9-81ED-4DB2-BD59-A6C34878D82A}">
                    <a16:rowId xmlns:a16="http://schemas.microsoft.com/office/drawing/2014/main" val="1526159081"/>
                  </a:ext>
                </a:extLst>
              </a:tr>
              <a:tr h="370840">
                <a:tc>
                  <a:txBody>
                    <a:bodyPr/>
                    <a:lstStyle/>
                    <a:p>
                      <a:r>
                        <a:rPr lang="en-US" dirty="0"/>
                        <a:t>Min Filter</a:t>
                      </a:r>
                    </a:p>
                  </a:txBody>
                  <a:tcPr/>
                </a:tc>
                <a:tc>
                  <a:txBody>
                    <a:bodyPr/>
                    <a:lstStyle/>
                    <a:p>
                      <a:r>
                        <a:rPr lang="en-US" dirty="0"/>
                        <a:t>Takes the smallest value in the window</a:t>
                      </a:r>
                    </a:p>
                  </a:txBody>
                  <a:tcPr/>
                </a:tc>
                <a:tc>
                  <a:txBody>
                    <a:bodyPr/>
                    <a:lstStyle/>
                    <a:p>
                      <a:r>
                        <a:rPr lang="en-US" dirty="0"/>
                        <a:t>Removes bright noise (salt noise), darkens the image</a:t>
                      </a:r>
                    </a:p>
                  </a:txBody>
                  <a:tcPr/>
                </a:tc>
                <a:extLst>
                  <a:ext uri="{0D108BD9-81ED-4DB2-BD59-A6C34878D82A}">
                    <a16:rowId xmlns:a16="http://schemas.microsoft.com/office/drawing/2014/main" val="305639038"/>
                  </a:ext>
                </a:extLst>
              </a:tr>
              <a:tr h="370840">
                <a:tc>
                  <a:txBody>
                    <a:bodyPr/>
                    <a:lstStyle/>
                    <a:p>
                      <a:r>
                        <a:rPr lang="en-US" dirty="0"/>
                        <a:t>Max Filter</a:t>
                      </a:r>
                    </a:p>
                  </a:txBody>
                  <a:tcPr/>
                </a:tc>
                <a:tc>
                  <a:txBody>
                    <a:bodyPr/>
                    <a:lstStyle/>
                    <a:p>
                      <a:r>
                        <a:rPr lang="en-US" dirty="0"/>
                        <a:t>Taking the maximum value within the window</a:t>
                      </a:r>
                    </a:p>
                  </a:txBody>
                  <a:tcPr/>
                </a:tc>
                <a:tc>
                  <a:txBody>
                    <a:bodyPr/>
                    <a:lstStyle/>
                    <a:p>
                      <a:r>
                        <a:rPr lang="en-US" dirty="0"/>
                        <a:t>Removing dark noise (pepper noise), brightening the image</a:t>
                      </a:r>
                    </a:p>
                  </a:txBody>
                  <a:tcPr/>
                </a:tc>
                <a:extLst>
                  <a:ext uri="{0D108BD9-81ED-4DB2-BD59-A6C34878D82A}">
                    <a16:rowId xmlns:a16="http://schemas.microsoft.com/office/drawing/2014/main" val="1835840853"/>
                  </a:ext>
                </a:extLst>
              </a:tr>
              <a:tr h="370840">
                <a:tc>
                  <a:txBody>
                    <a:bodyPr/>
                    <a:lstStyle/>
                    <a:p>
                      <a:r>
                        <a:rPr lang="en-US" dirty="0"/>
                        <a:t>Mode Filter</a:t>
                      </a:r>
                    </a:p>
                  </a:txBody>
                  <a:tcPr/>
                </a:tc>
                <a:tc>
                  <a:txBody>
                    <a:bodyPr/>
                    <a:lstStyle/>
                    <a:p>
                      <a:r>
                        <a:rPr lang="en-US" dirty="0"/>
                        <a:t>Taking the most frequently occurring value within the window</a:t>
                      </a:r>
                    </a:p>
                  </a:txBody>
                  <a:tcPr/>
                </a:tc>
                <a:tc>
                  <a:txBody>
                    <a:bodyPr/>
                    <a:lstStyle/>
                    <a:p>
                      <a:r>
                        <a:rPr lang="en-US" dirty="0"/>
                        <a:t>Smoothing images with large homogeneous areas</a:t>
                      </a:r>
                    </a:p>
                  </a:txBody>
                  <a:tcPr/>
                </a:tc>
                <a:extLst>
                  <a:ext uri="{0D108BD9-81ED-4DB2-BD59-A6C34878D82A}">
                    <a16:rowId xmlns:a16="http://schemas.microsoft.com/office/drawing/2014/main" val="1328950200"/>
                  </a:ext>
                </a:extLst>
              </a:tr>
            </a:tbl>
          </a:graphicData>
        </a:graphic>
      </p:graphicFrame>
    </p:spTree>
    <p:extLst>
      <p:ext uri="{BB962C8B-B14F-4D97-AF65-F5344CB8AC3E}">
        <p14:creationId xmlns:p14="http://schemas.microsoft.com/office/powerpoint/2010/main" val="4379618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C7D4D-5EDD-32D4-E04F-890552B45E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AB1D1A-488B-B398-459F-C175212D5D84}"/>
              </a:ext>
            </a:extLst>
          </p:cNvPr>
          <p:cNvSpPr>
            <a:spLocks noGrp="1"/>
          </p:cNvSpPr>
          <p:nvPr>
            <p:ph type="title"/>
          </p:nvPr>
        </p:nvSpPr>
        <p:spPr>
          <a:xfrm>
            <a:off x="720000" y="445025"/>
            <a:ext cx="8000254" cy="572700"/>
          </a:xfrm>
        </p:spPr>
        <p:txBody>
          <a:bodyPr/>
          <a:lstStyle/>
          <a:p>
            <a:r>
              <a:rPr lang="en-US" dirty="0"/>
              <a:t>Example to Matrix : Median Filter</a:t>
            </a:r>
          </a:p>
        </p:txBody>
      </p:sp>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54D26748-5CA5-686C-A56D-89D0117826A7}"/>
                  </a:ext>
                </a:extLst>
              </p:cNvPr>
              <p:cNvSpPr>
                <a:spLocks noGrp="1"/>
              </p:cNvSpPr>
              <p:nvPr>
                <p:ph type="body" idx="1"/>
              </p:nvPr>
            </p:nvSpPr>
            <p:spPr/>
            <p:txBody>
              <a:bodyPr/>
              <a:lstStyle/>
              <a:p>
                <a:r>
                  <a:rPr lang="en-US" dirty="0"/>
                  <a:t>Given a </a:t>
                </a:r>
                <a14:m>
                  <m:oMath xmlns:m="http://schemas.openxmlformats.org/officeDocument/2006/math">
                    <m:r>
                      <a:rPr lang="en-US" i="1" dirty="0" smtClean="0">
                        <a:latin typeface="Cambria Math" panose="02040503050406030204" pitchFamily="18" charset="0"/>
                      </a:rPr>
                      <m:t>5×5</m:t>
                    </m:r>
                  </m:oMath>
                </a14:m>
                <a:r>
                  <a:rPr lang="en-US" dirty="0"/>
                  <a:t> image matrix containing salt-and-pepper noise (abnormal values ​​of </a:t>
                </a:r>
                <a14:m>
                  <m:oMath xmlns:m="http://schemas.openxmlformats.org/officeDocument/2006/math">
                    <m:r>
                      <a:rPr lang="en-US" i="1" dirty="0" smtClean="0">
                        <a:latin typeface="Cambria Math" panose="02040503050406030204" pitchFamily="18" charset="0"/>
                      </a:rPr>
                      <m:t>0</m:t>
                    </m:r>
                  </m:oMath>
                </a14:m>
                <a:r>
                  <a:rPr lang="en-US" dirty="0"/>
                  <a:t> and </a:t>
                </a:r>
                <a14:m>
                  <m:oMath xmlns:m="http://schemas.openxmlformats.org/officeDocument/2006/math">
                    <m:r>
                      <a:rPr lang="en-US" i="1" dirty="0" smtClean="0">
                        <a:latin typeface="Cambria Math" panose="02040503050406030204" pitchFamily="18" charset="0"/>
                      </a:rPr>
                      <m:t>255</m:t>
                    </m:r>
                  </m:oMath>
                </a14:m>
                <a:r>
                  <a:rPr lang="en-US" dirty="0"/>
                  <a:t>):</a:t>
                </a:r>
              </a:p>
              <a:p>
                <a:pPr marL="1066800" lvl="2" indent="0">
                  <a:buNone/>
                </a:pPr>
                <a14:m>
                  <m:oMathPara xmlns:m="http://schemas.openxmlformats.org/officeDocument/2006/math">
                    <m:oMath>
                      <m:r>
                        <a:rPr lang="en-US" i="1">
                          <a:latin typeface="Cambria Math" panose="02040503050406030204" pitchFamily="18" charset="0"/>
                        </a:rPr>
                        <m:t>𝐼</m:t>
                      </m:r>
                      <m:r>
                        <a:rPr lang="en-US" i="1">
                          <a:latin typeface="Cambria Math" panose="02040503050406030204" pitchFamily="18" charset="0"/>
                        </a:rPr>
                        <m:t>=</m:t>
                      </m:r>
                      <m:d>
                        <m:dPr>
                          <m:begChr m:val="["/>
                          <m:endChr m:val="]"/>
                          <m:ctrlPr>
                            <a:rPr lang="en-US" i="1" smtClean="0">
                              <a:latin typeface="Cambria Math" panose="02040503050406030204" pitchFamily="18" charset="0"/>
                            </a:rPr>
                          </m:ctrlPr>
                        </m:dPr>
                        <m:e>
                          <m:m>
                            <m:mPr>
                              <m:mcs>
                                <m:mc>
                                  <m:mcPr>
                                    <m:count m:val="5"/>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1</m:t>
                                </m:r>
                                <m:r>
                                  <m:rPr>
                                    <m:brk m:alnAt="7"/>
                                  </m:rPr>
                                  <a:rPr lang="en-US" b="0" i="1" smtClean="0">
                                    <a:latin typeface="Cambria Math" panose="02040503050406030204" pitchFamily="18" charset="0"/>
                                  </a:rPr>
                                  <m:t>0</m:t>
                                </m:r>
                              </m:e>
                              <m:e>
                                <m:r>
                                  <a:rPr lang="en-US" b="0" i="1" smtClean="0">
                                    <a:latin typeface="Cambria Math" panose="02040503050406030204" pitchFamily="18" charset="0"/>
                                  </a:rPr>
                                  <m:t>12</m:t>
                                </m:r>
                              </m:e>
                              <m:e>
                                <m:r>
                                  <a:rPr lang="en-US" b="0" i="1" smtClean="0">
                                    <a:latin typeface="Cambria Math" panose="02040503050406030204" pitchFamily="18" charset="0"/>
                                  </a:rPr>
                                  <m:t>11</m:t>
                                </m:r>
                              </m:e>
                              <m:e>
                                <m:r>
                                  <a:rPr lang="en-US" b="0" i="1" smtClean="0">
                                    <a:latin typeface="Cambria Math" panose="02040503050406030204" pitchFamily="18" charset="0"/>
                                  </a:rPr>
                                  <m:t>13</m:t>
                                </m:r>
                              </m:e>
                              <m:e>
                                <m:r>
                                  <a:rPr lang="en-US" b="0" i="1" smtClean="0">
                                    <a:latin typeface="Cambria Math" panose="02040503050406030204" pitchFamily="18" charset="0"/>
                                  </a:rPr>
                                  <m:t>10</m:t>
                                </m:r>
                              </m:e>
                            </m:mr>
                            <m:mr>
                              <m:e>
                                <m:r>
                                  <a:rPr lang="en-US" b="0" i="1" smtClean="0">
                                    <a:latin typeface="Cambria Math" panose="02040503050406030204" pitchFamily="18" charset="0"/>
                                  </a:rPr>
                                  <m:t>11</m:t>
                                </m:r>
                              </m:e>
                              <m:e>
                                <m:r>
                                  <a:rPr lang="en-US" b="0" i="1" smtClean="0">
                                    <a:latin typeface="Cambria Math" panose="02040503050406030204" pitchFamily="18" charset="0"/>
                                  </a:rPr>
                                  <m:t>255</m:t>
                                </m:r>
                              </m:e>
                              <m:e>
                                <m:r>
                                  <a:rPr lang="en-US" b="0" i="1" smtClean="0">
                                    <a:latin typeface="Cambria Math" panose="02040503050406030204" pitchFamily="18" charset="0"/>
                                  </a:rPr>
                                  <m:t>12</m:t>
                                </m:r>
                              </m:e>
                              <m:e>
                                <m:r>
                                  <a:rPr lang="en-US" b="0" i="1" smtClean="0">
                                    <a:latin typeface="Cambria Math" panose="02040503050406030204" pitchFamily="18" charset="0"/>
                                  </a:rPr>
                                  <m:t>11</m:t>
                                </m:r>
                              </m:e>
                              <m:e>
                                <m:r>
                                  <a:rPr lang="en-US" b="0" i="1" smtClean="0">
                                    <a:latin typeface="Cambria Math" panose="02040503050406030204" pitchFamily="18" charset="0"/>
                                  </a:rPr>
                                  <m:t>12</m:t>
                                </m:r>
                              </m:e>
                            </m:mr>
                            <m:mr>
                              <m:e>
                                <m:r>
                                  <a:rPr lang="en-US" b="0" i="1" smtClean="0">
                                    <a:latin typeface="Cambria Math" panose="02040503050406030204" pitchFamily="18" charset="0"/>
                                  </a:rPr>
                                  <m:t>10</m:t>
                                </m:r>
                              </m:e>
                              <m:e>
                                <m:r>
                                  <a:rPr lang="en-US" b="0" i="1" smtClean="0">
                                    <a:latin typeface="Cambria Math" panose="02040503050406030204" pitchFamily="18" charset="0"/>
                                  </a:rPr>
                                  <m:t>11</m:t>
                                </m:r>
                              </m:e>
                              <m:e>
                                <m:r>
                                  <a:rPr lang="en-US" b="0" i="1" smtClean="0">
                                    <a:latin typeface="Cambria Math" panose="02040503050406030204" pitchFamily="18" charset="0"/>
                                  </a:rPr>
                                  <m:t>0</m:t>
                                </m:r>
                              </m:e>
                              <m:e>
                                <m:r>
                                  <a:rPr lang="en-US" b="0" i="1" smtClean="0">
                                    <a:latin typeface="Cambria Math" panose="02040503050406030204" pitchFamily="18" charset="0"/>
                                  </a:rPr>
                                  <m:t>12</m:t>
                                </m:r>
                              </m:e>
                              <m:e>
                                <m:r>
                                  <a:rPr lang="en-US" b="0" i="1" smtClean="0">
                                    <a:latin typeface="Cambria Math" panose="02040503050406030204" pitchFamily="18" charset="0"/>
                                  </a:rPr>
                                  <m:t>11</m:t>
                                </m:r>
                              </m:e>
                            </m:mr>
                            <m:mr>
                              <m:e>
                                <m:r>
                                  <a:rPr lang="en-US" b="0" i="1" smtClean="0">
                                    <a:latin typeface="Cambria Math" panose="02040503050406030204" pitchFamily="18" charset="0"/>
                                  </a:rPr>
                                  <m:t>12</m:t>
                                </m:r>
                              </m:e>
                              <m:e>
                                <m:r>
                                  <a:rPr lang="en-US" b="0" i="1" smtClean="0">
                                    <a:latin typeface="Cambria Math" panose="02040503050406030204" pitchFamily="18" charset="0"/>
                                  </a:rPr>
                                  <m:t>13</m:t>
                                </m:r>
                              </m:e>
                              <m:e>
                                <m:r>
                                  <a:rPr lang="en-US" b="0" i="1" smtClean="0">
                                    <a:latin typeface="Cambria Math" panose="02040503050406030204" pitchFamily="18" charset="0"/>
                                  </a:rPr>
                                  <m:t>11</m:t>
                                </m:r>
                              </m:e>
                              <m:e>
                                <m:r>
                                  <a:rPr lang="en-US" b="0" i="1" smtClean="0">
                                    <a:latin typeface="Cambria Math" panose="02040503050406030204" pitchFamily="18" charset="0"/>
                                  </a:rPr>
                                  <m:t>255</m:t>
                                </m:r>
                              </m:e>
                              <m:e>
                                <m:r>
                                  <a:rPr lang="en-US" b="0" i="1" smtClean="0">
                                    <a:latin typeface="Cambria Math" panose="02040503050406030204" pitchFamily="18" charset="0"/>
                                  </a:rPr>
                                  <m:t>10</m:t>
                                </m:r>
                              </m:e>
                            </m:mr>
                            <m:mr>
                              <m:e>
                                <m:r>
                                  <a:rPr lang="en-US" b="0" i="1" smtClean="0">
                                    <a:latin typeface="Cambria Math" panose="02040503050406030204" pitchFamily="18" charset="0"/>
                                  </a:rPr>
                                  <m:t>11</m:t>
                                </m:r>
                              </m:e>
                              <m:e>
                                <m:r>
                                  <a:rPr lang="en-US" b="0" i="1" smtClean="0">
                                    <a:latin typeface="Cambria Math" panose="02040503050406030204" pitchFamily="18" charset="0"/>
                                  </a:rPr>
                                  <m:t>10</m:t>
                                </m:r>
                              </m:e>
                              <m:e>
                                <m:r>
                                  <a:rPr lang="en-US" b="0" i="1" smtClean="0">
                                    <a:latin typeface="Cambria Math" panose="02040503050406030204" pitchFamily="18" charset="0"/>
                                  </a:rPr>
                                  <m:t>12</m:t>
                                </m:r>
                              </m:e>
                              <m:e>
                                <m:r>
                                  <a:rPr lang="en-US" b="0" i="1" smtClean="0">
                                    <a:latin typeface="Cambria Math" panose="02040503050406030204" pitchFamily="18" charset="0"/>
                                  </a:rPr>
                                  <m:t>11</m:t>
                                </m:r>
                              </m:e>
                              <m:e>
                                <m:r>
                                  <a:rPr lang="en-US" b="0" i="1" smtClean="0">
                                    <a:latin typeface="Cambria Math" panose="02040503050406030204" pitchFamily="18" charset="0"/>
                                  </a:rPr>
                                  <m:t>13</m:t>
                                </m:r>
                              </m:e>
                            </m:mr>
                          </m:m>
                        </m:e>
                      </m:d>
                    </m:oMath>
                  </m:oMathPara>
                </a14:m>
                <a:endParaRPr lang="en-US" dirty="0"/>
              </a:p>
              <a:p>
                <a:r>
                  <a:rPr lang="en-US" dirty="0"/>
                  <a:t>Apply a </a:t>
                </a:r>
                <a14:m>
                  <m:oMath xmlns:m="http://schemas.openxmlformats.org/officeDocument/2006/math">
                    <m:r>
                      <a:rPr lang="en-US" i="1" dirty="0" smtClean="0">
                        <a:latin typeface="Cambria Math" panose="02040503050406030204" pitchFamily="18" charset="0"/>
                      </a:rPr>
                      <m:t>3×3</m:t>
                    </m:r>
                  </m:oMath>
                </a14:m>
                <a:r>
                  <a:rPr lang="en-US" dirty="0"/>
                  <a:t> median filter at the center position (row 2, column 2 — value 0).</a:t>
                </a:r>
              </a:p>
              <a:p>
                <a:r>
                  <a:rPr lang="en-US" dirty="0" err="1"/>
                  <a:t>Submatriks</a:t>
                </a:r>
                <a:r>
                  <a:rPr lang="en-US" dirty="0"/>
                  <a:t> </a:t>
                </a:r>
                <a:r>
                  <a:rPr lang="en-US" dirty="0" err="1"/>
                  <a:t>jendela</a:t>
                </a:r>
                <a:r>
                  <a:rPr lang="en-US" dirty="0"/>
                  <a:t> </a:t>
                </a:r>
                <a14:m>
                  <m:oMath xmlns:m="http://schemas.openxmlformats.org/officeDocument/2006/math">
                    <m:r>
                      <a:rPr lang="en-US" i="1" dirty="0" smtClean="0">
                        <a:latin typeface="Cambria Math" panose="02040503050406030204" pitchFamily="18" charset="0"/>
                      </a:rPr>
                      <m:t>3×3</m:t>
                    </m:r>
                  </m:oMath>
                </a14:m>
                <a:r>
                  <a:rPr lang="en-US" dirty="0"/>
                  <a:t> di </a:t>
                </a:r>
                <a:r>
                  <a:rPr lang="en-US" dirty="0" err="1"/>
                  <a:t>sekitar</a:t>
                </a:r>
                <a:r>
                  <a:rPr lang="en-US" dirty="0"/>
                  <a:t> </a:t>
                </a:r>
                <a:r>
                  <a:rPr lang="en-US" dirty="0" err="1"/>
                  <a:t>posisi</a:t>
                </a:r>
                <a:r>
                  <a:rPr lang="en-US" dirty="0"/>
                  <a:t> </a:t>
                </a:r>
                <a:r>
                  <a:rPr lang="en-US" dirty="0" err="1"/>
                  <a:t>tersebut</a:t>
                </a:r>
                <a:r>
                  <a:rPr lang="en-US" dirty="0"/>
                  <a:t>: </a:t>
                </a:r>
                <a14:m>
                  <m:oMath xmlns:m="http://schemas.openxmlformats.org/officeDocument/2006/math">
                    <m:d>
                      <m:dPr>
                        <m:begChr m:val="["/>
                        <m:endChr m:val="]"/>
                        <m:ctrlPr>
                          <a:rPr lang="en-US" i="1">
                            <a:latin typeface="Cambria Math" panose="02040503050406030204" pitchFamily="18" charset="0"/>
                          </a:rPr>
                        </m:ctrlPr>
                      </m:dPr>
                      <m:e>
                        <m:m>
                          <m:mPr>
                            <m:mcs>
                              <m:mc>
                                <m:mcPr>
                                  <m:count m:val="3"/>
                                  <m:mcJc m:val="center"/>
                                </m:mcPr>
                              </m:mc>
                            </m:mcs>
                            <m:ctrlPr>
                              <a:rPr lang="en-US" i="1">
                                <a:latin typeface="Cambria Math" panose="02040503050406030204" pitchFamily="18" charset="0"/>
                              </a:rPr>
                            </m:ctrlPr>
                          </m:mPr>
                          <m:mr>
                            <m:e>
                              <m:r>
                                <m:rPr>
                                  <m:brk m:alnAt="7"/>
                                </m:rPr>
                                <a:rPr lang="en-US" b="0" i="1" smtClean="0">
                                  <a:latin typeface="Cambria Math" panose="02040503050406030204" pitchFamily="18" charset="0"/>
                                </a:rPr>
                                <m:t>2</m:t>
                              </m:r>
                              <m:r>
                                <m:rPr>
                                  <m:brk m:alnAt="7"/>
                                </m:rPr>
                                <a:rPr lang="en-US" b="0" i="1" smtClean="0">
                                  <a:latin typeface="Cambria Math" panose="02040503050406030204" pitchFamily="18" charset="0"/>
                                </a:rPr>
                                <m:t>5</m:t>
                              </m:r>
                              <m:r>
                                <m:rPr>
                                  <m:brk m:alnAt="7"/>
                                </m:rPr>
                                <a:rPr lang="en-US" i="1">
                                  <a:latin typeface="Cambria Math" panose="02040503050406030204" pitchFamily="18" charset="0"/>
                                </a:rPr>
                                <m:t>5</m:t>
                              </m:r>
                            </m:e>
                            <m:e>
                              <m:r>
                                <a:rPr lang="en-US" b="0" i="1" smtClean="0">
                                  <a:latin typeface="Cambria Math" panose="02040503050406030204" pitchFamily="18" charset="0"/>
                                </a:rPr>
                                <m:t>12</m:t>
                              </m:r>
                            </m:e>
                            <m:e>
                              <m:r>
                                <a:rPr lang="en-US" b="0" i="1" smtClean="0">
                                  <a:latin typeface="Cambria Math" panose="02040503050406030204" pitchFamily="18" charset="0"/>
                                </a:rPr>
                                <m:t>11</m:t>
                              </m:r>
                            </m:e>
                          </m:mr>
                          <m:mr>
                            <m:e>
                              <m:r>
                                <a:rPr lang="en-US" i="1">
                                  <a:latin typeface="Cambria Math" panose="02040503050406030204" pitchFamily="18" charset="0"/>
                                </a:rPr>
                                <m:t>1</m:t>
                              </m:r>
                              <m:r>
                                <a:rPr lang="en-US" b="0" i="1" smtClean="0">
                                  <a:latin typeface="Cambria Math" panose="02040503050406030204" pitchFamily="18" charset="0"/>
                                </a:rPr>
                                <m:t>1</m:t>
                              </m:r>
                            </m:e>
                            <m:e>
                              <m:r>
                                <a:rPr lang="en-US" i="1">
                                  <a:latin typeface="Cambria Math" panose="02040503050406030204" pitchFamily="18" charset="0"/>
                                </a:rPr>
                                <m:t>0</m:t>
                              </m:r>
                            </m:e>
                            <m:e>
                              <m:r>
                                <a:rPr lang="en-US" b="0" i="1" smtClean="0">
                                  <a:latin typeface="Cambria Math" panose="02040503050406030204" pitchFamily="18" charset="0"/>
                                </a:rPr>
                                <m:t>12</m:t>
                              </m:r>
                            </m:e>
                          </m:mr>
                          <m:mr>
                            <m:e>
                              <m:r>
                                <a:rPr lang="en-US" b="0" i="1" smtClean="0">
                                  <a:latin typeface="Cambria Math" panose="02040503050406030204" pitchFamily="18" charset="0"/>
                                </a:rPr>
                                <m:t>13</m:t>
                              </m:r>
                            </m:e>
                            <m:e>
                              <m:r>
                                <a:rPr lang="en-US" b="0" i="1" smtClean="0">
                                  <a:latin typeface="Cambria Math" panose="02040503050406030204" pitchFamily="18" charset="0"/>
                                </a:rPr>
                                <m:t>11</m:t>
                              </m:r>
                            </m:e>
                            <m:e>
                              <m:r>
                                <a:rPr lang="en-US" i="1">
                                  <a:latin typeface="Cambria Math" panose="02040503050406030204" pitchFamily="18" charset="0"/>
                                </a:rPr>
                                <m:t>255</m:t>
                              </m:r>
                            </m:e>
                          </m:mr>
                        </m:m>
                      </m:e>
                    </m:d>
                  </m:oMath>
                </a14:m>
                <a:endParaRPr lang="en-US" dirty="0"/>
              </a:p>
              <a:p>
                <a:r>
                  <a:rPr lang="en-US" dirty="0"/>
                  <a:t>Median filter steps:</a:t>
                </a:r>
              </a:p>
              <a:p>
                <a:pPr lvl="1"/>
                <a:r>
                  <a:rPr lang="en-US" dirty="0"/>
                  <a:t>Sort all 9 values: </a:t>
                </a:r>
                <a14:m>
                  <m:oMath xmlns:m="http://schemas.openxmlformats.org/officeDocument/2006/math">
                    <m:r>
                      <a:rPr lang="en-US" i="1" dirty="0" smtClean="0">
                        <a:latin typeface="Cambria Math" panose="02040503050406030204" pitchFamily="18" charset="0"/>
                      </a:rPr>
                      <m:t>0, 11, 11, 11, 12, 12, 13, 255, 255</m:t>
                    </m:r>
                  </m:oMath>
                </a14:m>
                <a:endParaRPr lang="en-US" dirty="0"/>
              </a:p>
              <a:p>
                <a:pPr lvl="1"/>
                <a:r>
                  <a:rPr lang="en-US" dirty="0"/>
                  <a:t>Take the middle value (the 5th element of the 9 sorted elements): </a:t>
                </a:r>
                <a14:m>
                  <m:oMath xmlns:m="http://schemas.openxmlformats.org/officeDocument/2006/math">
                    <m:r>
                      <a:rPr lang="en-US" i="1" dirty="0" smtClean="0">
                        <a:latin typeface="Cambria Math" panose="02040503050406030204" pitchFamily="18" charset="0"/>
                      </a:rPr>
                      <m:t>12</m:t>
                    </m:r>
                  </m:oMath>
                </a14:m>
                <a:endParaRPr lang="en-US" dirty="0"/>
              </a:p>
              <a:p>
                <a:pPr lvl="1"/>
                <a:r>
                  <a:rPr lang="en-US" dirty="0"/>
                  <a:t>Thus, the pixel value (0, which represents noise) is changed to 12.</a:t>
                </a:r>
              </a:p>
            </p:txBody>
          </p:sp>
        </mc:Choice>
        <mc:Fallback xmlns="">
          <p:sp>
            <p:nvSpPr>
              <p:cNvPr id="6" name="Text Placeholder 5">
                <a:extLst>
                  <a:ext uri="{FF2B5EF4-FFF2-40B4-BE49-F238E27FC236}">
                    <a16:creationId xmlns:a16="http://schemas.microsoft.com/office/drawing/2014/main" id="{54D26748-5CA5-686C-A56D-89D0117826A7}"/>
                  </a:ext>
                </a:extLst>
              </p:cNvPr>
              <p:cNvSpPr>
                <a:spLocks noGrp="1" noRot="1" noChangeAspect="1" noMove="1" noResize="1" noEditPoints="1" noAdjustHandles="1" noChangeArrowheads="1" noChangeShapeType="1" noTextEdit="1"/>
              </p:cNvSpPr>
              <p:nvPr>
                <p:ph type="body" idx="1"/>
              </p:nvPr>
            </p:nvSpPr>
            <p:spPr>
              <a:blipFill>
                <a:blip r:embed="rId2"/>
                <a:stretch>
                  <a:fillRect b="-13936"/>
                </a:stretch>
              </a:blipFill>
            </p:spPr>
            <p:txBody>
              <a:bodyPr/>
              <a:lstStyle/>
              <a:p>
                <a:r>
                  <a:rPr lang="en-US">
                    <a:noFill/>
                  </a:rPr>
                  <a:t> </a:t>
                </a:r>
              </a:p>
            </p:txBody>
          </p:sp>
        </mc:Fallback>
      </mc:AlternateContent>
      <p:sp>
        <p:nvSpPr>
          <p:cNvPr id="7" name="Rectangle 6">
            <a:extLst>
              <a:ext uri="{FF2B5EF4-FFF2-40B4-BE49-F238E27FC236}">
                <a16:creationId xmlns:a16="http://schemas.microsoft.com/office/drawing/2014/main" id="{E57BF7D8-4C51-6C31-546B-4F643C3AABB6}"/>
              </a:ext>
            </a:extLst>
          </p:cNvPr>
          <p:cNvSpPr/>
          <p:nvPr/>
        </p:nvSpPr>
        <p:spPr>
          <a:xfrm>
            <a:off x="3617455" y="2087509"/>
            <a:ext cx="1146346" cy="69137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341155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EF1DD-C401-193C-6871-A79666F22B5F}"/>
              </a:ext>
            </a:extLst>
          </p:cNvPr>
          <p:cNvSpPr>
            <a:spLocks noGrp="1"/>
          </p:cNvSpPr>
          <p:nvPr>
            <p:ph type="title"/>
          </p:nvPr>
        </p:nvSpPr>
        <p:spPr/>
        <p:txBody>
          <a:bodyPr/>
          <a:lstStyle/>
          <a:p>
            <a:r>
              <a:rPr lang="en-US" dirty="0"/>
              <a:t>Interpretation in Image</a:t>
            </a:r>
          </a:p>
        </p:txBody>
      </p:sp>
      <p:sp>
        <p:nvSpPr>
          <p:cNvPr id="6" name="Text Placeholder 5">
            <a:extLst>
              <a:ext uri="{FF2B5EF4-FFF2-40B4-BE49-F238E27FC236}">
                <a16:creationId xmlns:a16="http://schemas.microsoft.com/office/drawing/2014/main" id="{EB15A512-5B26-13B3-B64B-ABC617EC1C58}"/>
              </a:ext>
            </a:extLst>
          </p:cNvPr>
          <p:cNvSpPr>
            <a:spLocks noGrp="1"/>
          </p:cNvSpPr>
          <p:nvPr>
            <p:ph type="body" idx="1"/>
          </p:nvPr>
        </p:nvSpPr>
        <p:spPr>
          <a:xfrm>
            <a:off x="720000" y="4286530"/>
            <a:ext cx="7704000" cy="541463"/>
          </a:xfrm>
        </p:spPr>
        <p:txBody>
          <a:bodyPr/>
          <a:lstStyle/>
          <a:p>
            <a:pPr marL="0" marR="0" indent="0" algn="l">
              <a:lnSpc>
                <a:spcPct val="56435"/>
              </a:lnSpc>
              <a:buNone/>
            </a:pPr>
            <a:r>
              <a:rPr lang="en-US" sz="1200" b="0" i="0" dirty="0" err="1">
                <a:solidFill>
                  <a:srgbClr val="333333"/>
                </a:solidFill>
                <a:effectLst/>
                <a:latin typeface="Courier New" panose="02070309020205020404" pitchFamily="49" charset="0"/>
              </a:rPr>
              <a:t>hasil_median</a:t>
            </a:r>
            <a:r>
              <a:rPr lang="en-US" sz="1200" b="0" i="0" dirty="0">
                <a:solidFill>
                  <a:srgbClr val="333333"/>
                </a:solidFill>
                <a:effectLst/>
                <a:latin typeface="Courier New" panose="02070309020205020404" pitchFamily="49" charset="0"/>
              </a:rPr>
              <a:t> = cv2.medianBlur(</a:t>
            </a:r>
            <a:r>
              <a:rPr lang="en-US" sz="1200" b="0" i="0" dirty="0" err="1">
                <a:solidFill>
                  <a:srgbClr val="333333"/>
                </a:solidFill>
                <a:effectLst/>
                <a:latin typeface="Courier New" panose="02070309020205020404" pitchFamily="49" charset="0"/>
              </a:rPr>
              <a:t>citra_gray</a:t>
            </a:r>
            <a:r>
              <a:rPr lang="en-US" sz="1200" b="0" i="0" dirty="0">
                <a:solidFill>
                  <a:srgbClr val="333333"/>
                </a:solidFill>
                <a:effectLst/>
                <a:latin typeface="Courier New" panose="02070309020205020404" pitchFamily="49" charset="0"/>
              </a:rPr>
              <a:t>, </a:t>
            </a:r>
            <a:r>
              <a:rPr lang="en-US" sz="1200" b="0" i="0" dirty="0" err="1">
                <a:solidFill>
                  <a:srgbClr val="333333"/>
                </a:solidFill>
                <a:effectLst/>
                <a:latin typeface="Courier New" panose="02070309020205020404" pitchFamily="49" charset="0"/>
              </a:rPr>
              <a:t>ksize</a:t>
            </a:r>
            <a:r>
              <a:rPr lang="en-US" sz="1200" b="0" i="0" dirty="0">
                <a:solidFill>
                  <a:srgbClr val="333333"/>
                </a:solidFill>
                <a:effectLst/>
                <a:latin typeface="Courier New" panose="02070309020205020404" pitchFamily="49" charset="0"/>
              </a:rPr>
              <a:t>=</a:t>
            </a:r>
            <a:r>
              <a:rPr lang="en-US" sz="1200" b="1" i="0" dirty="0">
                <a:solidFill>
                  <a:srgbClr val="0000DD"/>
                </a:solidFill>
                <a:effectLst/>
                <a:latin typeface="Courier New" panose="02070309020205020404" pitchFamily="49" charset="0"/>
              </a:rPr>
              <a:t>3</a:t>
            </a:r>
            <a:r>
              <a:rPr lang="en-US" sz="1200" b="0" i="0" dirty="0">
                <a:solidFill>
                  <a:srgbClr val="333333"/>
                </a:solidFill>
                <a:effectLst/>
                <a:latin typeface="Courier New" panose="02070309020205020404" pitchFamily="49" charset="0"/>
              </a:rPr>
              <a:t>)</a:t>
            </a:r>
          </a:p>
          <a:p>
            <a:pPr marL="0" marR="0" indent="0" algn="l">
              <a:lnSpc>
                <a:spcPct val="56435"/>
              </a:lnSpc>
              <a:buNone/>
            </a:pPr>
            <a:endParaRPr lang="en-US" sz="1200" b="0" i="0" dirty="0">
              <a:solidFill>
                <a:srgbClr val="333333"/>
              </a:solidFill>
              <a:effectLst/>
              <a:latin typeface="Courier New" panose="02070309020205020404" pitchFamily="49" charset="0"/>
            </a:endParaRPr>
          </a:p>
          <a:p>
            <a:pPr marL="0" marR="0" indent="0" algn="l">
              <a:lnSpc>
                <a:spcPct val="56435"/>
              </a:lnSpc>
              <a:buNone/>
            </a:pPr>
            <a:r>
              <a:rPr lang="en-US" sz="1200" b="0" i="0" dirty="0" err="1">
                <a:solidFill>
                  <a:srgbClr val="333333"/>
                </a:solidFill>
                <a:effectLst/>
                <a:latin typeface="Courier New" panose="02070309020205020404" pitchFamily="49" charset="0"/>
              </a:rPr>
              <a:t>hasil_min</a:t>
            </a:r>
            <a:r>
              <a:rPr lang="en-US" sz="1200" b="0" i="0" dirty="0">
                <a:solidFill>
                  <a:srgbClr val="333333"/>
                </a:solidFill>
                <a:effectLst/>
                <a:latin typeface="Courier New" panose="02070309020205020404" pitchFamily="49" charset="0"/>
              </a:rPr>
              <a:t> = </a:t>
            </a:r>
            <a:r>
              <a:rPr lang="en-US" sz="1200" b="0" i="0" dirty="0" err="1">
                <a:solidFill>
                  <a:srgbClr val="333333"/>
                </a:solidFill>
                <a:effectLst/>
                <a:latin typeface="Courier New" panose="02070309020205020404" pitchFamily="49" charset="0"/>
              </a:rPr>
              <a:t>minimum_filter</a:t>
            </a:r>
            <a:r>
              <a:rPr lang="en-US" sz="1200" b="0" i="0" dirty="0">
                <a:solidFill>
                  <a:srgbClr val="333333"/>
                </a:solidFill>
                <a:effectLst/>
                <a:latin typeface="Courier New" panose="02070309020205020404" pitchFamily="49" charset="0"/>
              </a:rPr>
              <a:t>(</a:t>
            </a:r>
            <a:r>
              <a:rPr lang="en-US" sz="1200" b="0" i="0" dirty="0" err="1">
                <a:solidFill>
                  <a:srgbClr val="333333"/>
                </a:solidFill>
                <a:effectLst/>
                <a:latin typeface="Courier New" panose="02070309020205020404" pitchFamily="49" charset="0"/>
              </a:rPr>
              <a:t>citra_gray</a:t>
            </a:r>
            <a:r>
              <a:rPr lang="en-US" sz="1200" b="0" i="0" dirty="0">
                <a:solidFill>
                  <a:srgbClr val="333333"/>
                </a:solidFill>
                <a:effectLst/>
                <a:latin typeface="Courier New" panose="02070309020205020404" pitchFamily="49" charset="0"/>
              </a:rPr>
              <a:t>, size=</a:t>
            </a:r>
            <a:r>
              <a:rPr lang="en-US" sz="1200" b="1" i="0" dirty="0">
                <a:solidFill>
                  <a:srgbClr val="0000DD"/>
                </a:solidFill>
                <a:effectLst/>
                <a:latin typeface="Courier New" panose="02070309020205020404" pitchFamily="49" charset="0"/>
              </a:rPr>
              <a:t>3</a:t>
            </a:r>
            <a:r>
              <a:rPr lang="en-US" sz="1200" b="0" i="0" dirty="0">
                <a:solidFill>
                  <a:srgbClr val="333333"/>
                </a:solidFill>
                <a:effectLst/>
                <a:latin typeface="Courier New" panose="02070309020205020404" pitchFamily="49" charset="0"/>
              </a:rPr>
              <a:t>)</a:t>
            </a:r>
          </a:p>
          <a:p>
            <a:pPr marL="0" marR="0" indent="0" algn="l">
              <a:lnSpc>
                <a:spcPct val="56435"/>
              </a:lnSpc>
              <a:buNone/>
            </a:pPr>
            <a:endParaRPr lang="en-US" sz="1200" b="0" i="0" dirty="0">
              <a:solidFill>
                <a:srgbClr val="333333"/>
              </a:solidFill>
              <a:effectLst/>
              <a:latin typeface="Courier New" panose="02070309020205020404" pitchFamily="49" charset="0"/>
            </a:endParaRPr>
          </a:p>
          <a:p>
            <a:pPr marL="0" marR="0" indent="0" algn="l">
              <a:lnSpc>
                <a:spcPct val="56435"/>
              </a:lnSpc>
              <a:buNone/>
            </a:pPr>
            <a:r>
              <a:rPr lang="en-US" sz="1200" b="0" i="0" dirty="0" err="1">
                <a:solidFill>
                  <a:srgbClr val="333333"/>
                </a:solidFill>
                <a:effectLst/>
                <a:latin typeface="Courier New" panose="02070309020205020404" pitchFamily="49" charset="0"/>
              </a:rPr>
              <a:t>hasil_max</a:t>
            </a:r>
            <a:r>
              <a:rPr lang="en-US" sz="1200" b="0" i="0" dirty="0">
                <a:solidFill>
                  <a:srgbClr val="333333"/>
                </a:solidFill>
                <a:effectLst/>
                <a:latin typeface="Courier New" panose="02070309020205020404" pitchFamily="49" charset="0"/>
              </a:rPr>
              <a:t> = </a:t>
            </a:r>
            <a:r>
              <a:rPr lang="en-US" sz="1200" b="0" i="0" dirty="0" err="1">
                <a:solidFill>
                  <a:srgbClr val="333333"/>
                </a:solidFill>
                <a:effectLst/>
                <a:latin typeface="Courier New" panose="02070309020205020404" pitchFamily="49" charset="0"/>
              </a:rPr>
              <a:t>maximum_filter</a:t>
            </a:r>
            <a:r>
              <a:rPr lang="en-US" sz="1200" b="0" i="0" dirty="0">
                <a:solidFill>
                  <a:srgbClr val="333333"/>
                </a:solidFill>
                <a:effectLst/>
                <a:latin typeface="Courier New" panose="02070309020205020404" pitchFamily="49" charset="0"/>
              </a:rPr>
              <a:t>(</a:t>
            </a:r>
            <a:r>
              <a:rPr lang="en-US" sz="1200" b="0" i="0" dirty="0" err="1">
                <a:solidFill>
                  <a:srgbClr val="333333"/>
                </a:solidFill>
                <a:effectLst/>
                <a:latin typeface="Courier New" panose="02070309020205020404" pitchFamily="49" charset="0"/>
              </a:rPr>
              <a:t>citra_gray</a:t>
            </a:r>
            <a:r>
              <a:rPr lang="en-US" sz="1200" b="0" i="0" dirty="0">
                <a:solidFill>
                  <a:srgbClr val="333333"/>
                </a:solidFill>
                <a:effectLst/>
                <a:latin typeface="Courier New" panose="02070309020205020404" pitchFamily="49" charset="0"/>
              </a:rPr>
              <a:t>, size=</a:t>
            </a:r>
            <a:r>
              <a:rPr lang="en-US" sz="1200" b="1" i="0" dirty="0">
                <a:solidFill>
                  <a:srgbClr val="0000DD"/>
                </a:solidFill>
                <a:effectLst/>
                <a:latin typeface="Courier New" panose="02070309020205020404" pitchFamily="49" charset="0"/>
              </a:rPr>
              <a:t>3</a:t>
            </a:r>
            <a:r>
              <a:rPr lang="en-US" sz="1200" b="0" i="0" dirty="0">
                <a:solidFill>
                  <a:srgbClr val="333333"/>
                </a:solidFill>
                <a:effectLst/>
                <a:latin typeface="Courier New" panose="02070309020205020404" pitchFamily="49" charset="0"/>
              </a:rPr>
              <a:t>)</a:t>
            </a:r>
          </a:p>
          <a:p>
            <a:pPr marL="177800" indent="0">
              <a:buNone/>
            </a:pPr>
            <a:endParaRPr lang="en-US" sz="1200" dirty="0"/>
          </a:p>
        </p:txBody>
      </p:sp>
      <p:pic>
        <p:nvPicPr>
          <p:cNvPr id="7" name="Picture 6">
            <a:extLst>
              <a:ext uri="{FF2B5EF4-FFF2-40B4-BE49-F238E27FC236}">
                <a16:creationId xmlns:a16="http://schemas.microsoft.com/office/drawing/2014/main" id="{9BF58A82-FAF2-6AB2-FFF8-BCBB702CFED5}"/>
              </a:ext>
            </a:extLst>
          </p:cNvPr>
          <p:cNvPicPr>
            <a:picLocks noChangeAspect="1"/>
          </p:cNvPicPr>
          <p:nvPr/>
        </p:nvPicPr>
        <p:blipFill>
          <a:blip r:embed="rId2"/>
          <a:stretch>
            <a:fillRect/>
          </a:stretch>
        </p:blipFill>
        <p:spPr>
          <a:xfrm>
            <a:off x="619451" y="1053405"/>
            <a:ext cx="7597325" cy="3221602"/>
          </a:xfrm>
          <a:prstGeom prst="rect">
            <a:avLst/>
          </a:prstGeom>
        </p:spPr>
      </p:pic>
    </p:spTree>
    <p:extLst>
      <p:ext uri="{BB962C8B-B14F-4D97-AF65-F5344CB8AC3E}">
        <p14:creationId xmlns:p14="http://schemas.microsoft.com/office/powerpoint/2010/main" val="22695053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3A489-47B2-F656-8C31-793855D58C35}"/>
              </a:ext>
            </a:extLst>
          </p:cNvPr>
          <p:cNvSpPr>
            <a:spLocks noGrp="1"/>
          </p:cNvSpPr>
          <p:nvPr>
            <p:ph type="title"/>
          </p:nvPr>
        </p:nvSpPr>
        <p:spPr/>
        <p:txBody>
          <a:bodyPr/>
          <a:lstStyle/>
          <a:p>
            <a:r>
              <a:rPr lang="en-US" sz="2400" dirty="0"/>
              <a:t>Filtering Using an Algebraic Approach</a:t>
            </a:r>
          </a:p>
        </p:txBody>
      </p:sp>
      <p:sp>
        <p:nvSpPr>
          <p:cNvPr id="3" name="Text Placeholder 2">
            <a:extLst>
              <a:ext uri="{FF2B5EF4-FFF2-40B4-BE49-F238E27FC236}">
                <a16:creationId xmlns:a16="http://schemas.microsoft.com/office/drawing/2014/main" id="{A6140748-A4CD-6A1C-5C6E-3539DDE35E49}"/>
              </a:ext>
            </a:extLst>
          </p:cNvPr>
          <p:cNvSpPr>
            <a:spLocks noGrp="1"/>
          </p:cNvSpPr>
          <p:nvPr>
            <p:ph type="body" idx="1"/>
          </p:nvPr>
        </p:nvSpPr>
        <p:spPr>
          <a:xfrm>
            <a:off x="679856" y="955200"/>
            <a:ext cx="8227738" cy="3233100"/>
          </a:xfrm>
        </p:spPr>
        <p:txBody>
          <a:bodyPr/>
          <a:lstStyle/>
          <a:p>
            <a:r>
              <a:rPr lang="en-US" dirty="0"/>
              <a:t>Algebraic filtering (linear/algebraic filter is a filtering technique that employs multiplication and addition operations between pixel values ​​and kernel weights—this is the form of 2D convolution.</a:t>
            </a:r>
          </a:p>
          <a:p>
            <a:r>
              <a:rPr lang="en-US" dirty="0"/>
              <a:t>A mathematical operation that modifies or enhances an image by changing its pixel values using a small matrix called a kernel.</a:t>
            </a:r>
          </a:p>
        </p:txBody>
      </p:sp>
      <p:graphicFrame>
        <p:nvGraphicFramePr>
          <p:cNvPr id="5" name="Table 4">
            <a:extLst>
              <a:ext uri="{FF2B5EF4-FFF2-40B4-BE49-F238E27FC236}">
                <a16:creationId xmlns:a16="http://schemas.microsoft.com/office/drawing/2014/main" id="{0A1A9928-FA80-A259-70DF-BF06C9E100FF}"/>
              </a:ext>
            </a:extLst>
          </p:cNvPr>
          <p:cNvGraphicFramePr>
            <a:graphicFrameLocks noGrp="1"/>
          </p:cNvGraphicFramePr>
          <p:nvPr>
            <p:extLst>
              <p:ext uri="{D42A27DB-BD31-4B8C-83A1-F6EECF244321}">
                <p14:modId xmlns:p14="http://schemas.microsoft.com/office/powerpoint/2010/main" val="4199951010"/>
              </p:ext>
            </p:extLst>
          </p:nvPr>
        </p:nvGraphicFramePr>
        <p:xfrm>
          <a:off x="935215" y="2569263"/>
          <a:ext cx="7597698" cy="1925320"/>
        </p:xfrm>
        <a:graphic>
          <a:graphicData uri="http://schemas.openxmlformats.org/drawingml/2006/table">
            <a:tbl>
              <a:tblPr firstRow="1" bandRow="1">
                <a:tableStyleId>{647A7D3A-C76E-4340-B591-1BAF9B2FF1C5}</a:tableStyleId>
              </a:tblPr>
              <a:tblGrid>
                <a:gridCol w="1379778">
                  <a:extLst>
                    <a:ext uri="{9D8B030D-6E8A-4147-A177-3AD203B41FA5}">
                      <a16:colId xmlns:a16="http://schemas.microsoft.com/office/drawing/2014/main" val="2336977304"/>
                    </a:ext>
                  </a:extLst>
                </a:gridCol>
                <a:gridCol w="3773573">
                  <a:extLst>
                    <a:ext uri="{9D8B030D-6E8A-4147-A177-3AD203B41FA5}">
                      <a16:colId xmlns:a16="http://schemas.microsoft.com/office/drawing/2014/main" val="192777368"/>
                    </a:ext>
                  </a:extLst>
                </a:gridCol>
                <a:gridCol w="2444347">
                  <a:extLst>
                    <a:ext uri="{9D8B030D-6E8A-4147-A177-3AD203B41FA5}">
                      <a16:colId xmlns:a16="http://schemas.microsoft.com/office/drawing/2014/main" val="2256159843"/>
                    </a:ext>
                  </a:extLst>
                </a:gridCol>
              </a:tblGrid>
              <a:tr h="370840">
                <a:tc>
                  <a:txBody>
                    <a:bodyPr/>
                    <a:lstStyle/>
                    <a:p>
                      <a:r>
                        <a:rPr lang="en-US" dirty="0"/>
                        <a:t>Filter</a:t>
                      </a:r>
                    </a:p>
                  </a:txBody>
                  <a:tcPr/>
                </a:tc>
                <a:tc>
                  <a:txBody>
                    <a:bodyPr/>
                    <a:lstStyle/>
                    <a:p>
                      <a:r>
                        <a:rPr lang="en-US" dirty="0"/>
                        <a:t>How It Works</a:t>
                      </a:r>
                    </a:p>
                  </a:txBody>
                  <a:tcPr/>
                </a:tc>
                <a:tc>
                  <a:txBody>
                    <a:bodyPr/>
                    <a:lstStyle/>
                    <a:p>
                      <a:r>
                        <a:rPr lang="en-US" dirty="0"/>
                        <a:t>Main Uses</a:t>
                      </a:r>
                    </a:p>
                  </a:txBody>
                  <a:tcPr/>
                </a:tc>
                <a:extLst>
                  <a:ext uri="{0D108BD9-81ED-4DB2-BD59-A6C34878D82A}">
                    <a16:rowId xmlns:a16="http://schemas.microsoft.com/office/drawing/2014/main" val="625979072"/>
                  </a:ext>
                </a:extLst>
              </a:tr>
              <a:tr h="370840">
                <a:tc>
                  <a:txBody>
                    <a:bodyPr/>
                    <a:lstStyle/>
                    <a:p>
                      <a:r>
                        <a:rPr lang="en-US" dirty="0"/>
                        <a:t>Mean Filter (Low-pass)</a:t>
                      </a:r>
                    </a:p>
                  </a:txBody>
                  <a:tcPr/>
                </a:tc>
                <a:tc>
                  <a:txBody>
                    <a:bodyPr/>
                    <a:lstStyle/>
                    <a:p>
                      <a:r>
                        <a:rPr lang="en-US" dirty="0"/>
                        <a:t>Uniform average (1/9 for each 3×3 element)</a:t>
                      </a:r>
                    </a:p>
                  </a:txBody>
                  <a:tcPr/>
                </a:tc>
                <a:tc>
                  <a:txBody>
                    <a:bodyPr/>
                    <a:lstStyle/>
                    <a:p>
                      <a:r>
                        <a:rPr lang="en-US" dirty="0"/>
                        <a:t>Smooth/blur, reduce noise</a:t>
                      </a:r>
                    </a:p>
                  </a:txBody>
                  <a:tcPr/>
                </a:tc>
                <a:extLst>
                  <a:ext uri="{0D108BD9-81ED-4DB2-BD59-A6C34878D82A}">
                    <a16:rowId xmlns:a16="http://schemas.microsoft.com/office/drawing/2014/main" val="1526159081"/>
                  </a:ext>
                </a:extLst>
              </a:tr>
              <a:tr h="370840">
                <a:tc>
                  <a:txBody>
                    <a:bodyPr/>
                    <a:lstStyle/>
                    <a:p>
                      <a:r>
                        <a:rPr lang="en-US" dirty="0"/>
                        <a:t>Weighted Average Filter</a:t>
                      </a:r>
                    </a:p>
                  </a:txBody>
                  <a:tcPr/>
                </a:tc>
                <a:tc>
                  <a:txBody>
                    <a:bodyPr/>
                    <a:lstStyle/>
                    <a:p>
                      <a:r>
                        <a:rPr lang="en-US" dirty="0"/>
                        <a:t>Non-uniform weight, larger center</a:t>
                      </a:r>
                    </a:p>
                  </a:txBody>
                  <a:tcPr/>
                </a:tc>
                <a:tc>
                  <a:txBody>
                    <a:bodyPr/>
                    <a:lstStyle/>
                    <a:p>
                      <a:r>
                        <a:rPr lang="en-US" dirty="0"/>
                        <a:t>Smooths while preserving detail</a:t>
                      </a:r>
                    </a:p>
                  </a:txBody>
                  <a:tcPr/>
                </a:tc>
                <a:extLst>
                  <a:ext uri="{0D108BD9-81ED-4DB2-BD59-A6C34878D82A}">
                    <a16:rowId xmlns:a16="http://schemas.microsoft.com/office/drawing/2014/main" val="305639038"/>
                  </a:ext>
                </a:extLst>
              </a:tr>
              <a:tr h="370840">
                <a:tc>
                  <a:txBody>
                    <a:bodyPr/>
                    <a:lstStyle/>
                    <a:p>
                      <a:r>
                        <a:rPr lang="en-US" dirty="0"/>
                        <a:t>High-pass Filter</a:t>
                      </a:r>
                    </a:p>
                  </a:txBody>
                  <a:tcPr/>
                </a:tc>
                <a:tc>
                  <a:txBody>
                    <a:bodyPr/>
                    <a:lstStyle/>
                    <a:p>
                      <a:r>
                        <a:rPr lang="en-US" dirty="0"/>
                        <a:t>Kernel with a large positive center and negative neighbors</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Sharpening, edge enhancement</a:t>
                      </a:r>
                    </a:p>
                  </a:txBody>
                  <a:tcPr/>
                </a:tc>
                <a:extLst>
                  <a:ext uri="{0D108BD9-81ED-4DB2-BD59-A6C34878D82A}">
                    <a16:rowId xmlns:a16="http://schemas.microsoft.com/office/drawing/2014/main" val="1835840853"/>
                  </a:ext>
                </a:extLst>
              </a:tr>
            </a:tbl>
          </a:graphicData>
        </a:graphic>
      </p:graphicFrame>
    </p:spTree>
    <p:extLst>
      <p:ext uri="{BB962C8B-B14F-4D97-AF65-F5344CB8AC3E}">
        <p14:creationId xmlns:p14="http://schemas.microsoft.com/office/powerpoint/2010/main" val="19254736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A77245-F7F8-54C9-56BF-87099679BD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CF5FCA-DA24-417F-99B0-4864473080B3}"/>
              </a:ext>
            </a:extLst>
          </p:cNvPr>
          <p:cNvSpPr>
            <a:spLocks noGrp="1"/>
          </p:cNvSpPr>
          <p:nvPr>
            <p:ph type="title"/>
          </p:nvPr>
        </p:nvSpPr>
        <p:spPr/>
        <p:txBody>
          <a:bodyPr/>
          <a:lstStyle/>
          <a:p>
            <a:r>
              <a:rPr lang="en-US" sz="2400" dirty="0"/>
              <a:t>Example to Matrix : Weighted Average Filter</a:t>
            </a:r>
          </a:p>
        </p:txBody>
      </p:sp>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6089B095-E45F-E969-0C03-F9CC9EF0DE92}"/>
                  </a:ext>
                </a:extLst>
              </p:cNvPr>
              <p:cNvSpPr>
                <a:spLocks noGrp="1"/>
              </p:cNvSpPr>
              <p:nvPr>
                <p:ph type="body" idx="1"/>
              </p:nvPr>
            </p:nvSpPr>
            <p:spPr>
              <a:xfrm>
                <a:off x="719999" y="1215750"/>
                <a:ext cx="7960109" cy="3233100"/>
              </a:xfrm>
            </p:spPr>
            <p:txBody>
              <a:bodyPr/>
              <a:lstStyle/>
              <a:p>
                <a:r>
                  <a:rPr lang="en-US" dirty="0"/>
                  <a:t>Given a </a:t>
                </a:r>
                <a14:m>
                  <m:oMath xmlns:m="http://schemas.openxmlformats.org/officeDocument/2006/math">
                    <m:r>
                      <a:rPr lang="en-US" i="1" dirty="0" smtClean="0">
                        <a:latin typeface="Cambria Math" panose="02040503050406030204" pitchFamily="18" charset="0"/>
                      </a:rPr>
                      <m:t>3×3</m:t>
                    </m:r>
                  </m:oMath>
                </a14:m>
                <a:r>
                  <a:rPr lang="en-US" dirty="0"/>
                  <a:t> image matrix</a:t>
                </a:r>
                <a:r>
                  <a:rPr lang="en-US" i="1" dirty="0"/>
                  <a:t>: </a:t>
                </a:r>
                <a14:m>
                  <m:oMath xmlns:m="http://schemas.openxmlformats.org/officeDocument/2006/math">
                    <m:r>
                      <a:rPr lang="en-US" i="1">
                        <a:latin typeface="Cambria Math" panose="02040503050406030204" pitchFamily="18" charset="0"/>
                      </a:rPr>
                      <m:t>𝐼</m:t>
                    </m:r>
                    <m:r>
                      <a:rPr lang="en-US" i="1">
                        <a:latin typeface="Cambria Math" panose="02040503050406030204" pitchFamily="18" charset="0"/>
                      </a:rPr>
                      <m:t>=</m:t>
                    </m:r>
                    <m:d>
                      <m:dPr>
                        <m:begChr m:val="["/>
                        <m:endChr m:val="]"/>
                        <m:ctrlPr>
                          <a:rPr lang="en-US" i="1" smtClean="0">
                            <a:latin typeface="Cambria Math" panose="02040503050406030204" pitchFamily="18" charset="0"/>
                          </a:rPr>
                        </m:ctrlPr>
                      </m:dPr>
                      <m:e>
                        <m:m>
                          <m:mPr>
                            <m:mcs>
                              <m:mc>
                                <m:mcPr>
                                  <m:count m:val="3"/>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1</m:t>
                              </m:r>
                              <m:r>
                                <m:rPr>
                                  <m:brk m:alnAt="7"/>
                                </m:rPr>
                                <a:rPr lang="en-US" b="0" i="1" smtClean="0">
                                  <a:latin typeface="Cambria Math" panose="02040503050406030204" pitchFamily="18" charset="0"/>
                                </a:rPr>
                                <m:t>0</m:t>
                              </m:r>
                            </m:e>
                            <m:e>
                              <m:r>
                                <a:rPr lang="en-US" b="0" i="1" smtClean="0">
                                  <a:latin typeface="Cambria Math" panose="02040503050406030204" pitchFamily="18" charset="0"/>
                                </a:rPr>
                                <m:t>2</m:t>
                              </m:r>
                              <m:r>
                                <a:rPr lang="en-US" i="1">
                                  <a:latin typeface="Cambria Math" panose="02040503050406030204" pitchFamily="18" charset="0"/>
                                </a:rPr>
                                <m:t>0</m:t>
                              </m:r>
                            </m:e>
                            <m:e>
                              <m:r>
                                <a:rPr lang="en-US" b="0" i="1" smtClean="0">
                                  <a:latin typeface="Cambria Math" panose="02040503050406030204" pitchFamily="18" charset="0"/>
                                </a:rPr>
                                <m:t>3</m:t>
                              </m:r>
                              <m:r>
                                <a:rPr lang="en-US" i="1">
                                  <a:latin typeface="Cambria Math" panose="02040503050406030204" pitchFamily="18" charset="0"/>
                                </a:rPr>
                                <m:t>0</m:t>
                              </m:r>
                            </m:e>
                          </m:mr>
                          <m:mr>
                            <m:e>
                              <m:r>
                                <a:rPr lang="en-US" b="0" i="1" smtClean="0">
                                  <a:latin typeface="Cambria Math" panose="02040503050406030204" pitchFamily="18" charset="0"/>
                                </a:rPr>
                                <m:t>4</m:t>
                              </m:r>
                              <m:r>
                                <a:rPr lang="en-US" i="1">
                                  <a:latin typeface="Cambria Math" panose="02040503050406030204" pitchFamily="18" charset="0"/>
                                </a:rPr>
                                <m:t>0</m:t>
                              </m:r>
                            </m:e>
                            <m:e>
                              <m:r>
                                <a:rPr lang="en-US" i="1">
                                  <a:latin typeface="Cambria Math" panose="02040503050406030204" pitchFamily="18" charset="0"/>
                                </a:rPr>
                                <m:t>50</m:t>
                              </m:r>
                            </m:e>
                            <m:e>
                              <m:r>
                                <a:rPr lang="en-US" b="0" i="1" smtClean="0">
                                  <a:latin typeface="Cambria Math" panose="02040503050406030204" pitchFamily="18" charset="0"/>
                                </a:rPr>
                                <m:t>6</m:t>
                              </m:r>
                              <m:r>
                                <a:rPr lang="en-US" i="1">
                                  <a:latin typeface="Cambria Math" panose="02040503050406030204" pitchFamily="18" charset="0"/>
                                </a:rPr>
                                <m:t>0</m:t>
                              </m:r>
                            </m:e>
                          </m:mr>
                          <m:mr>
                            <m:e>
                              <m:r>
                                <a:rPr lang="en-US" b="0" i="1" smtClean="0">
                                  <a:latin typeface="Cambria Math" panose="02040503050406030204" pitchFamily="18" charset="0"/>
                                </a:rPr>
                                <m:t>7</m:t>
                              </m:r>
                              <m:r>
                                <a:rPr lang="en-US" i="1">
                                  <a:latin typeface="Cambria Math" panose="02040503050406030204" pitchFamily="18" charset="0"/>
                                </a:rPr>
                                <m:t>0</m:t>
                              </m:r>
                            </m:e>
                            <m:e>
                              <m:r>
                                <a:rPr lang="en-US" b="0" i="1" smtClean="0">
                                  <a:latin typeface="Cambria Math" panose="02040503050406030204" pitchFamily="18" charset="0"/>
                                </a:rPr>
                                <m:t>8</m:t>
                              </m:r>
                              <m:r>
                                <a:rPr lang="en-US" i="1">
                                  <a:latin typeface="Cambria Math" panose="02040503050406030204" pitchFamily="18" charset="0"/>
                                </a:rPr>
                                <m:t>0</m:t>
                              </m:r>
                            </m:e>
                            <m:e>
                              <m:r>
                                <a:rPr lang="en-US" b="0" i="1" smtClean="0">
                                  <a:latin typeface="Cambria Math" panose="02040503050406030204" pitchFamily="18" charset="0"/>
                                </a:rPr>
                                <m:t>90</m:t>
                              </m:r>
                            </m:e>
                          </m:mr>
                        </m:m>
                      </m:e>
                    </m:d>
                  </m:oMath>
                </a14:m>
                <a:endParaRPr lang="en-US" dirty="0"/>
              </a:p>
              <a:p>
                <a:r>
                  <a:rPr lang="en-US" dirty="0"/>
                  <a:t>Use a weighted average kernel (the center has a higher weight): </a:t>
                </a:r>
                <a14:m>
                  <m:oMath xmlns:m="http://schemas.openxmlformats.org/officeDocument/2006/math">
                    <m:r>
                      <a:rPr lang="en-US" b="0" i="1" smtClean="0">
                        <a:latin typeface="Cambria Math" panose="02040503050406030204" pitchFamily="18" charset="0"/>
                      </a:rPr>
                      <m:t>𝐾</m:t>
                    </m:r>
                    <m:r>
                      <a:rPr lang="en-US" i="1">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3"/>
                                  <m:mcJc m:val="center"/>
                                </m:mcPr>
                              </m:mc>
                            </m:mcs>
                            <m:ctrlPr>
                              <a:rPr lang="en-US" i="1">
                                <a:latin typeface="Cambria Math" panose="02040503050406030204" pitchFamily="18" charset="0"/>
                              </a:rPr>
                            </m:ctrlPr>
                          </m:mPr>
                          <m:mr>
                            <m:e>
                              <m:r>
                                <m:rPr>
                                  <m:nor/>
                                </m:rPr>
                                <a:rPr lang="en-US" i="0"/>
                                <m:t>1/16</m:t>
                              </m:r>
                            </m:e>
                            <m:e>
                              <m:r>
                                <m:rPr>
                                  <m:nor/>
                                </m:rPr>
                                <a:rPr lang="en-US" i="0"/>
                                <m:t>2/16</m:t>
                              </m:r>
                            </m:e>
                            <m:e>
                              <m:r>
                                <m:rPr>
                                  <m:nor/>
                                </m:rPr>
                                <a:rPr lang="en-US" i="0"/>
                                <m:t>1/16</m:t>
                              </m:r>
                            </m:e>
                          </m:mr>
                          <m:mr>
                            <m:e>
                              <m:r>
                                <m:rPr>
                                  <m:nor/>
                                </m:rPr>
                                <a:rPr lang="en-US" i="0"/>
                                <m:t>2/16</m:t>
                              </m:r>
                            </m:e>
                            <m:e>
                              <m:r>
                                <m:rPr>
                                  <m:nor/>
                                </m:rPr>
                                <a:rPr lang="en-US" b="0" i="0" smtClean="0">
                                  <a:latin typeface="Cambria Math" panose="02040503050406030204" pitchFamily="18" charset="0"/>
                                </a:rPr>
                                <m:t>4</m:t>
                              </m:r>
                              <m:r>
                                <m:rPr>
                                  <m:nor/>
                                </m:rPr>
                                <a:rPr lang="en-US" i="0"/>
                                <m:t>/16</m:t>
                              </m:r>
                            </m:e>
                            <m:e>
                              <m:r>
                                <m:rPr>
                                  <m:nor/>
                                </m:rPr>
                                <a:rPr lang="en-US" i="0"/>
                                <m:t>2/16</m:t>
                              </m:r>
                            </m:e>
                          </m:mr>
                          <m:mr>
                            <m:e>
                              <m:r>
                                <m:rPr>
                                  <m:nor/>
                                </m:rPr>
                                <a:rPr lang="en-US" i="0"/>
                                <m:t>1/16</m:t>
                              </m:r>
                            </m:e>
                            <m:e>
                              <m:r>
                                <m:rPr>
                                  <m:nor/>
                                </m:rPr>
                                <a:rPr lang="en-US" i="0"/>
                                <m:t>2/16</m:t>
                              </m:r>
                            </m:e>
                            <m:e>
                              <m:r>
                                <m:rPr>
                                  <m:nor/>
                                </m:rPr>
                                <a:rPr lang="en-US" i="0"/>
                                <m:t>1/16</m:t>
                              </m:r>
                            </m:e>
                          </m:mr>
                        </m:m>
                      </m:e>
                    </m:d>
                  </m:oMath>
                </a14:m>
                <a:endParaRPr lang="en-US" dirty="0"/>
              </a:p>
              <a:p>
                <a:r>
                  <a:rPr lang="en-US" dirty="0"/>
                  <a:t>Calculation at a single position (the entire 3×3 matrix with 1 stride and valid padding):</a:t>
                </a:r>
              </a:p>
              <a:p>
                <a:pPr marL="177800" indent="0">
                  <a:buNone/>
                </a:pPr>
                <a14:m>
                  <m:oMathPara xmlns:m="http://schemas.openxmlformats.org/officeDocument/2006/math">
                    <m:oMath>
                      <m:r>
                        <a:rPr lang="en-US" i="1" dirty="0" smtClean="0">
                          <a:latin typeface="Cambria Math" panose="02040503050406030204" pitchFamily="18" charset="0"/>
                        </a:rPr>
                        <m:t>𝑆</m:t>
                      </m:r>
                      <m:r>
                        <a:rPr lang="en-US" i="1" dirty="0" smtClean="0">
                          <a:latin typeface="Cambria Math" panose="02040503050406030204" pitchFamily="18" charset="0"/>
                        </a:rPr>
                        <m:t> =</m:t>
                      </m:r>
                      <m:f>
                        <m:fPr>
                          <m:ctrlPr>
                            <a:rPr lang="en-US" i="1" dirty="0" smtClean="0">
                              <a:latin typeface="Cambria Math" panose="02040503050406030204" pitchFamily="18" charset="0"/>
                            </a:rPr>
                          </m:ctrlPr>
                        </m:fPr>
                        <m:num>
                          <m:d>
                            <m:dPr>
                              <m:ctrlPr>
                                <a:rPr lang="en-US" i="1" dirty="0" smtClean="0">
                                  <a:latin typeface="Cambria Math" panose="02040503050406030204" pitchFamily="18" charset="0"/>
                                </a:rPr>
                              </m:ctrlPr>
                            </m:dPr>
                            <m:e>
                              <m:r>
                                <a:rPr lang="en-US" i="1" dirty="0" smtClean="0">
                                  <a:latin typeface="Cambria Math" panose="02040503050406030204" pitchFamily="18" charset="0"/>
                                </a:rPr>
                                <m:t>10×1 + 20×2 + 30×1 + 40×2 + 50×4 + 60×2 + 70×1 + 80×2 + 90×1</m:t>
                              </m:r>
                            </m:e>
                          </m:d>
                        </m:num>
                        <m:den>
                          <m:r>
                            <a:rPr lang="en-US" b="0" i="1" dirty="0" smtClean="0">
                              <a:latin typeface="Cambria Math" panose="02040503050406030204" pitchFamily="18" charset="0"/>
                            </a:rPr>
                            <m:t>16</m:t>
                          </m:r>
                        </m:den>
                      </m:f>
                    </m:oMath>
                  </m:oMathPara>
                </a14:m>
                <a:endParaRPr lang="en-US" i="1" dirty="0">
                  <a:latin typeface="Cambria Math" panose="02040503050406030204" pitchFamily="18" charset="0"/>
                </a:endParaRPr>
              </a:p>
              <a:p>
                <a:pPr marL="177800" indent="0">
                  <a:buNone/>
                </a:pPr>
                <a14:m>
                  <m:oMath xmlns:m="http://schemas.openxmlformats.org/officeDocument/2006/math">
                    <m:r>
                      <a:rPr lang="en-US" i="1" dirty="0" smtClean="0">
                        <a:latin typeface="Cambria Math" panose="02040503050406030204" pitchFamily="18" charset="0"/>
                      </a:rPr>
                      <m:t> </m:t>
                    </m:r>
                  </m:oMath>
                </a14:m>
                <a:r>
                  <a:rPr lang="en-US" dirty="0"/>
                  <a:t> </a:t>
                </a:r>
                <a14:m>
                  <m:oMath xmlns:m="http://schemas.openxmlformats.org/officeDocument/2006/math">
                    <m:r>
                      <a:rPr lang="en-US" i="1" dirty="0">
                        <a:latin typeface="Cambria Math" panose="02040503050406030204" pitchFamily="18" charset="0"/>
                      </a:rPr>
                      <m:t>𝑆</m:t>
                    </m:r>
                    <m:r>
                      <a:rPr lang="en-US" i="1" dirty="0">
                        <a:latin typeface="Cambria Math" panose="02040503050406030204" pitchFamily="18" charset="0"/>
                      </a:rPr>
                      <m:t> =</m:t>
                    </m:r>
                    <m:f>
                      <m:fPr>
                        <m:ctrlPr>
                          <a:rPr lang="en-US" i="1" dirty="0">
                            <a:latin typeface="Cambria Math" panose="02040503050406030204" pitchFamily="18" charset="0"/>
                          </a:rPr>
                        </m:ctrlPr>
                      </m:fPr>
                      <m:num>
                        <m:d>
                          <m:dPr>
                            <m:ctrlPr>
                              <a:rPr lang="en-US" i="1" dirty="0">
                                <a:latin typeface="Cambria Math" panose="02040503050406030204" pitchFamily="18" charset="0"/>
                              </a:rPr>
                            </m:ctrlPr>
                          </m:dPr>
                          <m:e>
                            <m:r>
                              <a:rPr lang="en-US" i="1" dirty="0">
                                <a:latin typeface="Cambria Math" panose="02040503050406030204" pitchFamily="18" charset="0"/>
                              </a:rPr>
                              <m:t>10 + 40 + 30 + 80 + 200 + 120 + 70 + 160 + 90</m:t>
                            </m:r>
                          </m:e>
                        </m:d>
                      </m:num>
                      <m:den>
                        <m:r>
                          <a:rPr lang="en-US" b="0" i="1" dirty="0" smtClean="0">
                            <a:latin typeface="Cambria Math" panose="02040503050406030204" pitchFamily="18" charset="0"/>
                          </a:rPr>
                          <m:t>16</m:t>
                        </m:r>
                      </m:den>
                    </m:f>
                    <m:r>
                      <a:rPr lang="en-US" b="0" i="1" dirty="0" smtClean="0">
                        <a:latin typeface="Cambria Math" panose="02040503050406030204" pitchFamily="18" charset="0"/>
                      </a:rPr>
                      <m:t>=</m:t>
                    </m:r>
                    <m:r>
                      <a:rPr lang="en-US" i="1" dirty="0">
                        <a:latin typeface="Cambria Math" panose="02040503050406030204" pitchFamily="18" charset="0"/>
                      </a:rPr>
                      <m:t> 800 / 16 = 50</m:t>
                    </m:r>
                  </m:oMath>
                </a14:m>
                <a:endParaRPr lang="en-US" dirty="0"/>
              </a:p>
              <a:p>
                <a:pPr marL="177800" indent="0">
                  <a:buNone/>
                </a:pPr>
                <a:endParaRPr lang="en-US" dirty="0"/>
              </a:p>
              <a:p>
                <a:r>
                  <a:rPr lang="en-US" dirty="0"/>
                  <a:t>The filtering result at that position is </a:t>
                </a:r>
                <a14:m>
                  <m:oMath xmlns:m="http://schemas.openxmlformats.org/officeDocument/2006/math">
                    <m:r>
                      <a:rPr lang="en-US" i="1" dirty="0" smtClean="0">
                        <a:latin typeface="Cambria Math" panose="02040503050406030204" pitchFamily="18" charset="0"/>
                      </a:rPr>
                      <m:t>50</m:t>
                    </m:r>
                  </m:oMath>
                </a14:m>
                <a:endParaRPr lang="en-US" dirty="0"/>
              </a:p>
            </p:txBody>
          </p:sp>
        </mc:Choice>
        <mc:Fallback xmlns="">
          <p:sp>
            <p:nvSpPr>
              <p:cNvPr id="5" name="Text Placeholder 4">
                <a:extLst>
                  <a:ext uri="{FF2B5EF4-FFF2-40B4-BE49-F238E27FC236}">
                    <a16:creationId xmlns:a16="http://schemas.microsoft.com/office/drawing/2014/main" id="{6089B095-E45F-E969-0C03-F9CC9EF0DE92}"/>
                  </a:ext>
                </a:extLst>
              </p:cNvPr>
              <p:cNvSpPr>
                <a:spLocks noGrp="1" noRot="1" noChangeAspect="1" noMove="1" noResize="1" noEditPoints="1" noAdjustHandles="1" noChangeArrowheads="1" noChangeShapeType="1" noTextEdit="1"/>
              </p:cNvSpPr>
              <p:nvPr>
                <p:ph type="body" idx="1"/>
              </p:nvPr>
            </p:nvSpPr>
            <p:spPr>
              <a:xfrm>
                <a:off x="719999" y="1215750"/>
                <a:ext cx="7960109" cy="3233100"/>
              </a:xfr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2869612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90185-079A-DD1A-735F-35241E5733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B10500-BBAA-A95D-03B6-D14297EBFC81}"/>
              </a:ext>
            </a:extLst>
          </p:cNvPr>
          <p:cNvSpPr>
            <a:spLocks noGrp="1"/>
          </p:cNvSpPr>
          <p:nvPr>
            <p:ph type="title"/>
          </p:nvPr>
        </p:nvSpPr>
        <p:spPr/>
        <p:txBody>
          <a:bodyPr/>
          <a:lstStyle/>
          <a:p>
            <a:r>
              <a:rPr lang="en-US" dirty="0"/>
              <a:t>Interpretation in Image</a:t>
            </a:r>
          </a:p>
        </p:txBody>
      </p:sp>
      <p:sp>
        <p:nvSpPr>
          <p:cNvPr id="6" name="Text Placeholder 5">
            <a:extLst>
              <a:ext uri="{FF2B5EF4-FFF2-40B4-BE49-F238E27FC236}">
                <a16:creationId xmlns:a16="http://schemas.microsoft.com/office/drawing/2014/main" id="{8382F2A1-AE5F-9F91-77AE-F5A1A9811FEC}"/>
              </a:ext>
            </a:extLst>
          </p:cNvPr>
          <p:cNvSpPr>
            <a:spLocks noGrp="1"/>
          </p:cNvSpPr>
          <p:nvPr>
            <p:ph type="body" idx="1"/>
          </p:nvPr>
        </p:nvSpPr>
        <p:spPr>
          <a:xfrm>
            <a:off x="720000" y="4286530"/>
            <a:ext cx="7704000" cy="541463"/>
          </a:xfrm>
        </p:spPr>
        <p:txBody>
          <a:bodyPr/>
          <a:lstStyle/>
          <a:p>
            <a:pPr marL="177800" indent="0">
              <a:buNone/>
            </a:pPr>
            <a:endParaRPr lang="en-US" sz="1200" dirty="0"/>
          </a:p>
        </p:txBody>
      </p:sp>
      <p:pic>
        <p:nvPicPr>
          <p:cNvPr id="3" name="Picture 2">
            <a:extLst>
              <a:ext uri="{FF2B5EF4-FFF2-40B4-BE49-F238E27FC236}">
                <a16:creationId xmlns:a16="http://schemas.microsoft.com/office/drawing/2014/main" id="{A31037BA-A0C5-8F66-5486-99AB52F340E2}"/>
              </a:ext>
            </a:extLst>
          </p:cNvPr>
          <p:cNvPicPr>
            <a:picLocks noChangeAspect="1"/>
          </p:cNvPicPr>
          <p:nvPr/>
        </p:nvPicPr>
        <p:blipFill>
          <a:blip r:embed="rId2"/>
          <a:stretch>
            <a:fillRect/>
          </a:stretch>
        </p:blipFill>
        <p:spPr>
          <a:xfrm>
            <a:off x="235847" y="1182043"/>
            <a:ext cx="8600789" cy="3211538"/>
          </a:xfrm>
          <a:prstGeom prst="rect">
            <a:avLst/>
          </a:prstGeom>
        </p:spPr>
      </p:pic>
    </p:spTree>
    <p:extLst>
      <p:ext uri="{BB962C8B-B14F-4D97-AF65-F5344CB8AC3E}">
        <p14:creationId xmlns:p14="http://schemas.microsoft.com/office/powerpoint/2010/main" val="21625277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34497-CD54-993E-7532-C12C1507493D}"/>
              </a:ext>
            </a:extLst>
          </p:cNvPr>
          <p:cNvSpPr>
            <a:spLocks noGrp="1"/>
          </p:cNvSpPr>
          <p:nvPr>
            <p:ph type="title"/>
          </p:nvPr>
        </p:nvSpPr>
        <p:spPr/>
        <p:txBody>
          <a:bodyPr/>
          <a:lstStyle/>
          <a:p>
            <a:r>
              <a:rPr lang="en-US" sz="2400" dirty="0">
                <a:solidFill>
                  <a:schemeClr val="tx1"/>
                </a:solidFill>
              </a:rPr>
              <a:t>Image Contrast Adjustment</a:t>
            </a:r>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09920B3D-840A-F080-6D74-6A60CD6CC3EB}"/>
                  </a:ext>
                </a:extLst>
              </p:cNvPr>
              <p:cNvSpPr>
                <a:spLocks noGrp="1"/>
              </p:cNvSpPr>
              <p:nvPr>
                <p:ph type="body" idx="1"/>
              </p:nvPr>
            </p:nvSpPr>
            <p:spPr>
              <a:xfrm>
                <a:off x="720000" y="894595"/>
                <a:ext cx="7704000" cy="3233100"/>
              </a:xfrm>
            </p:spPr>
            <p:txBody>
              <a:bodyPr/>
              <a:lstStyle/>
              <a:p>
                <a:r>
                  <a:rPr lang="en-US" dirty="0"/>
                  <a:t>The image contrast is the difference in intensity levels between light and dark areas in an image. </a:t>
                </a:r>
              </a:p>
              <a:p>
                <a:r>
                  <a:rPr lang="en-US" dirty="0"/>
                  <a:t>Contrast adjustment is performed by remapping pixel intensity values ​​using a specific transformation function to either amplify this difference (increasing contrast) or reduce it (decreasing contrast).</a:t>
                </a:r>
              </a:p>
              <a:p>
                <a:r>
                  <a:rPr lang="en-US" dirty="0"/>
                  <a:t>General formula (linear contrast adjustment):</a:t>
                </a:r>
                <a14:m>
                  <m:oMath xmlns:m="http://schemas.openxmlformats.org/officeDocument/2006/math">
                    <m:r>
                      <a:rPr lang="en-US" b="0" i="0" smtClean="0">
                        <a:latin typeface="Cambria Math" panose="02040503050406030204" pitchFamily="18" charset="0"/>
                      </a:rPr>
                      <m:t> </m:t>
                    </m:r>
                    <m:r>
                      <a:rPr lang="en-US" i="1">
                        <a:latin typeface="Cambria Math" panose="02040503050406030204" pitchFamily="18" charset="0"/>
                      </a:rPr>
                      <m:t>𝑆</m:t>
                    </m:r>
                    <m:r>
                      <a:rPr lang="en-US" i="1">
                        <a:latin typeface="Cambria Math" panose="02040503050406030204" pitchFamily="18" charset="0"/>
                      </a:rPr>
                      <m:t> = </m:t>
                    </m:r>
                    <m:r>
                      <a:rPr lang="el-GR" i="1">
                        <a:latin typeface="Cambria Math" panose="02040503050406030204" pitchFamily="18" charset="0"/>
                      </a:rPr>
                      <m:t>𝛼</m:t>
                    </m:r>
                    <m:r>
                      <a:rPr lang="el-GR" i="1">
                        <a:latin typeface="Cambria Math" panose="02040503050406030204" pitchFamily="18" charset="0"/>
                      </a:rPr>
                      <m:t> × </m:t>
                    </m:r>
                    <m:r>
                      <a:rPr lang="en-US" i="1">
                        <a:latin typeface="Cambria Math" panose="02040503050406030204" pitchFamily="18" charset="0"/>
                      </a:rPr>
                      <m:t>𝑟</m:t>
                    </m:r>
                    <m:r>
                      <a:rPr lang="en-US" i="1">
                        <a:latin typeface="Cambria Math" panose="02040503050406030204" pitchFamily="18" charset="0"/>
                      </a:rPr>
                      <m:t> + </m:t>
                    </m:r>
                    <m:r>
                      <a:rPr lang="el-GR" i="1">
                        <a:latin typeface="Cambria Math" panose="02040503050406030204" pitchFamily="18" charset="0"/>
                      </a:rPr>
                      <m:t>𝛽</m:t>
                    </m:r>
                  </m:oMath>
                </a14:m>
                <a:endParaRPr lang="en-US" dirty="0"/>
              </a:p>
              <a:p>
                <a:pPr marL="177800" indent="0">
                  <a:buNone/>
                </a:pPr>
                <a:r>
                  <a:rPr lang="en-US" dirty="0"/>
                  <a:t>With </a:t>
                </a:r>
              </a:p>
              <a:p>
                <a:pPr lvl="1"/>
                <a14:m>
                  <m:oMath xmlns:m="http://schemas.openxmlformats.org/officeDocument/2006/math">
                    <m:r>
                      <a:rPr lang="en-US" b="0" i="1" dirty="0" smtClean="0">
                        <a:latin typeface="Cambria Math" panose="02040503050406030204" pitchFamily="18" charset="0"/>
                      </a:rPr>
                      <m:t>𝑟</m:t>
                    </m:r>
                  </m:oMath>
                </a14:m>
                <a:r>
                  <a:rPr lang="en-US" dirty="0"/>
                  <a:t> = original pixel intensity value</a:t>
                </a:r>
              </a:p>
              <a:p>
                <a:pPr lvl="1"/>
                <a14:m>
                  <m:oMath xmlns:m="http://schemas.openxmlformats.org/officeDocument/2006/math">
                    <m:r>
                      <a:rPr lang="en-US" b="0" i="1" dirty="0" smtClean="0">
                        <a:latin typeface="Cambria Math" panose="02040503050406030204" pitchFamily="18" charset="0"/>
                      </a:rPr>
                      <m:t>𝛼</m:t>
                    </m:r>
                    <m:r>
                      <a:rPr lang="en-US" b="0" i="1" dirty="0" smtClean="0">
                        <a:latin typeface="Cambria Math" panose="02040503050406030204" pitchFamily="18" charset="0"/>
                      </a:rPr>
                      <m:t> (</m:t>
                    </m:r>
                    <m:r>
                      <a:rPr lang="en-US" b="0" i="1" dirty="0" smtClean="0">
                        <a:latin typeface="Cambria Math" panose="02040503050406030204" pitchFamily="18" charset="0"/>
                      </a:rPr>
                      <m:t>𝑎𝑙𝑝ℎ𝑎</m:t>
                    </m:r>
                    <m:r>
                      <a:rPr lang="en-US" b="0" i="1" dirty="0" smtClean="0">
                        <a:latin typeface="Cambria Math" panose="02040503050406030204" pitchFamily="18" charset="0"/>
                      </a:rPr>
                      <m:t>) </m:t>
                    </m:r>
                  </m:oMath>
                </a14:m>
                <a:r>
                  <a:rPr lang="en-US" dirty="0"/>
                  <a:t>= contrast factor(α &gt; 1 </a:t>
                </a:r>
                <a:r>
                  <a:rPr lang="en-US" dirty="0" err="1"/>
                  <a:t>ncreases</a:t>
                </a:r>
                <a:r>
                  <a:rPr lang="en-US" dirty="0"/>
                  <a:t> contrast, 0 &lt; α &lt; 1 decreases contrast)</a:t>
                </a:r>
              </a:p>
              <a:p>
                <a:pPr lvl="1"/>
                <a14:m>
                  <m:oMath xmlns:m="http://schemas.openxmlformats.org/officeDocument/2006/math">
                    <m:r>
                      <a:rPr lang="en-US" b="0" i="1" dirty="0" smtClean="0">
                        <a:latin typeface="Cambria Math" panose="02040503050406030204" pitchFamily="18" charset="0"/>
                      </a:rPr>
                      <m:t>𝛽</m:t>
                    </m:r>
                    <m:r>
                      <a:rPr lang="en-US" b="0" i="1" dirty="0" smtClean="0">
                        <a:latin typeface="Cambria Math" panose="02040503050406030204" pitchFamily="18" charset="0"/>
                      </a:rPr>
                      <m:t> (</m:t>
                    </m:r>
                    <m:r>
                      <a:rPr lang="en-US" b="0" i="1" dirty="0" smtClean="0">
                        <a:latin typeface="Cambria Math" panose="02040503050406030204" pitchFamily="18" charset="0"/>
                      </a:rPr>
                      <m:t>𝑏𝑒𝑡𝑎</m:t>
                    </m:r>
                    <m:r>
                      <a:rPr lang="en-US" b="0" i="1" dirty="0" smtClean="0">
                        <a:latin typeface="Cambria Math" panose="02040503050406030204" pitchFamily="18" charset="0"/>
                      </a:rPr>
                      <m:t>) </m:t>
                    </m:r>
                  </m:oMath>
                </a14:m>
                <a:r>
                  <a:rPr lang="en-US" dirty="0"/>
                  <a:t>= brightness factor (equivalent to the histogram shifting)</a:t>
                </a:r>
              </a:p>
              <a:p>
                <a:pPr lvl="1"/>
                <a:r>
                  <a:rPr lang="en-US" dirty="0"/>
                  <a:t>S = result value, clipped to [</a:t>
                </a:r>
                <a14:m>
                  <m:oMath xmlns:m="http://schemas.openxmlformats.org/officeDocument/2006/math">
                    <m:r>
                      <a:rPr lang="en-US" i="1" dirty="0" smtClean="0">
                        <a:latin typeface="Cambria Math" panose="02040503050406030204" pitchFamily="18" charset="0"/>
                      </a:rPr>
                      <m:t>0, 255</m:t>
                    </m:r>
                  </m:oMath>
                </a14:m>
                <a:r>
                  <a:rPr lang="en-US" dirty="0"/>
                  <a:t>]</a:t>
                </a:r>
              </a:p>
              <a:p>
                <a:pPr lvl="0"/>
                <a:r>
                  <a:rPr lang="it-IT" dirty="0"/>
                  <a:t>Alternative formula — Gamma Correction (non-linear): </a:t>
                </a:r>
                <a14:m>
                  <m:oMath xmlns:m="http://schemas.openxmlformats.org/officeDocument/2006/math">
                    <m:r>
                      <a:rPr lang="pt-BR" i="1" dirty="0" smtClean="0">
                        <a:latin typeface="Cambria Math" panose="02040503050406030204" pitchFamily="18" charset="0"/>
                      </a:rPr>
                      <m:t>𝑆</m:t>
                    </m:r>
                    <m:r>
                      <a:rPr lang="pt-BR" i="1" dirty="0" smtClean="0">
                        <a:latin typeface="Cambria Math" panose="02040503050406030204" pitchFamily="18" charset="0"/>
                      </a:rPr>
                      <m:t> = 255 × </m:t>
                    </m:r>
                    <m:sSup>
                      <m:sSupPr>
                        <m:ctrlPr>
                          <a:rPr lang="en-US" i="1" dirty="0">
                            <a:latin typeface="Cambria Math" panose="02040503050406030204" pitchFamily="18" charset="0"/>
                          </a:rPr>
                        </m:ctrlPr>
                      </m:sSupPr>
                      <m:e>
                        <m:d>
                          <m:dPr>
                            <m:ctrlPr>
                              <a:rPr lang="en-US" i="1" dirty="0">
                                <a:latin typeface="Cambria Math" panose="02040503050406030204" pitchFamily="18" charset="0"/>
                              </a:rPr>
                            </m:ctrlPr>
                          </m:dPr>
                          <m:e>
                            <m:f>
                              <m:fPr>
                                <m:ctrlPr>
                                  <a:rPr lang="en-US" i="1" dirty="0">
                                    <a:latin typeface="Cambria Math" panose="02040503050406030204" pitchFamily="18" charset="0"/>
                                  </a:rPr>
                                </m:ctrlPr>
                              </m:fPr>
                              <m:num>
                                <m:r>
                                  <a:rPr lang="en-US" i="1" dirty="0">
                                    <a:latin typeface="Cambria Math" panose="02040503050406030204" pitchFamily="18" charset="0"/>
                                  </a:rPr>
                                  <m:t>𝑟</m:t>
                                </m:r>
                              </m:num>
                              <m:den>
                                <m:r>
                                  <a:rPr lang="en-US" i="1" dirty="0">
                                    <a:latin typeface="Cambria Math" panose="02040503050406030204" pitchFamily="18" charset="0"/>
                                  </a:rPr>
                                  <m:t>255</m:t>
                                </m:r>
                              </m:den>
                            </m:f>
                          </m:e>
                        </m:d>
                      </m:e>
                      <m:sup>
                        <m:r>
                          <a:rPr lang="en-US" i="1" dirty="0" smtClean="0">
                            <a:latin typeface="Cambria Math" panose="02040503050406030204" pitchFamily="18" charset="0"/>
                            <a:ea typeface="Cambria Math" panose="02040503050406030204" pitchFamily="18" charset="0"/>
                          </a:rPr>
                          <m:t>𝛾</m:t>
                        </m:r>
                      </m:sup>
                    </m:sSup>
                  </m:oMath>
                </a14:m>
                <a:endParaRPr lang="en-US" dirty="0"/>
              </a:p>
              <a:p>
                <a:pPr marL="177800" lvl="0" indent="0">
                  <a:buNone/>
                </a:pPr>
                <a:r>
                  <a:rPr lang="en-US" dirty="0"/>
                  <a:t>With:</a:t>
                </a:r>
              </a:p>
              <a:p>
                <a:pPr marL="177800" lvl="0" indent="0">
                  <a:buNone/>
                </a:pPr>
                <a:r>
                  <a:rPr lang="el-GR" dirty="0"/>
                  <a:t>γ (</a:t>
                </a:r>
                <a:r>
                  <a:rPr lang="en-US" dirty="0"/>
                  <a:t>gamma) &lt; 1 : </a:t>
                </a:r>
                <a:r>
                  <a:rPr lang="en-US" dirty="0" err="1"/>
                  <a:t>mencerahkan</a:t>
                </a:r>
                <a:r>
                  <a:rPr lang="en-US" dirty="0"/>
                  <a:t> </a:t>
                </a:r>
                <a:r>
                  <a:rPr lang="en-US" dirty="0" err="1"/>
                  <a:t>bagian</a:t>
                </a:r>
                <a:r>
                  <a:rPr lang="en-US" dirty="0"/>
                  <a:t> </a:t>
                </a:r>
                <a:r>
                  <a:rPr lang="en-US" dirty="0" err="1"/>
                  <a:t>gelap</a:t>
                </a:r>
                <a:r>
                  <a:rPr lang="en-US" dirty="0"/>
                  <a:t> (</a:t>
                </a:r>
                <a:r>
                  <a:rPr lang="en-US" dirty="0" err="1"/>
                  <a:t>ekspansi</a:t>
                </a:r>
                <a:r>
                  <a:rPr lang="en-US" dirty="0"/>
                  <a:t> shadow)</a:t>
                </a:r>
              </a:p>
              <a:p>
                <a:pPr marL="177800" lvl="0" indent="0">
                  <a:buNone/>
                </a:pPr>
                <a:r>
                  <a:rPr lang="el-GR" dirty="0"/>
                  <a:t>γ (</a:t>
                </a:r>
                <a:r>
                  <a:rPr lang="en-US" dirty="0"/>
                  <a:t>gamma) &gt; 1 : </a:t>
                </a:r>
                <a:r>
                  <a:rPr lang="en-US" dirty="0" err="1"/>
                  <a:t>menggelapkan</a:t>
                </a:r>
                <a:r>
                  <a:rPr lang="en-US" dirty="0"/>
                  <a:t> </a:t>
                </a:r>
                <a:r>
                  <a:rPr lang="en-US" dirty="0" err="1"/>
                  <a:t>bagian</a:t>
                </a:r>
                <a:r>
                  <a:rPr lang="en-US" dirty="0"/>
                  <a:t> </a:t>
                </a:r>
                <a:r>
                  <a:rPr lang="en-US" dirty="0" err="1"/>
                  <a:t>terang</a:t>
                </a:r>
                <a:r>
                  <a:rPr lang="en-US" dirty="0"/>
                  <a:t> (</a:t>
                </a:r>
                <a:r>
                  <a:rPr lang="en-US" dirty="0" err="1"/>
                  <a:t>kompresi</a:t>
                </a:r>
                <a:r>
                  <a:rPr lang="en-US" dirty="0"/>
                  <a:t> highlight)</a:t>
                </a:r>
              </a:p>
              <a:p>
                <a:pPr marL="177800" lvl="0" indent="0">
                  <a:buNone/>
                </a:pPr>
                <a:endParaRPr lang="en-US" dirty="0"/>
              </a:p>
            </p:txBody>
          </p:sp>
        </mc:Choice>
        <mc:Fallback>
          <p:sp>
            <p:nvSpPr>
              <p:cNvPr id="3" name="Text Placeholder 2">
                <a:extLst>
                  <a:ext uri="{FF2B5EF4-FFF2-40B4-BE49-F238E27FC236}">
                    <a16:creationId xmlns:a16="http://schemas.microsoft.com/office/drawing/2014/main" id="{09920B3D-840A-F080-6D74-6A60CD6CC3EB}"/>
                  </a:ext>
                </a:extLst>
              </p:cNvPr>
              <p:cNvSpPr>
                <a:spLocks noGrp="1" noRot="1" noChangeAspect="1" noMove="1" noResize="1" noEditPoints="1" noAdjustHandles="1" noChangeArrowheads="1" noChangeShapeType="1" noTextEdit="1"/>
              </p:cNvSpPr>
              <p:nvPr>
                <p:ph type="body" idx="1"/>
              </p:nvPr>
            </p:nvSpPr>
            <p:spPr>
              <a:xfrm>
                <a:off x="720000" y="894595"/>
                <a:ext cx="7704000" cy="3233100"/>
              </a:xfrm>
              <a:blipFill>
                <a:blip r:embed="rId2"/>
                <a:stretch>
                  <a:fillRect r="-554" b="-24340"/>
                </a:stretch>
              </a:blipFill>
            </p:spPr>
            <p:txBody>
              <a:bodyPr/>
              <a:lstStyle/>
              <a:p>
                <a:r>
                  <a:rPr lang="en-US">
                    <a:noFill/>
                  </a:rPr>
                  <a:t> </a:t>
                </a:r>
              </a:p>
            </p:txBody>
          </p:sp>
        </mc:Fallback>
      </mc:AlternateContent>
    </p:spTree>
    <p:extLst>
      <p:ext uri="{BB962C8B-B14F-4D97-AF65-F5344CB8AC3E}">
        <p14:creationId xmlns:p14="http://schemas.microsoft.com/office/powerpoint/2010/main" val="27556909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717C1-6D93-7C85-4340-3D5CB55E96D2}"/>
              </a:ext>
            </a:extLst>
          </p:cNvPr>
          <p:cNvSpPr>
            <a:spLocks noGrp="1"/>
          </p:cNvSpPr>
          <p:nvPr>
            <p:ph type="title"/>
          </p:nvPr>
        </p:nvSpPr>
        <p:spPr/>
        <p:txBody>
          <a:bodyPr/>
          <a:lstStyle/>
          <a:p>
            <a:r>
              <a:rPr lang="en-US" dirty="0"/>
              <a:t>Example to Matrix</a:t>
            </a:r>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1611DDBF-3FFB-C2CB-23FF-ACC6C4D6416A}"/>
                  </a:ext>
                </a:extLst>
              </p:cNvPr>
              <p:cNvSpPr>
                <a:spLocks noGrp="1"/>
              </p:cNvSpPr>
              <p:nvPr>
                <p:ph type="body" idx="1"/>
              </p:nvPr>
            </p:nvSpPr>
            <p:spPr>
              <a:xfrm>
                <a:off x="720000" y="1215750"/>
                <a:ext cx="8162086" cy="3233100"/>
              </a:xfrm>
            </p:spPr>
            <p:txBody>
              <a:bodyPr/>
              <a:lstStyle/>
              <a:p>
                <a:r>
                  <a:rPr lang="en-US" dirty="0"/>
                  <a:t>Given a </a:t>
                </a:r>
                <a14:m>
                  <m:oMath xmlns:m="http://schemas.openxmlformats.org/officeDocument/2006/math">
                    <m:r>
                      <a:rPr lang="en-US" i="1" dirty="0">
                        <a:latin typeface="Cambria Math" panose="02040503050406030204" pitchFamily="18" charset="0"/>
                      </a:rPr>
                      <m:t>3×3</m:t>
                    </m:r>
                  </m:oMath>
                </a14:m>
                <a:r>
                  <a:rPr lang="en-US" dirty="0"/>
                  <a:t> image matrix</a:t>
                </a:r>
                <a:r>
                  <a:rPr lang="en-US" i="1" dirty="0"/>
                  <a:t>: </a:t>
                </a:r>
                <a14:m>
                  <m:oMath xmlns:m="http://schemas.openxmlformats.org/officeDocument/2006/math">
                    <m:r>
                      <a:rPr lang="en-US" i="1">
                        <a:latin typeface="Cambria Math" panose="02040503050406030204" pitchFamily="18" charset="0"/>
                      </a:rPr>
                      <m:t>𝐼</m:t>
                    </m:r>
                    <m:r>
                      <a:rPr lang="en-US" i="1">
                        <a:latin typeface="Cambria Math" panose="02040503050406030204" pitchFamily="18" charset="0"/>
                      </a:rPr>
                      <m:t>=</m:t>
                    </m:r>
                    <m:d>
                      <m:dPr>
                        <m:begChr m:val="["/>
                        <m:endChr m:val="]"/>
                        <m:ctrlPr>
                          <a:rPr lang="en-US" i="1" smtClean="0">
                            <a:latin typeface="Cambria Math" panose="02040503050406030204" pitchFamily="18" charset="0"/>
                          </a:rPr>
                        </m:ctrlPr>
                      </m:dPr>
                      <m:e>
                        <m:m>
                          <m:mPr>
                            <m:mcs>
                              <m:mc>
                                <m:mcPr>
                                  <m:count m:val="3"/>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5</m:t>
                              </m:r>
                              <m:r>
                                <m:rPr>
                                  <m:brk m:alnAt="7"/>
                                </m:rPr>
                                <a:rPr lang="en-US" b="0" i="1" smtClean="0">
                                  <a:latin typeface="Cambria Math" panose="02040503050406030204" pitchFamily="18" charset="0"/>
                                </a:rPr>
                                <m:t>0</m:t>
                              </m:r>
                            </m:e>
                            <m:e>
                              <m:r>
                                <a:rPr lang="en-US" b="0" i="1" smtClean="0">
                                  <a:latin typeface="Cambria Math" panose="02040503050406030204" pitchFamily="18" charset="0"/>
                                </a:rPr>
                                <m:t>10</m:t>
                              </m:r>
                              <m:r>
                                <a:rPr lang="en-US" i="1">
                                  <a:latin typeface="Cambria Math" panose="02040503050406030204" pitchFamily="18" charset="0"/>
                                </a:rPr>
                                <m:t>0</m:t>
                              </m:r>
                            </m:e>
                            <m:e>
                              <m:r>
                                <a:rPr lang="en-US" b="0" i="1" smtClean="0">
                                  <a:latin typeface="Cambria Math" panose="02040503050406030204" pitchFamily="18" charset="0"/>
                                </a:rPr>
                                <m:t>15</m:t>
                              </m:r>
                              <m:r>
                                <a:rPr lang="en-US" i="1">
                                  <a:latin typeface="Cambria Math" panose="02040503050406030204" pitchFamily="18" charset="0"/>
                                </a:rPr>
                                <m:t>0</m:t>
                              </m:r>
                            </m:e>
                          </m:mr>
                          <m:mr>
                            <m:e>
                              <m:r>
                                <a:rPr lang="en-US" b="0" i="1" smtClean="0">
                                  <a:latin typeface="Cambria Math" panose="02040503050406030204" pitchFamily="18" charset="0"/>
                                </a:rPr>
                                <m:t>80</m:t>
                              </m:r>
                            </m:e>
                            <m:e>
                              <m:r>
                                <a:rPr lang="en-US" b="0" i="1" smtClean="0">
                                  <a:latin typeface="Cambria Math" panose="02040503050406030204" pitchFamily="18" charset="0"/>
                                </a:rPr>
                                <m:t>12</m:t>
                              </m:r>
                              <m:r>
                                <a:rPr lang="en-US" i="1">
                                  <a:latin typeface="Cambria Math" panose="02040503050406030204" pitchFamily="18" charset="0"/>
                                </a:rPr>
                                <m:t>0</m:t>
                              </m:r>
                            </m:e>
                            <m:e>
                              <m:r>
                                <a:rPr lang="en-US" b="0" i="1" smtClean="0">
                                  <a:latin typeface="Cambria Math" panose="02040503050406030204" pitchFamily="18" charset="0"/>
                                </a:rPr>
                                <m:t>18</m:t>
                              </m:r>
                              <m:r>
                                <a:rPr lang="en-US" i="1">
                                  <a:latin typeface="Cambria Math" panose="02040503050406030204" pitchFamily="18" charset="0"/>
                                </a:rPr>
                                <m:t>0</m:t>
                              </m:r>
                            </m:e>
                          </m:mr>
                          <m:mr>
                            <m:e>
                              <m:r>
                                <a:rPr lang="en-US" b="0" i="1" smtClean="0">
                                  <a:latin typeface="Cambria Math" panose="02040503050406030204" pitchFamily="18" charset="0"/>
                                </a:rPr>
                                <m:t>6</m:t>
                              </m:r>
                              <m:r>
                                <a:rPr lang="en-US" i="1">
                                  <a:latin typeface="Cambria Math" panose="02040503050406030204" pitchFamily="18" charset="0"/>
                                </a:rPr>
                                <m:t>0</m:t>
                              </m:r>
                            </m:e>
                            <m:e>
                              <m:r>
                                <a:rPr lang="en-US" b="0" i="1" smtClean="0">
                                  <a:latin typeface="Cambria Math" panose="02040503050406030204" pitchFamily="18" charset="0"/>
                                </a:rPr>
                                <m:t>14</m:t>
                              </m:r>
                              <m:r>
                                <a:rPr lang="en-US" i="1">
                                  <a:latin typeface="Cambria Math" panose="02040503050406030204" pitchFamily="18" charset="0"/>
                                </a:rPr>
                                <m:t>0</m:t>
                              </m:r>
                            </m:e>
                            <m:e>
                              <m:r>
                                <a:rPr lang="en-US" b="0" i="1" smtClean="0">
                                  <a:latin typeface="Cambria Math" panose="02040503050406030204" pitchFamily="18" charset="0"/>
                                </a:rPr>
                                <m:t>20</m:t>
                              </m:r>
                              <m:r>
                                <a:rPr lang="en-US" i="1">
                                  <a:latin typeface="Cambria Math" panose="02040503050406030204" pitchFamily="18" charset="0"/>
                                </a:rPr>
                                <m:t>0</m:t>
                              </m:r>
                            </m:e>
                          </m:mr>
                        </m:m>
                      </m:e>
                    </m:d>
                  </m:oMath>
                </a14:m>
                <a:endParaRPr lang="en-US" dirty="0"/>
              </a:p>
              <a:p>
                <a:endParaRPr lang="en-US" sz="600" dirty="0"/>
              </a:p>
              <a:p>
                <a:r>
                  <a:rPr lang="en-US" dirty="0"/>
                  <a:t>Increase the contrast with </a:t>
                </a:r>
                <a14:m>
                  <m:oMath xmlns:m="http://schemas.openxmlformats.org/officeDocument/2006/math">
                    <m:r>
                      <a:rPr lang="en-US" i="1" dirty="0" smtClean="0">
                        <a:latin typeface="Cambria Math" panose="02040503050406030204" pitchFamily="18" charset="0"/>
                      </a:rPr>
                      <m:t>𝛼</m:t>
                    </m:r>
                    <m:r>
                      <a:rPr lang="en-US" i="1" dirty="0" smtClean="0">
                        <a:latin typeface="Cambria Math" panose="02040503050406030204" pitchFamily="18" charset="0"/>
                      </a:rPr>
                      <m:t> = 1.5, </m:t>
                    </m:r>
                    <m:r>
                      <a:rPr lang="en-US" i="1" dirty="0" smtClean="0">
                        <a:latin typeface="Cambria Math" panose="02040503050406030204" pitchFamily="18" charset="0"/>
                      </a:rPr>
                      <m:t>𝛽</m:t>
                    </m:r>
                    <m:r>
                      <a:rPr lang="en-US" i="1" dirty="0" smtClean="0">
                        <a:latin typeface="Cambria Math" panose="02040503050406030204" pitchFamily="18" charset="0"/>
                      </a:rPr>
                      <m:t> = −30,  </m:t>
                    </m:r>
                    <m:r>
                      <a:rPr lang="en-US" b="0" i="1" dirty="0" smtClean="0">
                        <a:latin typeface="Cambria Math" panose="02040503050406030204" pitchFamily="18" charset="0"/>
                      </a:rPr>
                      <m:t>𝐹𝑜𝑟𝑚𝑢𝑙𝑎</m:t>
                    </m:r>
                    <m:r>
                      <a:rPr lang="en-US" b="0" i="1" dirty="0" smtClean="0">
                        <a:latin typeface="Cambria Math" panose="02040503050406030204" pitchFamily="18" charset="0"/>
                      </a:rPr>
                      <m:t> </m:t>
                    </m:r>
                    <m:r>
                      <a:rPr lang="en-US" i="1">
                        <a:latin typeface="Cambria Math" panose="02040503050406030204" pitchFamily="18" charset="0"/>
                      </a:rPr>
                      <m:t>𝑆</m:t>
                    </m:r>
                    <m:r>
                      <a:rPr lang="en-US" i="1">
                        <a:latin typeface="Cambria Math" panose="02040503050406030204" pitchFamily="18" charset="0"/>
                      </a:rPr>
                      <m:t> = </m:t>
                    </m:r>
                    <m:r>
                      <a:rPr lang="el-GR" i="1">
                        <a:latin typeface="Cambria Math" panose="02040503050406030204" pitchFamily="18" charset="0"/>
                      </a:rPr>
                      <m:t>𝛼</m:t>
                    </m:r>
                    <m:r>
                      <a:rPr lang="el-GR" i="1">
                        <a:latin typeface="Cambria Math" panose="02040503050406030204" pitchFamily="18" charset="0"/>
                      </a:rPr>
                      <m:t> × </m:t>
                    </m:r>
                    <m:r>
                      <a:rPr lang="en-US" i="1">
                        <a:latin typeface="Cambria Math" panose="02040503050406030204" pitchFamily="18" charset="0"/>
                      </a:rPr>
                      <m:t>𝑟</m:t>
                    </m:r>
                    <m:r>
                      <a:rPr lang="en-US" i="1">
                        <a:latin typeface="Cambria Math" panose="02040503050406030204" pitchFamily="18" charset="0"/>
                      </a:rPr>
                      <m:t> + </m:t>
                    </m:r>
                    <m:r>
                      <a:rPr lang="el-GR" i="1">
                        <a:latin typeface="Cambria Math" panose="02040503050406030204" pitchFamily="18" charset="0"/>
                      </a:rPr>
                      <m:t>𝛽</m:t>
                    </m:r>
                  </m:oMath>
                </a14:m>
                <a:r>
                  <a:rPr lang="en-US" dirty="0"/>
                  <a:t> :</a:t>
                </a:r>
              </a:p>
              <a:p>
                <a:endParaRPr lang="en-US" sz="1200" dirty="0"/>
              </a:p>
              <a:p>
                <a14:m>
                  <m:oMath xmlns:m="http://schemas.openxmlformats.org/officeDocument/2006/math">
                    <m:r>
                      <a:rPr lang="en-US" i="1" dirty="0" smtClean="0">
                        <a:latin typeface="Cambria Math" panose="02040503050406030204" pitchFamily="18" charset="0"/>
                      </a:rPr>
                      <m:t>𝑆</m:t>
                    </m:r>
                    <m:r>
                      <a:rPr lang="en-US" i="1" dirty="0" smtClean="0">
                        <a:latin typeface="Cambria Math" panose="02040503050406030204" pitchFamily="18" charset="0"/>
                      </a:rPr>
                      <m:t>(0,0) = 1.5×50 − 30 = 45 </m:t>
                    </m:r>
                  </m:oMath>
                </a14:m>
                <a:endParaRPr lang="en-US" dirty="0"/>
              </a:p>
              <a:p>
                <a14:m>
                  <m:oMath xmlns:m="http://schemas.openxmlformats.org/officeDocument/2006/math">
                    <m:r>
                      <a:rPr lang="en-US" i="1" dirty="0" smtClean="0">
                        <a:latin typeface="Cambria Math" panose="02040503050406030204" pitchFamily="18" charset="0"/>
                      </a:rPr>
                      <m:t>𝑆</m:t>
                    </m:r>
                    <m:r>
                      <a:rPr lang="en-US" i="1" dirty="0">
                        <a:latin typeface="Cambria Math" panose="02040503050406030204" pitchFamily="18" charset="0"/>
                      </a:rPr>
                      <m:t>(0,1) = 1.5×100 − 30 = 120 </m:t>
                    </m:r>
                  </m:oMath>
                </a14:m>
                <a:endParaRPr lang="en-US" dirty="0"/>
              </a:p>
              <a:p>
                <a14:m>
                  <m:oMath xmlns:m="http://schemas.openxmlformats.org/officeDocument/2006/math">
                    <m:r>
                      <a:rPr lang="en-US" i="1" dirty="0" smtClean="0">
                        <a:latin typeface="Cambria Math" panose="02040503050406030204" pitchFamily="18" charset="0"/>
                      </a:rPr>
                      <m:t>𝑆</m:t>
                    </m:r>
                    <m:r>
                      <a:rPr lang="en-US" i="1" dirty="0">
                        <a:latin typeface="Cambria Math" panose="02040503050406030204" pitchFamily="18" charset="0"/>
                      </a:rPr>
                      <m:t>(0,2) = 1.5×150 − 30 = 195 </m:t>
                    </m:r>
                  </m:oMath>
                </a14:m>
                <a:endParaRPr lang="en-US" dirty="0"/>
              </a:p>
              <a:p>
                <a14:m>
                  <m:oMath xmlns:m="http://schemas.openxmlformats.org/officeDocument/2006/math">
                    <m:r>
                      <a:rPr lang="en-US" i="1" dirty="0" smtClean="0">
                        <a:latin typeface="Cambria Math" panose="02040503050406030204" pitchFamily="18" charset="0"/>
                      </a:rPr>
                      <m:t>𝑆</m:t>
                    </m:r>
                    <m:r>
                      <a:rPr lang="en-US" i="1" dirty="0">
                        <a:latin typeface="Cambria Math" panose="02040503050406030204" pitchFamily="18" charset="0"/>
                      </a:rPr>
                      <m:t>(1,0) = 1.5×80 − 30 = 90 </m:t>
                    </m:r>
                  </m:oMath>
                </a14:m>
                <a:endParaRPr lang="en-US" dirty="0"/>
              </a:p>
              <a:p>
                <a14:m>
                  <m:oMath xmlns:m="http://schemas.openxmlformats.org/officeDocument/2006/math">
                    <m:r>
                      <a:rPr lang="en-US" i="1" dirty="0" smtClean="0">
                        <a:latin typeface="Cambria Math" panose="02040503050406030204" pitchFamily="18" charset="0"/>
                      </a:rPr>
                      <m:t>𝑆</m:t>
                    </m:r>
                    <m:r>
                      <a:rPr lang="en-US" i="1" dirty="0">
                        <a:latin typeface="Cambria Math" panose="02040503050406030204" pitchFamily="18" charset="0"/>
                      </a:rPr>
                      <m:t>(1,1) = 1.5×120 − 30 = 150 </m:t>
                    </m:r>
                  </m:oMath>
                </a14:m>
                <a:endParaRPr lang="en-US" dirty="0"/>
              </a:p>
              <a:p>
                <a14:m>
                  <m:oMath xmlns:m="http://schemas.openxmlformats.org/officeDocument/2006/math">
                    <m:r>
                      <a:rPr lang="en-US" i="1" dirty="0" smtClean="0">
                        <a:latin typeface="Cambria Math" panose="02040503050406030204" pitchFamily="18" charset="0"/>
                      </a:rPr>
                      <m:t>𝑆</m:t>
                    </m:r>
                    <m:r>
                      <a:rPr lang="en-US" i="1" dirty="0">
                        <a:latin typeface="Cambria Math" panose="02040503050406030204" pitchFamily="18" charset="0"/>
                      </a:rPr>
                      <m:t>(1,2) = 1.5×180 − 30 = 240 </m:t>
                    </m:r>
                  </m:oMath>
                </a14:m>
                <a:endParaRPr lang="en-US" dirty="0"/>
              </a:p>
              <a:p>
                <a14:m>
                  <m:oMath xmlns:m="http://schemas.openxmlformats.org/officeDocument/2006/math">
                    <m:r>
                      <a:rPr lang="en-US" i="1" dirty="0" smtClean="0">
                        <a:latin typeface="Cambria Math" panose="02040503050406030204" pitchFamily="18" charset="0"/>
                      </a:rPr>
                      <m:t>𝑆</m:t>
                    </m:r>
                    <m:r>
                      <a:rPr lang="en-US" i="1" dirty="0">
                        <a:latin typeface="Cambria Math" panose="02040503050406030204" pitchFamily="18" charset="0"/>
                      </a:rPr>
                      <m:t>(2,0) = 1.5×60 − 30 = 60 </m:t>
                    </m:r>
                  </m:oMath>
                </a14:m>
                <a:endParaRPr lang="en-US" dirty="0"/>
              </a:p>
              <a:p>
                <a14:m>
                  <m:oMath xmlns:m="http://schemas.openxmlformats.org/officeDocument/2006/math">
                    <m:r>
                      <a:rPr lang="en-US" i="1" dirty="0" smtClean="0">
                        <a:latin typeface="Cambria Math" panose="02040503050406030204" pitchFamily="18" charset="0"/>
                      </a:rPr>
                      <m:t>𝑆</m:t>
                    </m:r>
                    <m:r>
                      <a:rPr lang="en-US" i="1" dirty="0">
                        <a:latin typeface="Cambria Math" panose="02040503050406030204" pitchFamily="18" charset="0"/>
                      </a:rPr>
                      <m:t>(2,1) = 1.5×140 − 30 = 180 </m:t>
                    </m:r>
                  </m:oMath>
                </a14:m>
                <a:endParaRPr lang="en-US" dirty="0"/>
              </a:p>
              <a:p>
                <a14:m>
                  <m:oMath xmlns:m="http://schemas.openxmlformats.org/officeDocument/2006/math">
                    <m:r>
                      <a:rPr lang="en-US" i="1" dirty="0" smtClean="0">
                        <a:latin typeface="Cambria Math" panose="02040503050406030204" pitchFamily="18" charset="0"/>
                      </a:rPr>
                      <m:t>𝑆</m:t>
                    </m:r>
                    <m:r>
                      <a:rPr lang="en-US" i="1" dirty="0">
                        <a:latin typeface="Cambria Math" panose="02040503050406030204" pitchFamily="18" charset="0"/>
                      </a:rPr>
                      <m:t>(2,2) = 1.5×200 − 30 = 270 </m:t>
                    </m:r>
                  </m:oMath>
                </a14:m>
                <a:r>
                  <a:rPr lang="en-US" dirty="0"/>
                  <a:t>-&gt; di-clip </a:t>
                </a:r>
                <a:r>
                  <a:rPr lang="en-US" dirty="0" err="1"/>
                  <a:t>menjadi</a:t>
                </a:r>
                <a:r>
                  <a:rPr lang="en-US" dirty="0"/>
                  <a:t> </a:t>
                </a:r>
                <a14:m>
                  <m:oMath xmlns:m="http://schemas.openxmlformats.org/officeDocument/2006/math">
                    <m:r>
                      <a:rPr lang="en-US" i="1" dirty="0" smtClean="0">
                        <a:latin typeface="Cambria Math" panose="02040503050406030204" pitchFamily="18" charset="0"/>
                      </a:rPr>
                      <m:t>255</m:t>
                    </m:r>
                  </m:oMath>
                </a14:m>
                <a:endParaRPr lang="en-US" dirty="0"/>
              </a:p>
              <a:p>
                <a:endParaRPr lang="en-US" dirty="0"/>
              </a:p>
            </p:txBody>
          </p:sp>
        </mc:Choice>
        <mc:Fallback>
          <p:sp>
            <p:nvSpPr>
              <p:cNvPr id="3" name="Text Placeholder 2">
                <a:extLst>
                  <a:ext uri="{FF2B5EF4-FFF2-40B4-BE49-F238E27FC236}">
                    <a16:creationId xmlns:a16="http://schemas.microsoft.com/office/drawing/2014/main" id="{1611DDBF-3FFB-C2CB-23FF-ACC6C4D6416A}"/>
                  </a:ext>
                </a:extLst>
              </p:cNvPr>
              <p:cNvSpPr>
                <a:spLocks noGrp="1" noRot="1" noChangeAspect="1" noMove="1" noResize="1" noEditPoints="1" noAdjustHandles="1" noChangeArrowheads="1" noChangeShapeType="1" noTextEdit="1"/>
              </p:cNvSpPr>
              <p:nvPr>
                <p:ph type="body" idx="1"/>
              </p:nvPr>
            </p:nvSpPr>
            <p:spPr>
              <a:xfrm>
                <a:off x="720000" y="1215750"/>
                <a:ext cx="8162086" cy="3233100"/>
              </a:xfrm>
              <a:blipFill>
                <a:blip r:embed="rId2"/>
                <a:stretch>
                  <a:fillRect b="-1148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1D8CC1A8-5F2F-4487-CEC4-AC90EC54F2B8}"/>
                  </a:ext>
                </a:extLst>
              </p:cNvPr>
              <p:cNvSpPr txBox="1"/>
              <p:nvPr/>
            </p:nvSpPr>
            <p:spPr>
              <a:xfrm>
                <a:off x="5263376" y="2859772"/>
                <a:ext cx="2132113" cy="662104"/>
              </a:xfrm>
              <a:prstGeom prst="rect">
                <a:avLst/>
              </a:prstGeom>
              <a:noFill/>
            </p:spPr>
            <p:txBody>
              <a:bodyPr wrap="square" rtlCol="0">
                <a:spAutoFit/>
              </a:bodyPr>
              <a:lstStyle/>
              <a:p>
                <a:pPr/>
                <a14:m>
                  <m:oMathPara xmlns:m="http://schemas.openxmlformats.org/officeDocument/2006/math">
                    <m:oMath>
                      <m:r>
                        <a:rPr lang="en-US" b="0" i="1" smtClean="0">
                          <a:latin typeface="Cambria Math" panose="02040503050406030204" pitchFamily="18" charset="0"/>
                        </a:rPr>
                        <m:t>𝑆</m:t>
                      </m:r>
                      <m:r>
                        <a:rPr lang="en-US" i="1">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3"/>
                                    <m:mcJc m:val="center"/>
                                  </m:mcPr>
                                </m:mc>
                              </m:mcs>
                              <m:ctrlPr>
                                <a:rPr lang="en-US" i="1">
                                  <a:latin typeface="Cambria Math" panose="02040503050406030204" pitchFamily="18" charset="0"/>
                                </a:rPr>
                              </m:ctrlPr>
                            </m:mPr>
                            <m:mr>
                              <m:e>
                                <m:r>
                                  <m:rPr>
                                    <m:brk m:alnAt="7"/>
                                  </m:rPr>
                                  <a:rPr lang="en-US" b="0" i="1" smtClean="0">
                                    <a:latin typeface="Cambria Math" panose="02040503050406030204" pitchFamily="18" charset="0"/>
                                  </a:rPr>
                                  <m:t>4</m:t>
                                </m:r>
                                <m:r>
                                  <m:rPr>
                                    <m:brk m:alnAt="7"/>
                                  </m:rPr>
                                  <a:rPr lang="en-US" b="0" i="1" smtClean="0">
                                    <a:latin typeface="Cambria Math" panose="02040503050406030204" pitchFamily="18" charset="0"/>
                                  </a:rPr>
                                  <m:t>5</m:t>
                                </m:r>
                              </m:e>
                              <m:e>
                                <m:r>
                                  <a:rPr lang="en-US" b="0" i="1" smtClean="0">
                                    <a:latin typeface="Cambria Math" panose="02040503050406030204" pitchFamily="18" charset="0"/>
                                  </a:rPr>
                                  <m:t>12</m:t>
                                </m:r>
                                <m:r>
                                  <a:rPr lang="en-US" i="1">
                                    <a:latin typeface="Cambria Math" panose="02040503050406030204" pitchFamily="18" charset="0"/>
                                  </a:rPr>
                                  <m:t>0</m:t>
                                </m:r>
                              </m:e>
                              <m:e>
                                <m:r>
                                  <a:rPr lang="en-US" b="0" i="1" smtClean="0">
                                    <a:latin typeface="Cambria Math" panose="02040503050406030204" pitchFamily="18" charset="0"/>
                                  </a:rPr>
                                  <m:t>195</m:t>
                                </m:r>
                              </m:e>
                            </m:mr>
                            <m:mr>
                              <m:e>
                                <m:r>
                                  <a:rPr lang="en-US" b="0" i="1" smtClean="0">
                                    <a:latin typeface="Cambria Math" panose="02040503050406030204" pitchFamily="18" charset="0"/>
                                  </a:rPr>
                                  <m:t>90</m:t>
                                </m:r>
                              </m:e>
                              <m:e>
                                <m:r>
                                  <a:rPr lang="en-US" i="1">
                                    <a:latin typeface="Cambria Math" panose="02040503050406030204" pitchFamily="18" charset="0"/>
                                  </a:rPr>
                                  <m:t>1</m:t>
                                </m:r>
                                <m:r>
                                  <a:rPr lang="en-US" b="0" i="1" smtClean="0">
                                    <a:latin typeface="Cambria Math" panose="02040503050406030204" pitchFamily="18" charset="0"/>
                                  </a:rPr>
                                  <m:t>5</m:t>
                                </m:r>
                                <m:r>
                                  <a:rPr lang="en-US" i="1">
                                    <a:latin typeface="Cambria Math" panose="02040503050406030204" pitchFamily="18" charset="0"/>
                                  </a:rPr>
                                  <m:t>0</m:t>
                                </m:r>
                              </m:e>
                              <m:e>
                                <m:r>
                                  <a:rPr lang="en-US" i="1">
                                    <a:latin typeface="Cambria Math" panose="02040503050406030204" pitchFamily="18" charset="0"/>
                                  </a:rPr>
                                  <m:t>2</m:t>
                                </m:r>
                                <m:r>
                                  <a:rPr lang="en-US" b="0" i="1" smtClean="0">
                                    <a:latin typeface="Cambria Math" panose="02040503050406030204" pitchFamily="18" charset="0"/>
                                  </a:rPr>
                                  <m:t>4</m:t>
                                </m:r>
                                <m:r>
                                  <a:rPr lang="en-US" i="1">
                                    <a:latin typeface="Cambria Math" panose="02040503050406030204" pitchFamily="18" charset="0"/>
                                  </a:rPr>
                                  <m:t>0</m:t>
                                </m:r>
                              </m:e>
                            </m:mr>
                            <m:mr>
                              <m:e>
                                <m:r>
                                  <a:rPr lang="en-US" b="0" i="1" smtClean="0">
                                    <a:latin typeface="Cambria Math" panose="02040503050406030204" pitchFamily="18" charset="0"/>
                                  </a:rPr>
                                  <m:t>6</m:t>
                                </m:r>
                                <m:r>
                                  <a:rPr lang="en-US" i="1">
                                    <a:latin typeface="Cambria Math" panose="02040503050406030204" pitchFamily="18" charset="0"/>
                                  </a:rPr>
                                  <m:t>0</m:t>
                                </m:r>
                              </m:e>
                              <m:e>
                                <m:r>
                                  <a:rPr lang="en-US" b="0" i="1" smtClean="0">
                                    <a:latin typeface="Cambria Math" panose="02040503050406030204" pitchFamily="18" charset="0"/>
                                  </a:rPr>
                                  <m:t>180</m:t>
                                </m:r>
                              </m:e>
                              <m:e>
                                <m:r>
                                  <a:rPr lang="en-US" i="1">
                                    <a:latin typeface="Cambria Math" panose="02040503050406030204" pitchFamily="18" charset="0"/>
                                  </a:rPr>
                                  <m:t>255</m:t>
                                </m:r>
                              </m:e>
                            </m:mr>
                          </m:m>
                        </m:e>
                      </m:d>
                    </m:oMath>
                  </m:oMathPara>
                </a14:m>
                <a:endParaRPr lang="en-US" dirty="0"/>
              </a:p>
            </p:txBody>
          </p:sp>
        </mc:Choice>
        <mc:Fallback>
          <p:sp>
            <p:nvSpPr>
              <p:cNvPr id="5" name="TextBox 4">
                <a:extLst>
                  <a:ext uri="{FF2B5EF4-FFF2-40B4-BE49-F238E27FC236}">
                    <a16:creationId xmlns:a16="http://schemas.microsoft.com/office/drawing/2014/main" id="{1D8CC1A8-5F2F-4487-CEC4-AC90EC54F2B8}"/>
                  </a:ext>
                </a:extLst>
              </p:cNvPr>
              <p:cNvSpPr txBox="1">
                <a:spLocks noRot="1" noChangeAspect="1" noMove="1" noResize="1" noEditPoints="1" noAdjustHandles="1" noChangeArrowheads="1" noChangeShapeType="1" noTextEdit="1"/>
              </p:cNvSpPr>
              <p:nvPr/>
            </p:nvSpPr>
            <p:spPr>
              <a:xfrm>
                <a:off x="5263376" y="2859772"/>
                <a:ext cx="2132113" cy="662104"/>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4044773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149E07-3E1D-2B8B-BD16-97F31CEA32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D29DFD-5775-69AC-7D3F-E9342BC449FA}"/>
              </a:ext>
            </a:extLst>
          </p:cNvPr>
          <p:cNvSpPr>
            <a:spLocks noGrp="1"/>
          </p:cNvSpPr>
          <p:nvPr>
            <p:ph type="title"/>
          </p:nvPr>
        </p:nvSpPr>
        <p:spPr/>
        <p:txBody>
          <a:bodyPr/>
          <a:lstStyle/>
          <a:p>
            <a:r>
              <a:rPr lang="en-US" dirty="0"/>
              <a:t>Interpretation in Image</a:t>
            </a:r>
          </a:p>
        </p:txBody>
      </p:sp>
      <p:sp>
        <p:nvSpPr>
          <p:cNvPr id="3" name="Text Placeholder 2">
            <a:extLst>
              <a:ext uri="{FF2B5EF4-FFF2-40B4-BE49-F238E27FC236}">
                <a16:creationId xmlns:a16="http://schemas.microsoft.com/office/drawing/2014/main" id="{25B13560-9132-82A1-C375-69B2F7720807}"/>
              </a:ext>
            </a:extLst>
          </p:cNvPr>
          <p:cNvSpPr>
            <a:spLocks noGrp="1"/>
          </p:cNvSpPr>
          <p:nvPr>
            <p:ph type="body" idx="1"/>
          </p:nvPr>
        </p:nvSpPr>
        <p:spPr>
          <a:xfrm>
            <a:off x="385465" y="1116737"/>
            <a:ext cx="8160830" cy="3303606"/>
          </a:xfrm>
          <a:ln>
            <a:solidFill>
              <a:srgbClr val="FF0000"/>
            </a:solidFill>
          </a:ln>
        </p:spPr>
        <p:txBody>
          <a:bodyPr/>
          <a:lstStyle/>
          <a:p>
            <a:pPr marL="0" marR="0" indent="0" algn="l">
              <a:lnSpc>
                <a:spcPct val="56435"/>
              </a:lnSpc>
              <a:spcBef>
                <a:spcPts val="600"/>
              </a:spcBef>
              <a:buNone/>
            </a:pPr>
            <a:r>
              <a:rPr lang="en-US" b="0" i="0" dirty="0" err="1">
                <a:solidFill>
                  <a:srgbClr val="333333"/>
                </a:solidFill>
                <a:effectLst/>
                <a:latin typeface="Courier New" panose="02070309020205020404" pitchFamily="49" charset="0"/>
              </a:rPr>
              <a:t>hasil</a:t>
            </a:r>
            <a:r>
              <a:rPr lang="en-US" b="0" i="0" dirty="0">
                <a:solidFill>
                  <a:srgbClr val="333333"/>
                </a:solidFill>
                <a:effectLst/>
                <a:latin typeface="Courier New" panose="02070309020205020404" pitchFamily="49" charset="0"/>
              </a:rPr>
              <a:t> = alpha * </a:t>
            </a:r>
            <a:r>
              <a:rPr lang="en-US" b="0" i="0" dirty="0" err="1">
                <a:solidFill>
                  <a:srgbClr val="333333"/>
                </a:solidFill>
                <a:effectLst/>
                <a:latin typeface="Courier New" panose="02070309020205020404" pitchFamily="49" charset="0"/>
              </a:rPr>
              <a:t>citra.astype</a:t>
            </a:r>
            <a:r>
              <a:rPr lang="en-US" b="0" i="0" dirty="0">
                <a:solidFill>
                  <a:srgbClr val="333333"/>
                </a:solidFill>
                <a:effectLst/>
                <a:latin typeface="Courier New" panose="02070309020205020404" pitchFamily="49" charset="0"/>
              </a:rPr>
              <a:t>(</a:t>
            </a:r>
            <a:r>
              <a:rPr lang="en-US" b="0" i="0" dirty="0">
                <a:solidFill>
                  <a:srgbClr val="007020"/>
                </a:solidFill>
                <a:effectLst/>
                <a:latin typeface="Courier New" panose="02070309020205020404" pitchFamily="49" charset="0"/>
              </a:rPr>
              <a:t>float</a:t>
            </a:r>
            <a:r>
              <a:rPr lang="en-US" b="0" i="0" dirty="0">
                <a:solidFill>
                  <a:srgbClr val="333333"/>
                </a:solidFill>
                <a:effectLst/>
                <a:latin typeface="Courier New" panose="02070309020205020404" pitchFamily="49" charset="0"/>
              </a:rPr>
              <a:t>) + beta</a:t>
            </a:r>
          </a:p>
          <a:p>
            <a:pPr marL="0" marR="0" indent="0" algn="l">
              <a:lnSpc>
                <a:spcPct val="56435"/>
              </a:lnSpc>
              <a:spcBef>
                <a:spcPts val="600"/>
              </a:spcBef>
              <a:buNone/>
            </a:pPr>
            <a:r>
              <a:rPr lang="en-US" b="0" i="0" dirty="0">
                <a:solidFill>
                  <a:srgbClr val="333333"/>
                </a:solidFill>
                <a:effectLst/>
                <a:latin typeface="Courier New" panose="02070309020205020404" pitchFamily="49" charset="0"/>
              </a:rPr>
              <a:t>    </a:t>
            </a:r>
            <a:r>
              <a:rPr lang="en-US" b="1" i="0" dirty="0">
                <a:solidFill>
                  <a:srgbClr val="008800"/>
                </a:solidFill>
                <a:effectLst/>
                <a:latin typeface="Courier New" panose="02070309020205020404" pitchFamily="49" charset="0"/>
              </a:rPr>
              <a:t>return</a:t>
            </a:r>
            <a:r>
              <a:rPr lang="en-US" b="0" i="0" dirty="0">
                <a:solidFill>
                  <a:srgbClr val="333333"/>
                </a:solidFill>
                <a:effectLst/>
                <a:latin typeface="Courier New" panose="02070309020205020404" pitchFamily="49" charset="0"/>
              </a:rPr>
              <a:t> </a:t>
            </a:r>
            <a:r>
              <a:rPr lang="en-US" b="0" i="0" dirty="0" err="1">
                <a:solidFill>
                  <a:srgbClr val="333333"/>
                </a:solidFill>
                <a:effectLst/>
                <a:latin typeface="Courier New" panose="02070309020205020404" pitchFamily="49" charset="0"/>
              </a:rPr>
              <a:t>np.clip</a:t>
            </a:r>
            <a:r>
              <a:rPr lang="en-US" b="0" i="0" dirty="0">
                <a:solidFill>
                  <a:srgbClr val="333333"/>
                </a:solidFill>
                <a:effectLst/>
                <a:latin typeface="Courier New" panose="02070309020205020404" pitchFamily="49" charset="0"/>
              </a:rPr>
              <a:t>(</a:t>
            </a:r>
            <a:r>
              <a:rPr lang="en-US" b="0" i="0" dirty="0" err="1">
                <a:solidFill>
                  <a:srgbClr val="333333"/>
                </a:solidFill>
                <a:effectLst/>
                <a:latin typeface="Courier New" panose="02070309020205020404" pitchFamily="49" charset="0"/>
              </a:rPr>
              <a:t>hasil</a:t>
            </a:r>
            <a:r>
              <a:rPr lang="en-US" b="0" i="0" dirty="0">
                <a:solidFill>
                  <a:srgbClr val="333333"/>
                </a:solidFill>
                <a:effectLst/>
                <a:latin typeface="Courier New" panose="02070309020205020404" pitchFamily="49" charset="0"/>
              </a:rPr>
              <a:t>, </a:t>
            </a:r>
            <a:r>
              <a:rPr lang="en-US" b="1" i="0" dirty="0">
                <a:solidFill>
                  <a:srgbClr val="0000DD"/>
                </a:solidFill>
                <a:effectLst/>
                <a:latin typeface="Courier New" panose="02070309020205020404" pitchFamily="49" charset="0"/>
              </a:rPr>
              <a:t>0</a:t>
            </a:r>
            <a:r>
              <a:rPr lang="en-US" b="0" i="0" dirty="0">
                <a:solidFill>
                  <a:srgbClr val="333333"/>
                </a:solidFill>
                <a:effectLst/>
                <a:latin typeface="Courier New" panose="02070309020205020404" pitchFamily="49" charset="0"/>
              </a:rPr>
              <a:t>, </a:t>
            </a:r>
            <a:r>
              <a:rPr lang="en-US" b="1" i="0" dirty="0">
                <a:solidFill>
                  <a:srgbClr val="0000DD"/>
                </a:solidFill>
                <a:effectLst/>
                <a:latin typeface="Courier New" panose="02070309020205020404" pitchFamily="49" charset="0"/>
              </a:rPr>
              <a:t>255</a:t>
            </a:r>
            <a:r>
              <a:rPr lang="en-US" b="0" i="0" dirty="0">
                <a:solidFill>
                  <a:srgbClr val="333333"/>
                </a:solidFill>
                <a:effectLst/>
                <a:latin typeface="Courier New" panose="02070309020205020404" pitchFamily="49" charset="0"/>
              </a:rPr>
              <a:t>).</a:t>
            </a:r>
            <a:r>
              <a:rPr lang="en-US" b="0" i="0" dirty="0" err="1">
                <a:solidFill>
                  <a:srgbClr val="333333"/>
                </a:solidFill>
                <a:effectLst/>
                <a:latin typeface="Courier New" panose="02070309020205020404" pitchFamily="49" charset="0"/>
              </a:rPr>
              <a:t>astype</a:t>
            </a:r>
            <a:r>
              <a:rPr lang="en-US" b="0" i="0" dirty="0">
                <a:solidFill>
                  <a:srgbClr val="333333"/>
                </a:solidFill>
                <a:effectLst/>
                <a:latin typeface="Courier New" panose="02070309020205020404" pitchFamily="49" charset="0"/>
              </a:rPr>
              <a:t>(np.uint8)</a:t>
            </a:r>
          </a:p>
          <a:p>
            <a:pPr marL="0" marR="0" indent="0" algn="l">
              <a:lnSpc>
                <a:spcPct val="56435"/>
              </a:lnSpc>
              <a:spcBef>
                <a:spcPts val="600"/>
              </a:spcBef>
              <a:buNone/>
            </a:pPr>
            <a:endParaRPr lang="en-US" b="0" i="0" dirty="0">
              <a:solidFill>
                <a:srgbClr val="333333"/>
              </a:solidFill>
              <a:effectLst/>
              <a:latin typeface="Courier New" panose="02070309020205020404" pitchFamily="49" charset="0"/>
            </a:endParaRPr>
          </a:p>
          <a:p>
            <a:pPr marL="0" marR="0" indent="0" algn="l">
              <a:lnSpc>
                <a:spcPct val="56435"/>
              </a:lnSpc>
              <a:spcBef>
                <a:spcPts val="600"/>
              </a:spcBef>
              <a:buNone/>
            </a:pPr>
            <a:r>
              <a:rPr lang="en-US" b="0" i="0" dirty="0" err="1">
                <a:solidFill>
                  <a:srgbClr val="333333"/>
                </a:solidFill>
                <a:effectLst/>
                <a:latin typeface="Courier New" panose="02070309020205020404" pitchFamily="49" charset="0"/>
              </a:rPr>
              <a:t>citra_kontras_naik</a:t>
            </a:r>
            <a:r>
              <a:rPr lang="en-US" b="0" i="0" dirty="0">
                <a:solidFill>
                  <a:srgbClr val="333333"/>
                </a:solidFill>
                <a:effectLst/>
                <a:latin typeface="Courier New" panose="02070309020205020404" pitchFamily="49" charset="0"/>
              </a:rPr>
              <a:t> = </a:t>
            </a:r>
            <a:r>
              <a:rPr lang="en-US" b="0" i="0" dirty="0" err="1">
                <a:solidFill>
                  <a:srgbClr val="333333"/>
                </a:solidFill>
                <a:effectLst/>
                <a:latin typeface="Courier New" panose="02070309020205020404" pitchFamily="49" charset="0"/>
              </a:rPr>
              <a:t>ubah_kontras</a:t>
            </a:r>
            <a:r>
              <a:rPr lang="en-US" b="0" i="0" dirty="0">
                <a:solidFill>
                  <a:srgbClr val="333333"/>
                </a:solidFill>
                <a:effectLst/>
                <a:latin typeface="Courier New" panose="02070309020205020404" pitchFamily="49" charset="0"/>
              </a:rPr>
              <a:t>(</a:t>
            </a:r>
            <a:r>
              <a:rPr lang="en-US" b="0" i="0" dirty="0" err="1">
                <a:solidFill>
                  <a:srgbClr val="333333"/>
                </a:solidFill>
                <a:effectLst/>
                <a:latin typeface="Courier New" panose="02070309020205020404" pitchFamily="49" charset="0"/>
              </a:rPr>
              <a:t>citra_gray</a:t>
            </a:r>
            <a:r>
              <a:rPr lang="en-US" b="0" i="0" dirty="0">
                <a:solidFill>
                  <a:srgbClr val="333333"/>
                </a:solidFill>
                <a:effectLst/>
                <a:latin typeface="Courier New" panose="02070309020205020404" pitchFamily="49" charset="0"/>
              </a:rPr>
              <a:t>, alpha=</a:t>
            </a:r>
            <a:r>
              <a:rPr lang="en-US" b="1" i="0" dirty="0">
                <a:solidFill>
                  <a:srgbClr val="6600EE"/>
                </a:solidFill>
                <a:effectLst/>
                <a:latin typeface="Courier New" panose="02070309020205020404" pitchFamily="49" charset="0"/>
              </a:rPr>
              <a:t>1.5</a:t>
            </a:r>
            <a:r>
              <a:rPr lang="en-US" b="0" i="0" dirty="0">
                <a:solidFill>
                  <a:srgbClr val="333333"/>
                </a:solidFill>
                <a:effectLst/>
                <a:latin typeface="Courier New" panose="02070309020205020404" pitchFamily="49" charset="0"/>
              </a:rPr>
              <a:t>, beta=-</a:t>
            </a:r>
            <a:r>
              <a:rPr lang="en-US" b="1" i="0" dirty="0">
                <a:solidFill>
                  <a:srgbClr val="0000DD"/>
                </a:solidFill>
                <a:effectLst/>
                <a:latin typeface="Courier New" panose="02070309020205020404" pitchFamily="49" charset="0"/>
              </a:rPr>
              <a:t>30</a:t>
            </a:r>
            <a:r>
              <a:rPr lang="en-US" b="0" i="0" dirty="0">
                <a:solidFill>
                  <a:srgbClr val="333333"/>
                </a:solidFill>
                <a:effectLst/>
                <a:latin typeface="Courier New" panose="02070309020205020404" pitchFamily="49" charset="0"/>
              </a:rPr>
              <a:t>)</a:t>
            </a:r>
          </a:p>
          <a:p>
            <a:pPr marL="0" marR="0" indent="0" algn="l">
              <a:lnSpc>
                <a:spcPct val="56435"/>
              </a:lnSpc>
              <a:spcBef>
                <a:spcPts val="600"/>
              </a:spcBef>
              <a:buNone/>
            </a:pPr>
            <a:r>
              <a:rPr lang="en-US" b="0" i="0" dirty="0" err="1">
                <a:solidFill>
                  <a:srgbClr val="333333"/>
                </a:solidFill>
                <a:effectLst/>
                <a:latin typeface="Courier New" panose="02070309020205020404" pitchFamily="49" charset="0"/>
              </a:rPr>
              <a:t>citra_kontras_turun</a:t>
            </a:r>
            <a:r>
              <a:rPr lang="en-US" b="0" i="0" dirty="0">
                <a:solidFill>
                  <a:srgbClr val="333333"/>
                </a:solidFill>
                <a:effectLst/>
                <a:latin typeface="Courier New" panose="02070309020205020404" pitchFamily="49" charset="0"/>
              </a:rPr>
              <a:t> = </a:t>
            </a:r>
            <a:r>
              <a:rPr lang="en-US" b="0" i="0" dirty="0" err="1">
                <a:solidFill>
                  <a:srgbClr val="333333"/>
                </a:solidFill>
                <a:effectLst/>
                <a:latin typeface="Courier New" panose="02070309020205020404" pitchFamily="49" charset="0"/>
              </a:rPr>
              <a:t>ubah_kontras</a:t>
            </a:r>
            <a:r>
              <a:rPr lang="en-US" b="0" i="0" dirty="0">
                <a:solidFill>
                  <a:srgbClr val="333333"/>
                </a:solidFill>
                <a:effectLst/>
                <a:latin typeface="Courier New" panose="02070309020205020404" pitchFamily="49" charset="0"/>
              </a:rPr>
              <a:t>(</a:t>
            </a:r>
            <a:r>
              <a:rPr lang="en-US" b="0" i="0" dirty="0" err="1">
                <a:solidFill>
                  <a:srgbClr val="333333"/>
                </a:solidFill>
                <a:effectLst/>
                <a:latin typeface="Courier New" panose="02070309020205020404" pitchFamily="49" charset="0"/>
              </a:rPr>
              <a:t>citra_gray</a:t>
            </a:r>
            <a:r>
              <a:rPr lang="en-US" b="0" i="0" dirty="0">
                <a:solidFill>
                  <a:srgbClr val="333333"/>
                </a:solidFill>
                <a:effectLst/>
                <a:latin typeface="Courier New" panose="02070309020205020404" pitchFamily="49" charset="0"/>
              </a:rPr>
              <a:t>, alpha=</a:t>
            </a:r>
            <a:r>
              <a:rPr lang="en-US" b="1" i="0" dirty="0">
                <a:solidFill>
                  <a:srgbClr val="6600EE"/>
                </a:solidFill>
                <a:effectLst/>
                <a:latin typeface="Courier New" panose="02070309020205020404" pitchFamily="49" charset="0"/>
              </a:rPr>
              <a:t>0.6</a:t>
            </a:r>
            <a:r>
              <a:rPr lang="en-US" b="0" i="0" dirty="0">
                <a:solidFill>
                  <a:srgbClr val="333333"/>
                </a:solidFill>
                <a:effectLst/>
                <a:latin typeface="Courier New" panose="02070309020205020404" pitchFamily="49" charset="0"/>
              </a:rPr>
              <a:t>, beta=</a:t>
            </a:r>
            <a:r>
              <a:rPr lang="en-US" b="1" i="0" dirty="0">
                <a:solidFill>
                  <a:srgbClr val="0000DD"/>
                </a:solidFill>
                <a:effectLst/>
                <a:latin typeface="Courier New" panose="02070309020205020404" pitchFamily="49" charset="0"/>
              </a:rPr>
              <a:t>40</a:t>
            </a:r>
            <a:r>
              <a:rPr lang="en-US" b="0" i="0" dirty="0">
                <a:solidFill>
                  <a:srgbClr val="333333"/>
                </a:solidFill>
                <a:effectLst/>
                <a:latin typeface="Courier New" panose="02070309020205020404" pitchFamily="49" charset="0"/>
              </a:rPr>
              <a:t>)</a:t>
            </a:r>
          </a:p>
          <a:p>
            <a:pPr marL="0" marR="0" indent="0" algn="l">
              <a:lnSpc>
                <a:spcPct val="56435"/>
              </a:lnSpc>
              <a:spcBef>
                <a:spcPts val="600"/>
              </a:spcBef>
              <a:buNone/>
            </a:pPr>
            <a:endParaRPr lang="en-US" b="0" i="0" dirty="0">
              <a:solidFill>
                <a:srgbClr val="333333"/>
              </a:solidFill>
              <a:effectLst/>
              <a:latin typeface="Courier New" panose="02070309020205020404" pitchFamily="49" charset="0"/>
            </a:endParaRPr>
          </a:p>
          <a:p>
            <a:pPr marL="0" marR="0" indent="0" algn="l">
              <a:lnSpc>
                <a:spcPct val="56435"/>
              </a:lnSpc>
              <a:spcBef>
                <a:spcPts val="600"/>
              </a:spcBef>
              <a:buNone/>
            </a:pPr>
            <a:r>
              <a:rPr lang="en-US" b="0" i="0" dirty="0">
                <a:solidFill>
                  <a:srgbClr val="888888"/>
                </a:solidFill>
                <a:effectLst/>
                <a:latin typeface="Courier New" panose="02070309020205020404" pitchFamily="49" charset="0"/>
              </a:rPr>
              <a:t># Cara </a:t>
            </a:r>
            <a:r>
              <a:rPr lang="en-US" b="0" i="0" dirty="0" err="1">
                <a:solidFill>
                  <a:srgbClr val="888888"/>
                </a:solidFill>
                <a:effectLst/>
                <a:latin typeface="Courier New" panose="02070309020205020404" pitchFamily="49" charset="0"/>
              </a:rPr>
              <a:t>langsung</a:t>
            </a:r>
            <a:r>
              <a:rPr lang="en-US" b="0" i="0" dirty="0">
                <a:solidFill>
                  <a:srgbClr val="888888"/>
                </a:solidFill>
                <a:effectLst/>
                <a:latin typeface="Courier New" panose="02070309020205020404" pitchFamily="49" charset="0"/>
              </a:rPr>
              <a:t> </a:t>
            </a:r>
            <a:r>
              <a:rPr lang="en-US" b="0" i="0" dirty="0" err="1">
                <a:solidFill>
                  <a:srgbClr val="888888"/>
                </a:solidFill>
                <a:effectLst/>
                <a:latin typeface="Courier New" panose="02070309020205020404" pitchFamily="49" charset="0"/>
              </a:rPr>
              <a:t>dengan</a:t>
            </a:r>
            <a:r>
              <a:rPr lang="en-US" b="0" i="0" dirty="0">
                <a:solidFill>
                  <a:srgbClr val="888888"/>
                </a:solidFill>
                <a:effectLst/>
                <a:latin typeface="Courier New" panose="02070309020205020404" pitchFamily="49" charset="0"/>
              </a:rPr>
              <a:t> OpenCV (</a:t>
            </a:r>
            <a:r>
              <a:rPr lang="en-US" b="0" i="0" dirty="0" err="1">
                <a:solidFill>
                  <a:srgbClr val="888888"/>
                </a:solidFill>
                <a:effectLst/>
                <a:latin typeface="Courier New" panose="02070309020205020404" pitchFamily="49" charset="0"/>
              </a:rPr>
              <a:t>otomatis</a:t>
            </a:r>
            <a:r>
              <a:rPr lang="en-US" b="0" i="0" dirty="0">
                <a:solidFill>
                  <a:srgbClr val="888888"/>
                </a:solidFill>
                <a:effectLst/>
                <a:latin typeface="Courier New" panose="02070309020205020404" pitchFamily="49" charset="0"/>
              </a:rPr>
              <a:t> clipping)</a:t>
            </a:r>
            <a:endParaRPr lang="en-US" b="0" i="0" dirty="0">
              <a:solidFill>
                <a:srgbClr val="333333"/>
              </a:solidFill>
              <a:effectLst/>
              <a:latin typeface="Courier New" panose="02070309020205020404" pitchFamily="49" charset="0"/>
            </a:endParaRPr>
          </a:p>
          <a:p>
            <a:pPr marL="0" marR="0" indent="0" algn="l">
              <a:lnSpc>
                <a:spcPct val="56435"/>
              </a:lnSpc>
              <a:spcBef>
                <a:spcPts val="600"/>
              </a:spcBef>
              <a:buNone/>
            </a:pPr>
            <a:r>
              <a:rPr lang="en-US" b="0" i="0" dirty="0" err="1">
                <a:solidFill>
                  <a:srgbClr val="333333"/>
                </a:solidFill>
                <a:effectLst/>
                <a:latin typeface="Courier New" panose="02070309020205020404" pitchFamily="49" charset="0"/>
              </a:rPr>
              <a:t>citra_kontras_cv</a:t>
            </a:r>
            <a:r>
              <a:rPr lang="en-US" b="0" i="0" dirty="0">
                <a:solidFill>
                  <a:srgbClr val="333333"/>
                </a:solidFill>
                <a:effectLst/>
                <a:latin typeface="Courier New" panose="02070309020205020404" pitchFamily="49" charset="0"/>
              </a:rPr>
              <a:t> = cv2.convertScaleAbs(</a:t>
            </a:r>
            <a:r>
              <a:rPr lang="en-US" b="0" i="0" dirty="0" err="1">
                <a:solidFill>
                  <a:srgbClr val="333333"/>
                </a:solidFill>
                <a:effectLst/>
                <a:latin typeface="Courier New" panose="02070309020205020404" pitchFamily="49" charset="0"/>
              </a:rPr>
              <a:t>citra_gray</a:t>
            </a:r>
            <a:r>
              <a:rPr lang="en-US" b="0" i="0" dirty="0">
                <a:solidFill>
                  <a:srgbClr val="333333"/>
                </a:solidFill>
                <a:effectLst/>
                <a:latin typeface="Courier New" panose="02070309020205020404" pitchFamily="49" charset="0"/>
              </a:rPr>
              <a:t>, alpha=</a:t>
            </a:r>
            <a:r>
              <a:rPr lang="en-US" b="1" i="0" dirty="0">
                <a:solidFill>
                  <a:srgbClr val="6600EE"/>
                </a:solidFill>
                <a:effectLst/>
                <a:latin typeface="Courier New" panose="02070309020205020404" pitchFamily="49" charset="0"/>
              </a:rPr>
              <a:t>1.5</a:t>
            </a:r>
            <a:r>
              <a:rPr lang="en-US" b="0" i="0" dirty="0">
                <a:solidFill>
                  <a:srgbClr val="333333"/>
                </a:solidFill>
                <a:effectLst/>
                <a:latin typeface="Courier New" panose="02070309020205020404" pitchFamily="49" charset="0"/>
              </a:rPr>
              <a:t>, beta=-</a:t>
            </a:r>
            <a:r>
              <a:rPr lang="en-US" b="1" i="0" dirty="0">
                <a:solidFill>
                  <a:srgbClr val="0000DD"/>
                </a:solidFill>
                <a:effectLst/>
                <a:latin typeface="Courier New" panose="02070309020205020404" pitchFamily="49" charset="0"/>
              </a:rPr>
              <a:t>30</a:t>
            </a:r>
            <a:r>
              <a:rPr lang="en-US" b="0" i="0" dirty="0">
                <a:solidFill>
                  <a:srgbClr val="333333"/>
                </a:solidFill>
                <a:effectLst/>
                <a:latin typeface="Courier New" panose="02070309020205020404" pitchFamily="49" charset="0"/>
              </a:rPr>
              <a:t>)</a:t>
            </a:r>
          </a:p>
          <a:p>
            <a:pPr marL="0" marR="0" indent="0" algn="l">
              <a:lnSpc>
                <a:spcPct val="56435"/>
              </a:lnSpc>
              <a:spcBef>
                <a:spcPts val="600"/>
              </a:spcBef>
              <a:buNone/>
            </a:pPr>
            <a:endParaRPr lang="en-US" b="0" i="0" dirty="0">
              <a:solidFill>
                <a:srgbClr val="333333"/>
              </a:solidFill>
              <a:effectLst/>
              <a:latin typeface="Courier New" panose="02070309020205020404" pitchFamily="49" charset="0"/>
            </a:endParaRPr>
          </a:p>
          <a:p>
            <a:pPr marL="0" marR="0" indent="0" algn="l">
              <a:lnSpc>
                <a:spcPct val="56435"/>
              </a:lnSpc>
              <a:spcBef>
                <a:spcPts val="600"/>
              </a:spcBef>
              <a:buNone/>
            </a:pPr>
            <a:r>
              <a:rPr lang="en-US" b="0" i="0" dirty="0">
                <a:solidFill>
                  <a:srgbClr val="888888"/>
                </a:solidFill>
                <a:effectLst/>
                <a:latin typeface="Courier New" panose="02070309020205020404" pitchFamily="49" charset="0"/>
              </a:rPr>
              <a:t># --- Gamma Correction ---</a:t>
            </a:r>
            <a:endParaRPr lang="en-US" b="0" i="0" dirty="0">
              <a:solidFill>
                <a:srgbClr val="333333"/>
              </a:solidFill>
              <a:effectLst/>
              <a:latin typeface="Courier New" panose="02070309020205020404" pitchFamily="49" charset="0"/>
            </a:endParaRPr>
          </a:p>
          <a:p>
            <a:pPr marL="0" marR="0" indent="0" algn="l">
              <a:lnSpc>
                <a:spcPct val="56435"/>
              </a:lnSpc>
              <a:spcBef>
                <a:spcPts val="600"/>
              </a:spcBef>
              <a:buNone/>
            </a:pPr>
            <a:r>
              <a:rPr lang="en-US" b="1" i="0" dirty="0">
                <a:solidFill>
                  <a:srgbClr val="008800"/>
                </a:solidFill>
                <a:effectLst/>
                <a:latin typeface="Courier New" panose="02070309020205020404" pitchFamily="49" charset="0"/>
              </a:rPr>
              <a:t>def</a:t>
            </a:r>
            <a:r>
              <a:rPr lang="en-US" b="0" i="0" dirty="0">
                <a:solidFill>
                  <a:srgbClr val="BBBBBB"/>
                </a:solidFill>
                <a:effectLst/>
                <a:latin typeface="Courier New" panose="02070309020205020404" pitchFamily="49" charset="0"/>
              </a:rPr>
              <a:t> </a:t>
            </a:r>
            <a:r>
              <a:rPr lang="en-US" b="1" i="0" dirty="0" err="1">
                <a:solidFill>
                  <a:srgbClr val="0066BB"/>
                </a:solidFill>
                <a:effectLst/>
                <a:latin typeface="Courier New" panose="02070309020205020404" pitchFamily="49" charset="0"/>
              </a:rPr>
              <a:t>koreksi_gamma</a:t>
            </a:r>
            <a:r>
              <a:rPr lang="en-US" b="0" i="0" dirty="0">
                <a:solidFill>
                  <a:srgbClr val="333333"/>
                </a:solidFill>
                <a:effectLst/>
                <a:latin typeface="Courier New" panose="02070309020205020404" pitchFamily="49" charset="0"/>
              </a:rPr>
              <a:t>(</a:t>
            </a:r>
            <a:r>
              <a:rPr lang="en-US" b="0" i="0" dirty="0" err="1">
                <a:solidFill>
                  <a:srgbClr val="333333"/>
                </a:solidFill>
                <a:effectLst/>
                <a:latin typeface="Courier New" panose="02070309020205020404" pitchFamily="49" charset="0"/>
              </a:rPr>
              <a:t>citra</a:t>
            </a:r>
            <a:r>
              <a:rPr lang="en-US" b="0" i="0" dirty="0">
                <a:solidFill>
                  <a:srgbClr val="333333"/>
                </a:solidFill>
                <a:effectLst/>
                <a:latin typeface="Courier New" panose="02070309020205020404" pitchFamily="49" charset="0"/>
              </a:rPr>
              <a:t>, gamma=</a:t>
            </a:r>
            <a:r>
              <a:rPr lang="en-US" b="1" i="0" dirty="0">
                <a:solidFill>
                  <a:srgbClr val="6600EE"/>
                </a:solidFill>
                <a:effectLst/>
                <a:latin typeface="Courier New" panose="02070309020205020404" pitchFamily="49" charset="0"/>
              </a:rPr>
              <a:t>1.0</a:t>
            </a:r>
            <a:r>
              <a:rPr lang="en-US" b="0" i="0" dirty="0">
                <a:solidFill>
                  <a:srgbClr val="333333"/>
                </a:solidFill>
                <a:effectLst/>
                <a:latin typeface="Courier New" panose="02070309020205020404" pitchFamily="49" charset="0"/>
              </a:rPr>
              <a:t>):</a:t>
            </a:r>
          </a:p>
          <a:p>
            <a:pPr marL="0" marR="0" indent="0" algn="l">
              <a:lnSpc>
                <a:spcPct val="56435"/>
              </a:lnSpc>
              <a:spcBef>
                <a:spcPts val="600"/>
              </a:spcBef>
              <a:buNone/>
            </a:pPr>
            <a:r>
              <a:rPr lang="en-US" b="0" i="0" dirty="0">
                <a:solidFill>
                  <a:srgbClr val="333333"/>
                </a:solidFill>
                <a:effectLst/>
                <a:latin typeface="Courier New" panose="02070309020205020404" pitchFamily="49" charset="0"/>
              </a:rPr>
              <a:t>    </a:t>
            </a:r>
            <a:r>
              <a:rPr lang="en-US" b="0" i="0" dirty="0" err="1">
                <a:solidFill>
                  <a:srgbClr val="333333"/>
                </a:solidFill>
                <a:effectLst/>
                <a:latin typeface="Courier New" panose="02070309020205020404" pitchFamily="49" charset="0"/>
              </a:rPr>
              <a:t>citra_norm</a:t>
            </a:r>
            <a:r>
              <a:rPr lang="en-US" b="0" i="0" dirty="0">
                <a:solidFill>
                  <a:srgbClr val="333333"/>
                </a:solidFill>
                <a:effectLst/>
                <a:latin typeface="Courier New" panose="02070309020205020404" pitchFamily="49" charset="0"/>
              </a:rPr>
              <a:t> = </a:t>
            </a:r>
            <a:r>
              <a:rPr lang="en-US" b="0" i="0" dirty="0" err="1">
                <a:solidFill>
                  <a:srgbClr val="333333"/>
                </a:solidFill>
                <a:effectLst/>
                <a:latin typeface="Courier New" panose="02070309020205020404" pitchFamily="49" charset="0"/>
              </a:rPr>
              <a:t>citra.astype</a:t>
            </a:r>
            <a:r>
              <a:rPr lang="en-US" b="0" i="0" dirty="0">
                <a:solidFill>
                  <a:srgbClr val="333333"/>
                </a:solidFill>
                <a:effectLst/>
                <a:latin typeface="Courier New" panose="02070309020205020404" pitchFamily="49" charset="0"/>
              </a:rPr>
              <a:t>(</a:t>
            </a:r>
            <a:r>
              <a:rPr lang="en-US" b="0" i="0" dirty="0">
                <a:solidFill>
                  <a:srgbClr val="007020"/>
                </a:solidFill>
                <a:effectLst/>
                <a:latin typeface="Courier New" panose="02070309020205020404" pitchFamily="49" charset="0"/>
              </a:rPr>
              <a:t>float</a:t>
            </a:r>
            <a:r>
              <a:rPr lang="en-US" b="0" i="0" dirty="0">
                <a:solidFill>
                  <a:srgbClr val="333333"/>
                </a:solidFill>
                <a:effectLst/>
                <a:latin typeface="Courier New" panose="02070309020205020404" pitchFamily="49" charset="0"/>
              </a:rPr>
              <a:t>) / </a:t>
            </a:r>
            <a:r>
              <a:rPr lang="en-US" b="1" i="0" dirty="0">
                <a:solidFill>
                  <a:srgbClr val="6600EE"/>
                </a:solidFill>
                <a:effectLst/>
                <a:latin typeface="Courier New" panose="02070309020205020404" pitchFamily="49" charset="0"/>
              </a:rPr>
              <a:t>255.0</a:t>
            </a:r>
            <a:endParaRPr lang="en-US" b="0" i="0" dirty="0">
              <a:solidFill>
                <a:srgbClr val="333333"/>
              </a:solidFill>
              <a:effectLst/>
              <a:latin typeface="Courier New" panose="02070309020205020404" pitchFamily="49" charset="0"/>
            </a:endParaRPr>
          </a:p>
          <a:p>
            <a:pPr marL="0" marR="0" indent="0" algn="l">
              <a:lnSpc>
                <a:spcPct val="56435"/>
              </a:lnSpc>
              <a:spcBef>
                <a:spcPts val="600"/>
              </a:spcBef>
              <a:buNone/>
            </a:pPr>
            <a:r>
              <a:rPr lang="en-US" b="0" i="0" dirty="0">
                <a:solidFill>
                  <a:srgbClr val="333333"/>
                </a:solidFill>
                <a:effectLst/>
                <a:latin typeface="Courier New" panose="02070309020205020404" pitchFamily="49" charset="0"/>
              </a:rPr>
              <a:t>    </a:t>
            </a:r>
            <a:r>
              <a:rPr lang="en-US" b="0" i="0" dirty="0" err="1">
                <a:solidFill>
                  <a:srgbClr val="333333"/>
                </a:solidFill>
                <a:effectLst/>
                <a:latin typeface="Courier New" panose="02070309020205020404" pitchFamily="49" charset="0"/>
              </a:rPr>
              <a:t>hasil</a:t>
            </a:r>
            <a:r>
              <a:rPr lang="en-US" b="0" i="0" dirty="0">
                <a:solidFill>
                  <a:srgbClr val="333333"/>
                </a:solidFill>
                <a:effectLst/>
                <a:latin typeface="Courier New" panose="02070309020205020404" pitchFamily="49" charset="0"/>
              </a:rPr>
              <a:t> = </a:t>
            </a:r>
            <a:r>
              <a:rPr lang="en-US" b="0" i="0" dirty="0" err="1">
                <a:solidFill>
                  <a:srgbClr val="333333"/>
                </a:solidFill>
                <a:effectLst/>
                <a:latin typeface="Courier New" panose="02070309020205020404" pitchFamily="49" charset="0"/>
              </a:rPr>
              <a:t>np.power</a:t>
            </a:r>
            <a:r>
              <a:rPr lang="en-US" b="0" i="0" dirty="0">
                <a:solidFill>
                  <a:srgbClr val="333333"/>
                </a:solidFill>
                <a:effectLst/>
                <a:latin typeface="Courier New" panose="02070309020205020404" pitchFamily="49" charset="0"/>
              </a:rPr>
              <a:t>(</a:t>
            </a:r>
            <a:r>
              <a:rPr lang="en-US" b="0" i="0" dirty="0" err="1">
                <a:solidFill>
                  <a:srgbClr val="333333"/>
                </a:solidFill>
                <a:effectLst/>
                <a:latin typeface="Courier New" panose="02070309020205020404" pitchFamily="49" charset="0"/>
              </a:rPr>
              <a:t>citra_norm</a:t>
            </a:r>
            <a:r>
              <a:rPr lang="en-US" b="0" i="0" dirty="0">
                <a:solidFill>
                  <a:srgbClr val="333333"/>
                </a:solidFill>
                <a:effectLst/>
                <a:latin typeface="Courier New" panose="02070309020205020404" pitchFamily="49" charset="0"/>
              </a:rPr>
              <a:t>, gamma) * </a:t>
            </a:r>
            <a:r>
              <a:rPr lang="en-US" b="1" i="0" dirty="0">
                <a:solidFill>
                  <a:srgbClr val="6600EE"/>
                </a:solidFill>
                <a:effectLst/>
                <a:latin typeface="Courier New" panose="02070309020205020404" pitchFamily="49" charset="0"/>
              </a:rPr>
              <a:t>255.0</a:t>
            </a:r>
            <a:endParaRPr lang="en-US" b="0" i="0" dirty="0">
              <a:solidFill>
                <a:srgbClr val="333333"/>
              </a:solidFill>
              <a:effectLst/>
              <a:latin typeface="Courier New" panose="02070309020205020404" pitchFamily="49" charset="0"/>
            </a:endParaRPr>
          </a:p>
          <a:p>
            <a:pPr marL="0" marR="0" indent="0" algn="l">
              <a:lnSpc>
                <a:spcPct val="56435"/>
              </a:lnSpc>
              <a:spcBef>
                <a:spcPts val="600"/>
              </a:spcBef>
              <a:buNone/>
            </a:pPr>
            <a:r>
              <a:rPr lang="en-US" b="0" i="0" dirty="0">
                <a:solidFill>
                  <a:srgbClr val="333333"/>
                </a:solidFill>
                <a:effectLst/>
                <a:latin typeface="Courier New" panose="02070309020205020404" pitchFamily="49" charset="0"/>
              </a:rPr>
              <a:t>    </a:t>
            </a:r>
            <a:r>
              <a:rPr lang="en-US" b="1" i="0" dirty="0">
                <a:solidFill>
                  <a:srgbClr val="008800"/>
                </a:solidFill>
                <a:effectLst/>
                <a:latin typeface="Courier New" panose="02070309020205020404" pitchFamily="49" charset="0"/>
              </a:rPr>
              <a:t>return</a:t>
            </a:r>
            <a:r>
              <a:rPr lang="en-US" b="0" i="0" dirty="0">
                <a:solidFill>
                  <a:srgbClr val="333333"/>
                </a:solidFill>
                <a:effectLst/>
                <a:latin typeface="Courier New" panose="02070309020205020404" pitchFamily="49" charset="0"/>
              </a:rPr>
              <a:t> </a:t>
            </a:r>
            <a:r>
              <a:rPr lang="en-US" b="0" i="0" dirty="0" err="1">
                <a:solidFill>
                  <a:srgbClr val="333333"/>
                </a:solidFill>
                <a:effectLst/>
                <a:latin typeface="Courier New" panose="02070309020205020404" pitchFamily="49" charset="0"/>
              </a:rPr>
              <a:t>np.clip</a:t>
            </a:r>
            <a:r>
              <a:rPr lang="en-US" b="0" i="0" dirty="0">
                <a:solidFill>
                  <a:srgbClr val="333333"/>
                </a:solidFill>
                <a:effectLst/>
                <a:latin typeface="Courier New" panose="02070309020205020404" pitchFamily="49" charset="0"/>
              </a:rPr>
              <a:t>(</a:t>
            </a:r>
            <a:r>
              <a:rPr lang="en-US" b="0" i="0" dirty="0" err="1">
                <a:solidFill>
                  <a:srgbClr val="333333"/>
                </a:solidFill>
                <a:effectLst/>
                <a:latin typeface="Courier New" panose="02070309020205020404" pitchFamily="49" charset="0"/>
              </a:rPr>
              <a:t>hasil</a:t>
            </a:r>
            <a:r>
              <a:rPr lang="en-US" b="0" i="0" dirty="0">
                <a:solidFill>
                  <a:srgbClr val="333333"/>
                </a:solidFill>
                <a:effectLst/>
                <a:latin typeface="Courier New" panose="02070309020205020404" pitchFamily="49" charset="0"/>
              </a:rPr>
              <a:t>, </a:t>
            </a:r>
            <a:r>
              <a:rPr lang="en-US" b="1" i="0" dirty="0">
                <a:solidFill>
                  <a:srgbClr val="0000DD"/>
                </a:solidFill>
                <a:effectLst/>
                <a:latin typeface="Courier New" panose="02070309020205020404" pitchFamily="49" charset="0"/>
              </a:rPr>
              <a:t>0</a:t>
            </a:r>
            <a:r>
              <a:rPr lang="en-US" b="0" i="0" dirty="0">
                <a:solidFill>
                  <a:srgbClr val="333333"/>
                </a:solidFill>
                <a:effectLst/>
                <a:latin typeface="Courier New" panose="02070309020205020404" pitchFamily="49" charset="0"/>
              </a:rPr>
              <a:t>, </a:t>
            </a:r>
            <a:r>
              <a:rPr lang="en-US" b="1" i="0" dirty="0">
                <a:solidFill>
                  <a:srgbClr val="0000DD"/>
                </a:solidFill>
                <a:effectLst/>
                <a:latin typeface="Courier New" panose="02070309020205020404" pitchFamily="49" charset="0"/>
              </a:rPr>
              <a:t>255</a:t>
            </a:r>
            <a:r>
              <a:rPr lang="en-US" b="0" i="0" dirty="0">
                <a:solidFill>
                  <a:srgbClr val="333333"/>
                </a:solidFill>
                <a:effectLst/>
                <a:latin typeface="Courier New" panose="02070309020205020404" pitchFamily="49" charset="0"/>
              </a:rPr>
              <a:t>).</a:t>
            </a:r>
            <a:r>
              <a:rPr lang="en-US" b="0" i="0" dirty="0" err="1">
                <a:solidFill>
                  <a:srgbClr val="333333"/>
                </a:solidFill>
                <a:effectLst/>
                <a:latin typeface="Courier New" panose="02070309020205020404" pitchFamily="49" charset="0"/>
              </a:rPr>
              <a:t>astype</a:t>
            </a:r>
            <a:r>
              <a:rPr lang="en-US" b="0" i="0" dirty="0">
                <a:solidFill>
                  <a:srgbClr val="333333"/>
                </a:solidFill>
                <a:effectLst/>
                <a:latin typeface="Courier New" panose="02070309020205020404" pitchFamily="49" charset="0"/>
              </a:rPr>
              <a:t>(np.uint8)</a:t>
            </a:r>
          </a:p>
          <a:p>
            <a:pPr marL="0" marR="0" indent="0" algn="l">
              <a:lnSpc>
                <a:spcPct val="56435"/>
              </a:lnSpc>
              <a:spcBef>
                <a:spcPts val="600"/>
              </a:spcBef>
              <a:buNone/>
            </a:pPr>
            <a:endParaRPr lang="en-US" b="0" i="0" dirty="0">
              <a:solidFill>
                <a:srgbClr val="333333"/>
              </a:solidFill>
              <a:effectLst/>
              <a:latin typeface="Courier New" panose="02070309020205020404" pitchFamily="49" charset="0"/>
            </a:endParaRPr>
          </a:p>
          <a:p>
            <a:pPr marL="0" marR="0" indent="0" algn="l">
              <a:lnSpc>
                <a:spcPct val="56435"/>
              </a:lnSpc>
              <a:spcBef>
                <a:spcPts val="600"/>
              </a:spcBef>
              <a:buNone/>
            </a:pPr>
            <a:r>
              <a:rPr lang="en-US" b="0" i="0" dirty="0" err="1">
                <a:solidFill>
                  <a:srgbClr val="333333"/>
                </a:solidFill>
                <a:effectLst/>
                <a:latin typeface="Courier New" panose="02070309020205020404" pitchFamily="49" charset="0"/>
              </a:rPr>
              <a:t>citra_gamma_terang</a:t>
            </a:r>
            <a:r>
              <a:rPr lang="en-US" b="0" i="0" dirty="0">
                <a:solidFill>
                  <a:srgbClr val="333333"/>
                </a:solidFill>
                <a:effectLst/>
                <a:latin typeface="Courier New" panose="02070309020205020404" pitchFamily="49" charset="0"/>
              </a:rPr>
              <a:t> = </a:t>
            </a:r>
            <a:r>
              <a:rPr lang="en-US" b="0" i="0" dirty="0" err="1">
                <a:solidFill>
                  <a:srgbClr val="333333"/>
                </a:solidFill>
                <a:effectLst/>
                <a:latin typeface="Courier New" panose="02070309020205020404" pitchFamily="49" charset="0"/>
              </a:rPr>
              <a:t>koreksi_gamma</a:t>
            </a:r>
            <a:r>
              <a:rPr lang="en-US" b="0" i="0" dirty="0">
                <a:solidFill>
                  <a:srgbClr val="333333"/>
                </a:solidFill>
                <a:effectLst/>
                <a:latin typeface="Courier New" panose="02070309020205020404" pitchFamily="49" charset="0"/>
              </a:rPr>
              <a:t>(</a:t>
            </a:r>
            <a:r>
              <a:rPr lang="en-US" b="0" i="0" dirty="0" err="1">
                <a:solidFill>
                  <a:srgbClr val="333333"/>
                </a:solidFill>
                <a:effectLst/>
                <a:latin typeface="Courier New" panose="02070309020205020404" pitchFamily="49" charset="0"/>
              </a:rPr>
              <a:t>citra_gray</a:t>
            </a:r>
            <a:r>
              <a:rPr lang="en-US" b="0" i="0" dirty="0">
                <a:solidFill>
                  <a:srgbClr val="333333"/>
                </a:solidFill>
                <a:effectLst/>
                <a:latin typeface="Courier New" panose="02070309020205020404" pitchFamily="49" charset="0"/>
              </a:rPr>
              <a:t>, gamma=</a:t>
            </a:r>
            <a:r>
              <a:rPr lang="en-US" b="1" i="0" dirty="0">
                <a:solidFill>
                  <a:srgbClr val="6600EE"/>
                </a:solidFill>
                <a:effectLst/>
                <a:latin typeface="Courier New" panose="02070309020205020404" pitchFamily="49" charset="0"/>
              </a:rPr>
              <a:t>0.5</a:t>
            </a:r>
            <a:r>
              <a:rPr lang="en-US" b="0" i="0" dirty="0">
                <a:solidFill>
                  <a:srgbClr val="333333"/>
                </a:solidFill>
                <a:effectLst/>
                <a:latin typeface="Courier New" panose="02070309020205020404" pitchFamily="49" charset="0"/>
              </a:rPr>
              <a:t>)  </a:t>
            </a:r>
            <a:r>
              <a:rPr lang="en-US" b="0" i="0" dirty="0">
                <a:solidFill>
                  <a:srgbClr val="888888"/>
                </a:solidFill>
                <a:effectLst/>
                <a:latin typeface="Courier New" panose="02070309020205020404" pitchFamily="49" charset="0"/>
              </a:rPr>
              <a:t># </a:t>
            </a:r>
            <a:endParaRPr lang="en-US" b="0" i="0" dirty="0">
              <a:solidFill>
                <a:srgbClr val="333333"/>
              </a:solidFill>
              <a:effectLst/>
              <a:latin typeface="Courier New" panose="02070309020205020404" pitchFamily="49" charset="0"/>
            </a:endParaRPr>
          </a:p>
          <a:p>
            <a:pPr marL="0" marR="0" indent="0" algn="l">
              <a:lnSpc>
                <a:spcPct val="56435"/>
              </a:lnSpc>
              <a:spcBef>
                <a:spcPts val="600"/>
              </a:spcBef>
              <a:buNone/>
            </a:pPr>
            <a:r>
              <a:rPr lang="en-US" b="0" i="0" dirty="0" err="1">
                <a:solidFill>
                  <a:srgbClr val="333333"/>
                </a:solidFill>
                <a:effectLst/>
                <a:latin typeface="Courier New" panose="02070309020205020404" pitchFamily="49" charset="0"/>
              </a:rPr>
              <a:t>citra_gamma_gelap</a:t>
            </a:r>
            <a:r>
              <a:rPr lang="en-US" b="0" i="0" dirty="0">
                <a:solidFill>
                  <a:srgbClr val="333333"/>
                </a:solidFill>
                <a:effectLst/>
                <a:latin typeface="Courier New" panose="02070309020205020404" pitchFamily="49" charset="0"/>
              </a:rPr>
              <a:t>  = </a:t>
            </a:r>
            <a:r>
              <a:rPr lang="en-US" b="0" i="0" dirty="0" err="1">
                <a:solidFill>
                  <a:srgbClr val="333333"/>
                </a:solidFill>
                <a:effectLst/>
                <a:latin typeface="Courier New" panose="02070309020205020404" pitchFamily="49" charset="0"/>
              </a:rPr>
              <a:t>koreksi_gamma</a:t>
            </a:r>
            <a:r>
              <a:rPr lang="en-US" b="0" i="0" dirty="0">
                <a:solidFill>
                  <a:srgbClr val="333333"/>
                </a:solidFill>
                <a:effectLst/>
                <a:latin typeface="Courier New" panose="02070309020205020404" pitchFamily="49" charset="0"/>
              </a:rPr>
              <a:t>(</a:t>
            </a:r>
            <a:r>
              <a:rPr lang="en-US" b="0" i="0" dirty="0" err="1">
                <a:solidFill>
                  <a:srgbClr val="333333"/>
                </a:solidFill>
                <a:effectLst/>
                <a:latin typeface="Courier New" panose="02070309020205020404" pitchFamily="49" charset="0"/>
              </a:rPr>
              <a:t>citra_gray</a:t>
            </a:r>
            <a:r>
              <a:rPr lang="en-US" b="0" i="0" dirty="0">
                <a:solidFill>
                  <a:srgbClr val="333333"/>
                </a:solidFill>
                <a:effectLst/>
                <a:latin typeface="Courier New" panose="02070309020205020404" pitchFamily="49" charset="0"/>
              </a:rPr>
              <a:t>, gamma=</a:t>
            </a:r>
            <a:r>
              <a:rPr lang="en-US" b="1" i="0" dirty="0">
                <a:solidFill>
                  <a:srgbClr val="6600EE"/>
                </a:solidFill>
                <a:effectLst/>
                <a:latin typeface="Courier New" panose="02070309020205020404" pitchFamily="49" charset="0"/>
              </a:rPr>
              <a:t>2.0</a:t>
            </a:r>
            <a:r>
              <a:rPr lang="en-US" b="0" i="0" dirty="0">
                <a:solidFill>
                  <a:srgbClr val="333333"/>
                </a:solidFill>
                <a:effectLst/>
                <a:latin typeface="Courier New" panose="02070309020205020404" pitchFamily="49" charset="0"/>
              </a:rPr>
              <a:t>)  </a:t>
            </a:r>
            <a:r>
              <a:rPr lang="en-US" b="0" i="0" dirty="0">
                <a:solidFill>
                  <a:srgbClr val="888888"/>
                </a:solidFill>
                <a:effectLst/>
                <a:latin typeface="Courier New" panose="02070309020205020404" pitchFamily="49" charset="0"/>
              </a:rPr>
              <a:t># </a:t>
            </a:r>
            <a:endParaRPr lang="en-US" b="0" i="0" dirty="0">
              <a:solidFill>
                <a:srgbClr val="333333"/>
              </a:solidFill>
              <a:effectLst/>
              <a:latin typeface="Courier New" panose="02070309020205020404" pitchFamily="49" charset="0"/>
            </a:endParaRPr>
          </a:p>
          <a:p>
            <a:pPr marL="0" marR="0" indent="0" algn="l">
              <a:lnSpc>
                <a:spcPct val="56435"/>
              </a:lnSpc>
              <a:spcBef>
                <a:spcPts val="600"/>
              </a:spcBef>
              <a:buNone/>
            </a:pPr>
            <a:r>
              <a:rPr lang="en-US" b="0" i="0" dirty="0">
                <a:solidFill>
                  <a:srgbClr val="333333"/>
                </a:solidFill>
                <a:effectLst/>
                <a:latin typeface="Courier New" panose="02070309020205020404" pitchFamily="49" charset="0"/>
              </a:rPr>
              <a:t>)</a:t>
            </a:r>
          </a:p>
          <a:p>
            <a:pPr marL="0" marR="0" indent="0" algn="l">
              <a:lnSpc>
                <a:spcPct val="56435"/>
              </a:lnSpc>
              <a:spcBef>
                <a:spcPts val="600"/>
              </a:spcBef>
              <a:buNone/>
            </a:pPr>
            <a:endParaRPr lang="en-US" sz="1100" dirty="0"/>
          </a:p>
        </p:txBody>
      </p:sp>
    </p:spTree>
    <p:extLst>
      <p:ext uri="{BB962C8B-B14F-4D97-AF65-F5344CB8AC3E}">
        <p14:creationId xmlns:p14="http://schemas.microsoft.com/office/powerpoint/2010/main" val="3767650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1FEDD6-3869-49BB-9EA8-C2CBBAA35A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D1FA74-9FE5-1B50-3AF1-323C23DB3C70}"/>
              </a:ext>
            </a:extLst>
          </p:cNvPr>
          <p:cNvSpPr>
            <a:spLocks noGrp="1"/>
          </p:cNvSpPr>
          <p:nvPr>
            <p:ph type="title"/>
          </p:nvPr>
        </p:nvSpPr>
        <p:spPr/>
        <p:txBody>
          <a:bodyPr/>
          <a:lstStyle/>
          <a:p>
            <a:r>
              <a:rPr lang="en-US" dirty="0"/>
              <a:t>Interpretation in Image</a:t>
            </a:r>
          </a:p>
        </p:txBody>
      </p:sp>
      <p:sp>
        <p:nvSpPr>
          <p:cNvPr id="5" name="Text Placeholder 4">
            <a:extLst>
              <a:ext uri="{FF2B5EF4-FFF2-40B4-BE49-F238E27FC236}">
                <a16:creationId xmlns:a16="http://schemas.microsoft.com/office/drawing/2014/main" id="{4E9698E3-B5CE-FD8E-B556-28BC935F79F8}"/>
              </a:ext>
            </a:extLst>
          </p:cNvPr>
          <p:cNvSpPr>
            <a:spLocks noGrp="1"/>
          </p:cNvSpPr>
          <p:nvPr>
            <p:ph type="body" idx="1"/>
          </p:nvPr>
        </p:nvSpPr>
        <p:spPr/>
        <p:txBody>
          <a:bodyPr/>
          <a:lstStyle/>
          <a:p>
            <a:endParaRPr lang="en-US"/>
          </a:p>
        </p:txBody>
      </p:sp>
      <p:pic>
        <p:nvPicPr>
          <p:cNvPr id="6" name="Picture 5">
            <a:extLst>
              <a:ext uri="{FF2B5EF4-FFF2-40B4-BE49-F238E27FC236}">
                <a16:creationId xmlns:a16="http://schemas.microsoft.com/office/drawing/2014/main" id="{15CED0BF-1E73-19B9-AD3C-46AE3C94526A}"/>
              </a:ext>
            </a:extLst>
          </p:cNvPr>
          <p:cNvPicPr>
            <a:picLocks noChangeAspect="1"/>
          </p:cNvPicPr>
          <p:nvPr/>
        </p:nvPicPr>
        <p:blipFill>
          <a:blip r:embed="rId3"/>
          <a:stretch>
            <a:fillRect/>
          </a:stretch>
        </p:blipFill>
        <p:spPr>
          <a:xfrm>
            <a:off x="720000" y="977580"/>
            <a:ext cx="7597325" cy="4047372"/>
          </a:xfrm>
          <a:prstGeom prst="rect">
            <a:avLst/>
          </a:prstGeom>
        </p:spPr>
      </p:pic>
    </p:spTree>
    <p:extLst>
      <p:ext uri="{BB962C8B-B14F-4D97-AF65-F5344CB8AC3E}">
        <p14:creationId xmlns:p14="http://schemas.microsoft.com/office/powerpoint/2010/main" val="4560198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23A6F-FAD4-DF0A-C0E2-05C0EE903B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7A1BEF-7E45-3BCF-C087-E6A87EDEF6DF}"/>
              </a:ext>
            </a:extLst>
          </p:cNvPr>
          <p:cNvSpPr>
            <a:spLocks noGrp="1"/>
          </p:cNvSpPr>
          <p:nvPr>
            <p:ph type="title"/>
          </p:nvPr>
        </p:nvSpPr>
        <p:spPr/>
        <p:txBody>
          <a:bodyPr/>
          <a:lstStyle/>
          <a:p>
            <a:r>
              <a:rPr lang="en-US" dirty="0"/>
              <a:t>Geometric Transformation and Correction</a:t>
            </a:r>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52885B75-4A09-0721-042D-03CC2098E0F3}"/>
                  </a:ext>
                </a:extLst>
              </p:cNvPr>
              <p:cNvSpPr>
                <a:spLocks noGrp="1"/>
              </p:cNvSpPr>
              <p:nvPr>
                <p:ph type="body" idx="1"/>
              </p:nvPr>
            </p:nvSpPr>
            <p:spPr>
              <a:xfrm>
                <a:off x="385464" y="1116737"/>
                <a:ext cx="8321408" cy="3233100"/>
              </a:xfrm>
            </p:spPr>
            <p:txBody>
              <a:bodyPr/>
              <a:lstStyle/>
              <a:p>
                <a:r>
                  <a:rPr lang="en-US" dirty="0"/>
                  <a:t>A geometric transformation is an operation that alters the spatial position of pixels within an image (rather than their intensity values), such as translation (shifting position), rotation, scaling, and flipping. </a:t>
                </a:r>
              </a:p>
              <a:p>
                <a:r>
                  <a:rPr lang="en-US" dirty="0"/>
                  <a:t>Geometric correction involves applying geometric transformations to rectify shape distortions in an image—for instance, those caused by an oblique shooting angle or lens curvature.</a:t>
                </a:r>
              </a:p>
              <a:p>
                <a:r>
                  <a:rPr lang="en-US" dirty="0"/>
                  <a:t>General affine transformation formula (translation, rotation, and scaling combined into a single matrix) </a:t>
                </a:r>
                <a:r>
                  <a:rPr lang="en-US" b="0" i="0" dirty="0">
                    <a:solidFill>
                      <a:srgbClr val="333333"/>
                    </a:solidFill>
                    <a:effectLst/>
                    <a:latin typeface="Hanken Grotesk" panose="020B0604020202020204" charset="0"/>
                  </a:rPr>
                  <a:t>with formula</a:t>
                </a:r>
                <a:r>
                  <a:rPr lang="en-US" b="0" i="0" dirty="0">
                    <a:solidFill>
                      <a:srgbClr val="333333"/>
                    </a:solidFill>
                    <a:effectLst/>
                    <a:latin typeface="Courier New" panose="02070309020205020404" pitchFamily="49" charset="0"/>
                  </a:rPr>
                  <a:t>: </a:t>
                </a:r>
              </a:p>
              <a:p>
                <a:pPr marL="177800" indent="0">
                  <a:buNone/>
                </a:pPr>
                <a14:m>
                  <m:oMathPara xmlns:m="http://schemas.openxmlformats.org/officeDocument/2006/math">
                    <m:oMath>
                      <m:d>
                        <m:dPr>
                          <m:begChr m:val="["/>
                          <m:endChr m:val="]"/>
                          <m:ctrlPr>
                            <a:rPr lang="en-US" b="0" i="1" smtClean="0">
                              <a:solidFill>
                                <a:srgbClr val="333333"/>
                              </a:solidFill>
                              <a:effectLst/>
                              <a:latin typeface="Cambria Math" panose="02040503050406030204" pitchFamily="18" charset="0"/>
                            </a:rPr>
                          </m:ctrlPr>
                        </m:dPr>
                        <m:e>
                          <m:m>
                            <m:mPr>
                              <m:mcs>
                                <m:mc>
                                  <m:mcPr>
                                    <m:count m:val="1"/>
                                    <m:mcJc m:val="center"/>
                                  </m:mcPr>
                                </m:mc>
                              </m:mcs>
                              <m:ctrlPr>
                                <a:rPr lang="en-US" b="0" i="1" smtClean="0">
                                  <a:solidFill>
                                    <a:srgbClr val="333333"/>
                                  </a:solidFill>
                                  <a:effectLst/>
                                  <a:latin typeface="Cambria Math" panose="02040503050406030204" pitchFamily="18" charset="0"/>
                                </a:rPr>
                              </m:ctrlPr>
                            </m:mPr>
                            <m:mr>
                              <m:e>
                                <m:sSup>
                                  <m:sSupPr>
                                    <m:ctrlPr>
                                      <a:rPr lang="en-US" b="0" i="1" smtClean="0">
                                        <a:solidFill>
                                          <a:srgbClr val="333333"/>
                                        </a:solidFill>
                                        <a:effectLst/>
                                        <a:latin typeface="Cambria Math" panose="02040503050406030204" pitchFamily="18" charset="0"/>
                                      </a:rPr>
                                    </m:ctrlPr>
                                  </m:sSupPr>
                                  <m:e>
                                    <m:r>
                                      <a:rPr lang="en-US" b="0" i="1" smtClean="0">
                                        <a:solidFill>
                                          <a:srgbClr val="333333"/>
                                        </a:solidFill>
                                        <a:effectLst/>
                                        <a:latin typeface="Cambria Math" panose="02040503050406030204" pitchFamily="18" charset="0"/>
                                      </a:rPr>
                                      <m:t>𝑥</m:t>
                                    </m:r>
                                  </m:e>
                                  <m:sup>
                                    <m:r>
                                      <a:rPr lang="en-US" b="0" i="1" smtClean="0">
                                        <a:solidFill>
                                          <a:srgbClr val="333333"/>
                                        </a:solidFill>
                                        <a:effectLst/>
                                        <a:latin typeface="Cambria Math" panose="02040503050406030204" pitchFamily="18" charset="0"/>
                                      </a:rPr>
                                      <m:t>′</m:t>
                                    </m:r>
                                  </m:sup>
                                </m:sSup>
                              </m:e>
                            </m:mr>
                            <m:mr>
                              <m:e>
                                <m:sSup>
                                  <m:sSupPr>
                                    <m:ctrlPr>
                                      <a:rPr lang="en-US" b="0" i="1" smtClean="0">
                                        <a:solidFill>
                                          <a:srgbClr val="333333"/>
                                        </a:solidFill>
                                        <a:latin typeface="Cambria Math" panose="02040503050406030204" pitchFamily="18" charset="0"/>
                                      </a:rPr>
                                    </m:ctrlPr>
                                  </m:sSupPr>
                                  <m:e>
                                    <m:r>
                                      <a:rPr lang="en-US" b="0" i="1" smtClean="0">
                                        <a:solidFill>
                                          <a:srgbClr val="333333"/>
                                        </a:solidFill>
                                        <a:latin typeface="Cambria Math" panose="02040503050406030204" pitchFamily="18" charset="0"/>
                                      </a:rPr>
                                      <m:t>𝑦</m:t>
                                    </m:r>
                                  </m:e>
                                  <m:sup>
                                    <m:r>
                                      <a:rPr lang="en-US" i="1">
                                        <a:solidFill>
                                          <a:srgbClr val="333333"/>
                                        </a:solidFill>
                                        <a:latin typeface="Cambria Math" panose="02040503050406030204" pitchFamily="18" charset="0"/>
                                      </a:rPr>
                                      <m:t>′</m:t>
                                    </m:r>
                                  </m:sup>
                                </m:sSup>
                              </m:e>
                            </m:mr>
                            <m:mr>
                              <m:e>
                                <m:r>
                                  <a:rPr lang="en-US" b="0" i="1" smtClean="0">
                                    <a:solidFill>
                                      <a:srgbClr val="333333"/>
                                    </a:solidFill>
                                    <a:effectLst/>
                                    <a:latin typeface="Cambria Math" panose="02040503050406030204" pitchFamily="18" charset="0"/>
                                  </a:rPr>
                                  <m:t>1</m:t>
                                </m:r>
                              </m:e>
                            </m:mr>
                          </m:m>
                        </m:e>
                      </m:d>
                      <m:r>
                        <a:rPr lang="en-US" b="0" i="1" smtClean="0">
                          <a:solidFill>
                            <a:srgbClr val="333333"/>
                          </a:solidFill>
                          <a:effectLst/>
                          <a:latin typeface="Cambria Math" panose="02040503050406030204" pitchFamily="18" charset="0"/>
                        </a:rPr>
                        <m:t>=</m:t>
                      </m:r>
                      <m:d>
                        <m:dPr>
                          <m:begChr m:val="["/>
                          <m:endChr m:val="]"/>
                          <m:ctrlPr>
                            <a:rPr lang="en-US" i="1" smtClean="0">
                              <a:solidFill>
                                <a:srgbClr val="333333"/>
                              </a:solidFill>
                              <a:latin typeface="Cambria Math" panose="02040503050406030204" pitchFamily="18" charset="0"/>
                            </a:rPr>
                          </m:ctrlPr>
                        </m:dPr>
                        <m:e>
                          <m:m>
                            <m:mPr>
                              <m:mcs>
                                <m:mc>
                                  <m:mcPr>
                                    <m:count m:val="3"/>
                                    <m:mcJc m:val="center"/>
                                  </m:mcPr>
                                </m:mc>
                              </m:mcs>
                              <m:ctrlPr>
                                <a:rPr lang="en-US" i="1" smtClean="0">
                                  <a:solidFill>
                                    <a:srgbClr val="333333"/>
                                  </a:solidFill>
                                  <a:latin typeface="Cambria Math" panose="02040503050406030204" pitchFamily="18" charset="0"/>
                                </a:rPr>
                              </m:ctrlPr>
                            </m:mPr>
                            <m:mr>
                              <m:e>
                                <m:r>
                                  <m:rPr>
                                    <m:brk m:alnAt="7"/>
                                  </m:rPr>
                                  <a:rPr lang="en-US" b="0" i="1" smtClean="0">
                                    <a:solidFill>
                                      <a:srgbClr val="333333"/>
                                    </a:solidFill>
                                    <a:latin typeface="Cambria Math" panose="02040503050406030204" pitchFamily="18" charset="0"/>
                                  </a:rPr>
                                  <m:t>𝑎</m:t>
                                </m:r>
                              </m:e>
                              <m:e>
                                <m:r>
                                  <a:rPr lang="en-US" b="0" i="1" smtClean="0">
                                    <a:solidFill>
                                      <a:srgbClr val="333333"/>
                                    </a:solidFill>
                                    <a:latin typeface="Cambria Math" panose="02040503050406030204" pitchFamily="18" charset="0"/>
                                  </a:rPr>
                                  <m:t>𝑏</m:t>
                                </m:r>
                              </m:e>
                              <m:e>
                                <m:sSub>
                                  <m:sSubPr>
                                    <m:ctrlPr>
                                      <a:rPr lang="en-US" b="0" i="1" smtClean="0">
                                        <a:solidFill>
                                          <a:srgbClr val="333333"/>
                                        </a:solidFill>
                                        <a:latin typeface="Cambria Math" panose="02040503050406030204" pitchFamily="18" charset="0"/>
                                      </a:rPr>
                                    </m:ctrlPr>
                                  </m:sSubPr>
                                  <m:e>
                                    <m:r>
                                      <a:rPr lang="en-US" b="0" i="1" smtClean="0">
                                        <a:solidFill>
                                          <a:srgbClr val="333333"/>
                                        </a:solidFill>
                                        <a:latin typeface="Cambria Math" panose="02040503050406030204" pitchFamily="18" charset="0"/>
                                      </a:rPr>
                                      <m:t>𝑡</m:t>
                                    </m:r>
                                  </m:e>
                                  <m:sub>
                                    <m:r>
                                      <a:rPr lang="en-US" b="0" i="1" smtClean="0">
                                        <a:solidFill>
                                          <a:srgbClr val="333333"/>
                                        </a:solidFill>
                                        <a:latin typeface="Cambria Math" panose="02040503050406030204" pitchFamily="18" charset="0"/>
                                      </a:rPr>
                                      <m:t>𝑥</m:t>
                                    </m:r>
                                  </m:sub>
                                </m:sSub>
                              </m:e>
                            </m:mr>
                            <m:mr>
                              <m:e>
                                <m:r>
                                  <a:rPr lang="en-US" b="0" i="1" smtClean="0">
                                    <a:solidFill>
                                      <a:srgbClr val="333333"/>
                                    </a:solidFill>
                                    <a:latin typeface="Cambria Math" panose="02040503050406030204" pitchFamily="18" charset="0"/>
                                  </a:rPr>
                                  <m:t>𝑐</m:t>
                                </m:r>
                              </m:e>
                              <m:e>
                                <m:r>
                                  <a:rPr lang="en-US" b="0" i="1" smtClean="0">
                                    <a:solidFill>
                                      <a:srgbClr val="333333"/>
                                    </a:solidFill>
                                    <a:latin typeface="Cambria Math" panose="02040503050406030204" pitchFamily="18" charset="0"/>
                                  </a:rPr>
                                  <m:t>𝑑</m:t>
                                </m:r>
                              </m:e>
                              <m:e>
                                <m:sSub>
                                  <m:sSubPr>
                                    <m:ctrlPr>
                                      <a:rPr lang="en-US" i="1">
                                        <a:solidFill>
                                          <a:srgbClr val="333333"/>
                                        </a:solidFill>
                                        <a:latin typeface="Cambria Math" panose="02040503050406030204" pitchFamily="18" charset="0"/>
                                      </a:rPr>
                                    </m:ctrlPr>
                                  </m:sSubPr>
                                  <m:e>
                                    <m:r>
                                      <a:rPr lang="en-US" i="1">
                                        <a:solidFill>
                                          <a:srgbClr val="333333"/>
                                        </a:solidFill>
                                        <a:latin typeface="Cambria Math" panose="02040503050406030204" pitchFamily="18" charset="0"/>
                                      </a:rPr>
                                      <m:t>𝑡</m:t>
                                    </m:r>
                                  </m:e>
                                  <m:sub>
                                    <m:r>
                                      <a:rPr lang="en-US" b="0" i="1" smtClean="0">
                                        <a:solidFill>
                                          <a:srgbClr val="333333"/>
                                        </a:solidFill>
                                        <a:latin typeface="Cambria Math" panose="02040503050406030204" pitchFamily="18" charset="0"/>
                                      </a:rPr>
                                      <m:t>𝑦</m:t>
                                    </m:r>
                                  </m:sub>
                                </m:sSub>
                              </m:e>
                            </m:mr>
                            <m:mr>
                              <m:e>
                                <m:r>
                                  <a:rPr lang="en-US" b="0" i="1" smtClean="0">
                                    <a:solidFill>
                                      <a:srgbClr val="333333"/>
                                    </a:solidFill>
                                    <a:latin typeface="Cambria Math" panose="02040503050406030204" pitchFamily="18" charset="0"/>
                                  </a:rPr>
                                  <m:t>0</m:t>
                                </m:r>
                              </m:e>
                              <m:e>
                                <m:r>
                                  <a:rPr lang="en-US" b="0" i="1" smtClean="0">
                                    <a:solidFill>
                                      <a:srgbClr val="333333"/>
                                    </a:solidFill>
                                    <a:latin typeface="Cambria Math" panose="02040503050406030204" pitchFamily="18" charset="0"/>
                                  </a:rPr>
                                  <m:t>0</m:t>
                                </m:r>
                              </m:e>
                              <m:e>
                                <m:r>
                                  <a:rPr lang="en-US" b="0" i="1" smtClean="0">
                                    <a:solidFill>
                                      <a:srgbClr val="333333"/>
                                    </a:solidFill>
                                    <a:latin typeface="Cambria Math" panose="02040503050406030204" pitchFamily="18" charset="0"/>
                                  </a:rPr>
                                  <m:t>1</m:t>
                                </m:r>
                              </m:e>
                            </m:mr>
                          </m:m>
                        </m:e>
                      </m:d>
                      <m:d>
                        <m:dPr>
                          <m:begChr m:val="["/>
                          <m:endChr m:val="]"/>
                          <m:ctrlPr>
                            <a:rPr lang="en-US" i="1" smtClean="0">
                              <a:solidFill>
                                <a:srgbClr val="333333"/>
                              </a:solidFill>
                              <a:latin typeface="Cambria Math" panose="02040503050406030204" pitchFamily="18" charset="0"/>
                            </a:rPr>
                          </m:ctrlPr>
                        </m:dPr>
                        <m:e>
                          <m:m>
                            <m:mPr>
                              <m:mcs>
                                <m:mc>
                                  <m:mcPr>
                                    <m:count m:val="1"/>
                                    <m:mcJc m:val="center"/>
                                  </m:mcPr>
                                </m:mc>
                              </m:mcs>
                              <m:ctrlPr>
                                <a:rPr lang="en-US" i="1" smtClean="0">
                                  <a:solidFill>
                                    <a:srgbClr val="333333"/>
                                  </a:solidFill>
                                  <a:latin typeface="Cambria Math" panose="02040503050406030204" pitchFamily="18" charset="0"/>
                                </a:rPr>
                              </m:ctrlPr>
                            </m:mPr>
                            <m:mr>
                              <m:e>
                                <m:r>
                                  <m:rPr>
                                    <m:brk m:alnAt="7"/>
                                  </m:rPr>
                                  <a:rPr lang="en-US" b="0" i="1" smtClean="0">
                                    <a:solidFill>
                                      <a:srgbClr val="333333"/>
                                    </a:solidFill>
                                    <a:latin typeface="Cambria Math" panose="02040503050406030204" pitchFamily="18" charset="0"/>
                                  </a:rPr>
                                  <m:t>𝑥</m:t>
                                </m:r>
                              </m:e>
                            </m:mr>
                            <m:mr>
                              <m:e>
                                <m:r>
                                  <a:rPr lang="en-US" b="0" i="1" smtClean="0">
                                    <a:solidFill>
                                      <a:srgbClr val="333333"/>
                                    </a:solidFill>
                                    <a:latin typeface="Cambria Math" panose="02040503050406030204" pitchFamily="18" charset="0"/>
                                  </a:rPr>
                                  <m:t>𝑦</m:t>
                                </m:r>
                              </m:e>
                            </m:mr>
                            <m:mr>
                              <m:e>
                                <m:r>
                                  <a:rPr lang="en-US" b="0" i="1" smtClean="0">
                                    <a:solidFill>
                                      <a:srgbClr val="333333"/>
                                    </a:solidFill>
                                    <a:latin typeface="Cambria Math" panose="02040503050406030204" pitchFamily="18" charset="0"/>
                                  </a:rPr>
                                  <m:t>1</m:t>
                                </m:r>
                              </m:e>
                            </m:mr>
                          </m:m>
                        </m:e>
                      </m:d>
                    </m:oMath>
                  </m:oMathPara>
                </a14:m>
                <a:endParaRPr lang="en-US" b="0" i="0" dirty="0">
                  <a:solidFill>
                    <a:srgbClr val="333333"/>
                  </a:solidFill>
                  <a:effectLst/>
                  <a:latin typeface="Courier New" panose="02070309020205020404" pitchFamily="49" charset="0"/>
                </a:endParaRPr>
              </a:p>
              <a:p>
                <a:r>
                  <a:rPr lang="en-US" dirty="0">
                    <a:solidFill>
                      <a:srgbClr val="333333"/>
                    </a:solidFill>
                    <a:latin typeface="Hanken Grotesk" panose="020B0604020202020204" charset="0"/>
                  </a:rPr>
                  <a:t>In mathematics, the row </a:t>
                </a:r>
                <a14:m>
                  <m:oMath xmlns:m="http://schemas.openxmlformats.org/officeDocument/2006/math">
                    <m:r>
                      <m:rPr>
                        <m:lit/>
                      </m:rPr>
                      <a:rPr lang="en-US" i="1" dirty="0" smtClean="0">
                        <a:solidFill>
                          <a:srgbClr val="333333"/>
                        </a:solidFill>
                        <a:latin typeface="Cambria Math" panose="02040503050406030204" pitchFamily="18" charset="0"/>
                      </a:rPr>
                      <m:t>(</m:t>
                    </m:r>
                    <m:r>
                      <a:rPr lang="en-US" i="1" dirty="0">
                        <a:solidFill>
                          <a:srgbClr val="333333"/>
                        </a:solidFill>
                        <a:latin typeface="Cambria Math" panose="02040503050406030204" pitchFamily="18" charset="0"/>
                      </a:rPr>
                      <m:t>[0, 0, 1]</m:t>
                    </m:r>
                    <m:r>
                      <m:rPr>
                        <m:lit/>
                      </m:rPr>
                      <a:rPr lang="en-US" i="1" dirty="0">
                        <a:solidFill>
                          <a:srgbClr val="333333"/>
                        </a:solidFill>
                        <a:latin typeface="Cambria Math" panose="02040503050406030204" pitchFamily="18" charset="0"/>
                      </a:rPr>
                      <m:t>)</m:t>
                    </m:r>
                    <m:r>
                      <a:rPr lang="en-US" i="1" dirty="0">
                        <a:solidFill>
                          <a:srgbClr val="333333"/>
                        </a:solidFill>
                        <a:latin typeface="Cambria Math" panose="02040503050406030204" pitchFamily="18" charset="0"/>
                      </a:rPr>
                      <m:t> </m:t>
                    </m:r>
                  </m:oMath>
                </a14:m>
                <a:r>
                  <a:rPr lang="en-US" dirty="0">
                    <a:solidFill>
                      <a:srgbClr val="333333"/>
                    </a:solidFill>
                    <a:latin typeface="Hanken Grotesk" panose="020B0604020202020204" charset="0"/>
                  </a:rPr>
                  <a:t>must be written so that we can multiply 3 × 3 matrices. To save memory and accelerate computation, OpenCV discards that last row. The transformation matrix in Python OpenCV is truncated to a 2 × 3 size. </a:t>
                </a:r>
                <a:r>
                  <a:rPr lang="en-US" dirty="0"/>
                  <a:t>in python using function </a:t>
                </a:r>
                <a:r>
                  <a:rPr lang="en-US" dirty="0">
                    <a:solidFill>
                      <a:srgbClr val="333333"/>
                    </a:solidFill>
                    <a:latin typeface="Courier New" panose="02070309020205020404" pitchFamily="49" charset="0"/>
                  </a:rPr>
                  <a:t>cv2.warpAffine </a:t>
                </a:r>
                <a:endParaRPr lang="en-US" b="0" i="0" dirty="0">
                  <a:solidFill>
                    <a:srgbClr val="333333"/>
                  </a:solidFill>
                  <a:effectLst/>
                  <a:latin typeface="Hanken Grotesk" panose="020B0604020202020204" charset="0"/>
                </a:endParaRPr>
              </a:p>
              <a:p>
                <a:endParaRPr lang="en-US" dirty="0"/>
              </a:p>
            </p:txBody>
          </p:sp>
        </mc:Choice>
        <mc:Fallback>
          <p:sp>
            <p:nvSpPr>
              <p:cNvPr id="3" name="Text Placeholder 2">
                <a:extLst>
                  <a:ext uri="{FF2B5EF4-FFF2-40B4-BE49-F238E27FC236}">
                    <a16:creationId xmlns:a16="http://schemas.microsoft.com/office/drawing/2014/main" id="{52885B75-4A09-0721-042D-03CC2098E0F3}"/>
                  </a:ext>
                </a:extLst>
              </p:cNvPr>
              <p:cNvSpPr>
                <a:spLocks noGrp="1" noRot="1" noChangeAspect="1" noMove="1" noResize="1" noEditPoints="1" noAdjustHandles="1" noChangeArrowheads="1" noChangeShapeType="1" noTextEdit="1"/>
              </p:cNvSpPr>
              <p:nvPr>
                <p:ph type="body" idx="1"/>
              </p:nvPr>
            </p:nvSpPr>
            <p:spPr>
              <a:xfrm>
                <a:off x="385464" y="1116737"/>
                <a:ext cx="8321408" cy="3233100"/>
              </a:xfrm>
              <a:blipFill>
                <a:blip r:embed="rId3"/>
                <a:stretch>
                  <a:fillRect r="-1099" b="-6026"/>
                </a:stretch>
              </a:blipFill>
            </p:spPr>
            <p:txBody>
              <a:bodyPr/>
              <a:lstStyle/>
              <a:p>
                <a:r>
                  <a:rPr lang="en-US">
                    <a:noFill/>
                  </a:rPr>
                  <a:t> </a:t>
                </a:r>
              </a:p>
            </p:txBody>
          </p:sp>
        </mc:Fallback>
      </mc:AlternateContent>
    </p:spTree>
    <p:extLst>
      <p:ext uri="{BB962C8B-B14F-4D97-AF65-F5344CB8AC3E}">
        <p14:creationId xmlns:p14="http://schemas.microsoft.com/office/powerpoint/2010/main" val="7671116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2E114-4BDE-2D10-45F1-6270449C2E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E040F1-C20B-4C32-1638-8A3E3DD7890B}"/>
              </a:ext>
            </a:extLst>
          </p:cNvPr>
          <p:cNvSpPr>
            <a:spLocks noGrp="1"/>
          </p:cNvSpPr>
          <p:nvPr>
            <p:ph type="title"/>
          </p:nvPr>
        </p:nvSpPr>
        <p:spPr/>
        <p:txBody>
          <a:bodyPr/>
          <a:lstStyle/>
          <a:p>
            <a:r>
              <a:rPr lang="en-US" dirty="0"/>
              <a:t>Geometric Transformation and Correction</a:t>
            </a:r>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B1E4CF7C-C560-FAEB-897E-45C4349F6B8F}"/>
                  </a:ext>
                </a:extLst>
              </p:cNvPr>
              <p:cNvSpPr>
                <a:spLocks noGrp="1"/>
              </p:cNvSpPr>
              <p:nvPr>
                <p:ph type="body" idx="1"/>
              </p:nvPr>
            </p:nvSpPr>
            <p:spPr>
              <a:xfrm>
                <a:off x="385464" y="1116737"/>
                <a:ext cx="8321408" cy="3233100"/>
              </a:xfrm>
            </p:spPr>
            <p:txBody>
              <a:bodyPr/>
              <a:lstStyle/>
              <a:p>
                <a:r>
                  <a:rPr lang="en-US" dirty="0"/>
                  <a:t>General affine transformation formula (translation, rotation, and scaling combined into a single matrix) </a:t>
                </a:r>
                <a:r>
                  <a:rPr lang="en-US" b="0" i="0" dirty="0">
                    <a:solidFill>
                      <a:srgbClr val="333333"/>
                    </a:solidFill>
                    <a:effectLst/>
                    <a:latin typeface="Hanken Grotesk" panose="020B0604020202020204" charset="0"/>
                  </a:rPr>
                  <a:t>with formula</a:t>
                </a:r>
                <a:r>
                  <a:rPr lang="en-US" b="0" i="0" dirty="0">
                    <a:solidFill>
                      <a:srgbClr val="333333"/>
                    </a:solidFill>
                    <a:effectLst/>
                    <a:latin typeface="Courier New" panose="02070309020205020404" pitchFamily="49" charset="0"/>
                  </a:rPr>
                  <a:t>: </a:t>
                </a:r>
              </a:p>
              <a:p>
                <a:pPr marL="177800" indent="0">
                  <a:buNone/>
                </a:pPr>
                <a14:m>
                  <m:oMathPara xmlns:m="http://schemas.openxmlformats.org/officeDocument/2006/math">
                    <m:oMath>
                      <m:d>
                        <m:dPr>
                          <m:begChr m:val="["/>
                          <m:endChr m:val="]"/>
                          <m:ctrlPr>
                            <a:rPr lang="en-US" b="0" i="1" smtClean="0">
                              <a:solidFill>
                                <a:srgbClr val="333333"/>
                              </a:solidFill>
                              <a:effectLst/>
                              <a:latin typeface="Cambria Math" panose="02040503050406030204" pitchFamily="18" charset="0"/>
                            </a:rPr>
                          </m:ctrlPr>
                        </m:dPr>
                        <m:e>
                          <m:m>
                            <m:mPr>
                              <m:mcs>
                                <m:mc>
                                  <m:mcPr>
                                    <m:count m:val="1"/>
                                    <m:mcJc m:val="center"/>
                                  </m:mcPr>
                                </m:mc>
                              </m:mcs>
                              <m:ctrlPr>
                                <a:rPr lang="en-US" b="0" i="1" smtClean="0">
                                  <a:solidFill>
                                    <a:srgbClr val="333333"/>
                                  </a:solidFill>
                                  <a:effectLst/>
                                  <a:latin typeface="Cambria Math" panose="02040503050406030204" pitchFamily="18" charset="0"/>
                                </a:rPr>
                              </m:ctrlPr>
                            </m:mPr>
                            <m:mr>
                              <m:e>
                                <m:sSup>
                                  <m:sSupPr>
                                    <m:ctrlPr>
                                      <a:rPr lang="en-US" b="0" i="1" smtClean="0">
                                        <a:solidFill>
                                          <a:srgbClr val="333333"/>
                                        </a:solidFill>
                                        <a:effectLst/>
                                        <a:latin typeface="Cambria Math" panose="02040503050406030204" pitchFamily="18" charset="0"/>
                                      </a:rPr>
                                    </m:ctrlPr>
                                  </m:sSupPr>
                                  <m:e>
                                    <m:r>
                                      <a:rPr lang="en-US" b="0" i="1" smtClean="0">
                                        <a:solidFill>
                                          <a:srgbClr val="333333"/>
                                        </a:solidFill>
                                        <a:effectLst/>
                                        <a:latin typeface="Cambria Math" panose="02040503050406030204" pitchFamily="18" charset="0"/>
                                      </a:rPr>
                                      <m:t>𝑥</m:t>
                                    </m:r>
                                  </m:e>
                                  <m:sup>
                                    <m:r>
                                      <a:rPr lang="en-US" b="0" i="1" smtClean="0">
                                        <a:solidFill>
                                          <a:srgbClr val="333333"/>
                                        </a:solidFill>
                                        <a:effectLst/>
                                        <a:latin typeface="Cambria Math" panose="02040503050406030204" pitchFamily="18" charset="0"/>
                                      </a:rPr>
                                      <m:t>′</m:t>
                                    </m:r>
                                  </m:sup>
                                </m:sSup>
                              </m:e>
                            </m:mr>
                            <m:mr>
                              <m:e>
                                <m:sSup>
                                  <m:sSupPr>
                                    <m:ctrlPr>
                                      <a:rPr lang="en-US" b="0" i="1" smtClean="0">
                                        <a:solidFill>
                                          <a:srgbClr val="333333"/>
                                        </a:solidFill>
                                        <a:latin typeface="Cambria Math" panose="02040503050406030204" pitchFamily="18" charset="0"/>
                                      </a:rPr>
                                    </m:ctrlPr>
                                  </m:sSupPr>
                                  <m:e>
                                    <m:r>
                                      <a:rPr lang="en-US" b="0" i="1" smtClean="0">
                                        <a:solidFill>
                                          <a:srgbClr val="333333"/>
                                        </a:solidFill>
                                        <a:latin typeface="Cambria Math" panose="02040503050406030204" pitchFamily="18" charset="0"/>
                                      </a:rPr>
                                      <m:t>𝑦</m:t>
                                    </m:r>
                                  </m:e>
                                  <m:sup>
                                    <m:r>
                                      <a:rPr lang="en-US" i="1">
                                        <a:solidFill>
                                          <a:srgbClr val="333333"/>
                                        </a:solidFill>
                                        <a:latin typeface="Cambria Math" panose="02040503050406030204" pitchFamily="18" charset="0"/>
                                      </a:rPr>
                                      <m:t>′</m:t>
                                    </m:r>
                                  </m:sup>
                                </m:sSup>
                              </m:e>
                            </m:mr>
                            <m:mr>
                              <m:e>
                                <m:r>
                                  <a:rPr lang="en-US" b="0" i="1" smtClean="0">
                                    <a:solidFill>
                                      <a:srgbClr val="333333"/>
                                    </a:solidFill>
                                    <a:effectLst/>
                                    <a:latin typeface="Cambria Math" panose="02040503050406030204" pitchFamily="18" charset="0"/>
                                  </a:rPr>
                                  <m:t>1</m:t>
                                </m:r>
                              </m:e>
                            </m:mr>
                          </m:m>
                        </m:e>
                      </m:d>
                      <m:r>
                        <a:rPr lang="en-US" b="0" i="1" smtClean="0">
                          <a:solidFill>
                            <a:srgbClr val="333333"/>
                          </a:solidFill>
                          <a:effectLst/>
                          <a:latin typeface="Cambria Math" panose="02040503050406030204" pitchFamily="18" charset="0"/>
                        </a:rPr>
                        <m:t>=</m:t>
                      </m:r>
                      <m:d>
                        <m:dPr>
                          <m:begChr m:val="["/>
                          <m:endChr m:val="]"/>
                          <m:ctrlPr>
                            <a:rPr lang="en-US" i="1" smtClean="0">
                              <a:solidFill>
                                <a:srgbClr val="333333"/>
                              </a:solidFill>
                              <a:latin typeface="Cambria Math" panose="02040503050406030204" pitchFamily="18" charset="0"/>
                            </a:rPr>
                          </m:ctrlPr>
                        </m:dPr>
                        <m:e>
                          <m:m>
                            <m:mPr>
                              <m:mcs>
                                <m:mc>
                                  <m:mcPr>
                                    <m:count m:val="3"/>
                                    <m:mcJc m:val="center"/>
                                  </m:mcPr>
                                </m:mc>
                              </m:mcs>
                              <m:ctrlPr>
                                <a:rPr lang="en-US" i="1" smtClean="0">
                                  <a:solidFill>
                                    <a:srgbClr val="333333"/>
                                  </a:solidFill>
                                  <a:latin typeface="Cambria Math" panose="02040503050406030204" pitchFamily="18" charset="0"/>
                                </a:rPr>
                              </m:ctrlPr>
                            </m:mPr>
                            <m:mr>
                              <m:e>
                                <m:r>
                                  <m:rPr>
                                    <m:brk m:alnAt="7"/>
                                  </m:rPr>
                                  <a:rPr lang="en-US" b="0" i="1" smtClean="0">
                                    <a:solidFill>
                                      <a:srgbClr val="333333"/>
                                    </a:solidFill>
                                    <a:latin typeface="Cambria Math" panose="02040503050406030204" pitchFamily="18" charset="0"/>
                                  </a:rPr>
                                  <m:t>𝑎</m:t>
                                </m:r>
                              </m:e>
                              <m:e>
                                <m:r>
                                  <a:rPr lang="en-US" b="0" i="1" smtClean="0">
                                    <a:solidFill>
                                      <a:srgbClr val="333333"/>
                                    </a:solidFill>
                                    <a:latin typeface="Cambria Math" panose="02040503050406030204" pitchFamily="18" charset="0"/>
                                  </a:rPr>
                                  <m:t>𝑏</m:t>
                                </m:r>
                              </m:e>
                              <m:e>
                                <m:sSub>
                                  <m:sSubPr>
                                    <m:ctrlPr>
                                      <a:rPr lang="en-US" b="0" i="1" smtClean="0">
                                        <a:solidFill>
                                          <a:srgbClr val="333333"/>
                                        </a:solidFill>
                                        <a:latin typeface="Cambria Math" panose="02040503050406030204" pitchFamily="18" charset="0"/>
                                      </a:rPr>
                                    </m:ctrlPr>
                                  </m:sSubPr>
                                  <m:e>
                                    <m:r>
                                      <a:rPr lang="en-US" b="0" i="1" smtClean="0">
                                        <a:solidFill>
                                          <a:srgbClr val="333333"/>
                                        </a:solidFill>
                                        <a:latin typeface="Cambria Math" panose="02040503050406030204" pitchFamily="18" charset="0"/>
                                      </a:rPr>
                                      <m:t>𝑡</m:t>
                                    </m:r>
                                  </m:e>
                                  <m:sub>
                                    <m:r>
                                      <a:rPr lang="en-US" b="0" i="1" smtClean="0">
                                        <a:solidFill>
                                          <a:srgbClr val="333333"/>
                                        </a:solidFill>
                                        <a:latin typeface="Cambria Math" panose="02040503050406030204" pitchFamily="18" charset="0"/>
                                      </a:rPr>
                                      <m:t>𝑥</m:t>
                                    </m:r>
                                  </m:sub>
                                </m:sSub>
                              </m:e>
                            </m:mr>
                            <m:mr>
                              <m:e>
                                <m:r>
                                  <a:rPr lang="en-US" b="0" i="1" smtClean="0">
                                    <a:solidFill>
                                      <a:srgbClr val="333333"/>
                                    </a:solidFill>
                                    <a:latin typeface="Cambria Math" panose="02040503050406030204" pitchFamily="18" charset="0"/>
                                  </a:rPr>
                                  <m:t>𝑐</m:t>
                                </m:r>
                              </m:e>
                              <m:e>
                                <m:r>
                                  <a:rPr lang="en-US" b="0" i="1" smtClean="0">
                                    <a:solidFill>
                                      <a:srgbClr val="333333"/>
                                    </a:solidFill>
                                    <a:latin typeface="Cambria Math" panose="02040503050406030204" pitchFamily="18" charset="0"/>
                                  </a:rPr>
                                  <m:t>𝑑</m:t>
                                </m:r>
                              </m:e>
                              <m:e>
                                <m:sSub>
                                  <m:sSubPr>
                                    <m:ctrlPr>
                                      <a:rPr lang="en-US" i="1">
                                        <a:solidFill>
                                          <a:srgbClr val="333333"/>
                                        </a:solidFill>
                                        <a:latin typeface="Cambria Math" panose="02040503050406030204" pitchFamily="18" charset="0"/>
                                      </a:rPr>
                                    </m:ctrlPr>
                                  </m:sSubPr>
                                  <m:e>
                                    <m:r>
                                      <a:rPr lang="en-US" i="1">
                                        <a:solidFill>
                                          <a:srgbClr val="333333"/>
                                        </a:solidFill>
                                        <a:latin typeface="Cambria Math" panose="02040503050406030204" pitchFamily="18" charset="0"/>
                                      </a:rPr>
                                      <m:t>𝑡</m:t>
                                    </m:r>
                                  </m:e>
                                  <m:sub>
                                    <m:r>
                                      <a:rPr lang="en-US" b="0" i="1" smtClean="0">
                                        <a:solidFill>
                                          <a:srgbClr val="333333"/>
                                        </a:solidFill>
                                        <a:latin typeface="Cambria Math" panose="02040503050406030204" pitchFamily="18" charset="0"/>
                                      </a:rPr>
                                      <m:t>𝑦</m:t>
                                    </m:r>
                                  </m:sub>
                                </m:sSub>
                              </m:e>
                            </m:mr>
                            <m:mr>
                              <m:e>
                                <m:r>
                                  <a:rPr lang="en-US" b="0" i="1" smtClean="0">
                                    <a:solidFill>
                                      <a:srgbClr val="333333"/>
                                    </a:solidFill>
                                    <a:latin typeface="Cambria Math" panose="02040503050406030204" pitchFamily="18" charset="0"/>
                                  </a:rPr>
                                  <m:t>0</m:t>
                                </m:r>
                              </m:e>
                              <m:e>
                                <m:r>
                                  <a:rPr lang="en-US" b="0" i="1" smtClean="0">
                                    <a:solidFill>
                                      <a:srgbClr val="333333"/>
                                    </a:solidFill>
                                    <a:latin typeface="Cambria Math" panose="02040503050406030204" pitchFamily="18" charset="0"/>
                                  </a:rPr>
                                  <m:t>0</m:t>
                                </m:r>
                              </m:e>
                              <m:e>
                                <m:r>
                                  <a:rPr lang="en-US" b="0" i="1" smtClean="0">
                                    <a:solidFill>
                                      <a:srgbClr val="333333"/>
                                    </a:solidFill>
                                    <a:latin typeface="Cambria Math" panose="02040503050406030204" pitchFamily="18" charset="0"/>
                                  </a:rPr>
                                  <m:t>1</m:t>
                                </m:r>
                              </m:e>
                            </m:mr>
                          </m:m>
                        </m:e>
                      </m:d>
                      <m:d>
                        <m:dPr>
                          <m:begChr m:val="["/>
                          <m:endChr m:val="]"/>
                          <m:ctrlPr>
                            <a:rPr lang="en-US" i="1" smtClean="0">
                              <a:solidFill>
                                <a:srgbClr val="333333"/>
                              </a:solidFill>
                              <a:latin typeface="Cambria Math" panose="02040503050406030204" pitchFamily="18" charset="0"/>
                            </a:rPr>
                          </m:ctrlPr>
                        </m:dPr>
                        <m:e>
                          <m:m>
                            <m:mPr>
                              <m:mcs>
                                <m:mc>
                                  <m:mcPr>
                                    <m:count m:val="1"/>
                                    <m:mcJc m:val="center"/>
                                  </m:mcPr>
                                </m:mc>
                              </m:mcs>
                              <m:ctrlPr>
                                <a:rPr lang="en-US" i="1" smtClean="0">
                                  <a:solidFill>
                                    <a:srgbClr val="333333"/>
                                  </a:solidFill>
                                  <a:latin typeface="Cambria Math" panose="02040503050406030204" pitchFamily="18" charset="0"/>
                                </a:rPr>
                              </m:ctrlPr>
                            </m:mPr>
                            <m:mr>
                              <m:e>
                                <m:r>
                                  <m:rPr>
                                    <m:brk m:alnAt="7"/>
                                  </m:rPr>
                                  <a:rPr lang="en-US" b="0" i="1" smtClean="0">
                                    <a:solidFill>
                                      <a:srgbClr val="333333"/>
                                    </a:solidFill>
                                    <a:latin typeface="Cambria Math" panose="02040503050406030204" pitchFamily="18" charset="0"/>
                                  </a:rPr>
                                  <m:t>𝑥</m:t>
                                </m:r>
                              </m:e>
                            </m:mr>
                            <m:mr>
                              <m:e>
                                <m:r>
                                  <a:rPr lang="en-US" b="0" i="1" smtClean="0">
                                    <a:solidFill>
                                      <a:srgbClr val="333333"/>
                                    </a:solidFill>
                                    <a:latin typeface="Cambria Math" panose="02040503050406030204" pitchFamily="18" charset="0"/>
                                  </a:rPr>
                                  <m:t>𝑦</m:t>
                                </m:r>
                              </m:e>
                            </m:mr>
                            <m:mr>
                              <m:e>
                                <m:r>
                                  <a:rPr lang="en-US" b="0" i="1" smtClean="0">
                                    <a:solidFill>
                                      <a:srgbClr val="333333"/>
                                    </a:solidFill>
                                    <a:latin typeface="Cambria Math" panose="02040503050406030204" pitchFamily="18" charset="0"/>
                                  </a:rPr>
                                  <m:t>1</m:t>
                                </m:r>
                              </m:e>
                            </m:mr>
                          </m:m>
                        </m:e>
                      </m:d>
                    </m:oMath>
                  </m:oMathPara>
                </a14:m>
                <a:endParaRPr lang="en-US" b="0" i="0" dirty="0">
                  <a:solidFill>
                    <a:srgbClr val="333333"/>
                  </a:solidFill>
                  <a:effectLst/>
                  <a:latin typeface="Courier New" panose="02070309020205020404" pitchFamily="49" charset="0"/>
                </a:endParaRPr>
              </a:p>
              <a:p>
                <a:r>
                  <a:rPr lang="en-US" dirty="0">
                    <a:solidFill>
                      <a:srgbClr val="333333"/>
                    </a:solidFill>
                    <a:latin typeface="Hanken Grotesk" panose="020B0604020202020204" charset="0"/>
                  </a:rPr>
                  <a:t>Special case:</a:t>
                </a:r>
              </a:p>
              <a:p>
                <a:pPr lvl="1"/>
                <a:r>
                  <a:rPr lang="en-US" dirty="0"/>
                  <a:t>Translation (shifting position) by (</a:t>
                </a:r>
                <a14:m>
                  <m:oMath xmlns:m="http://schemas.openxmlformats.org/officeDocument/2006/math">
                    <m:sSub>
                      <m:sSubPr>
                        <m:ctrlPr>
                          <a:rPr lang="en-US" i="1">
                            <a:solidFill>
                              <a:srgbClr val="333333"/>
                            </a:solidFill>
                            <a:latin typeface="Cambria Math" panose="02040503050406030204" pitchFamily="18" charset="0"/>
                          </a:rPr>
                        </m:ctrlPr>
                      </m:sSubPr>
                      <m:e>
                        <m:r>
                          <a:rPr lang="en-US" i="1">
                            <a:solidFill>
                              <a:srgbClr val="333333"/>
                            </a:solidFill>
                            <a:latin typeface="Cambria Math" panose="02040503050406030204" pitchFamily="18" charset="0"/>
                          </a:rPr>
                          <m:t>𝑡</m:t>
                        </m:r>
                      </m:e>
                      <m:sub>
                        <m:r>
                          <a:rPr lang="en-US" i="1">
                            <a:solidFill>
                              <a:srgbClr val="333333"/>
                            </a:solidFill>
                            <a:latin typeface="Cambria Math" panose="02040503050406030204" pitchFamily="18" charset="0"/>
                          </a:rPr>
                          <m:t>𝑥</m:t>
                        </m:r>
                      </m:sub>
                    </m:sSub>
                  </m:oMath>
                </a14:m>
                <a:r>
                  <a:rPr lang="en-US" dirty="0"/>
                  <a:t>, </a:t>
                </a:r>
                <a14:m>
                  <m:oMath xmlns:m="http://schemas.openxmlformats.org/officeDocument/2006/math">
                    <m:sSub>
                      <m:sSubPr>
                        <m:ctrlPr>
                          <a:rPr lang="en-US" i="1">
                            <a:solidFill>
                              <a:srgbClr val="333333"/>
                            </a:solidFill>
                            <a:latin typeface="Cambria Math" panose="02040503050406030204" pitchFamily="18" charset="0"/>
                          </a:rPr>
                        </m:ctrlPr>
                      </m:sSubPr>
                      <m:e>
                        <m:r>
                          <a:rPr lang="en-US" i="1">
                            <a:solidFill>
                              <a:srgbClr val="333333"/>
                            </a:solidFill>
                            <a:latin typeface="Cambria Math" panose="02040503050406030204" pitchFamily="18" charset="0"/>
                          </a:rPr>
                          <m:t>𝑡</m:t>
                        </m:r>
                      </m:e>
                      <m:sub>
                        <m:r>
                          <a:rPr lang="en-US" b="0" i="1" smtClean="0">
                            <a:solidFill>
                              <a:srgbClr val="333333"/>
                            </a:solidFill>
                            <a:latin typeface="Cambria Math" panose="02040503050406030204" pitchFamily="18" charset="0"/>
                          </a:rPr>
                          <m:t>𝑦</m:t>
                        </m:r>
                      </m:sub>
                    </m:sSub>
                  </m:oMath>
                </a14:m>
                <a:r>
                  <a:rPr lang="en-US" dirty="0"/>
                  <a:t>):</a:t>
                </a:r>
              </a:p>
              <a:p>
                <a:pPr marL="1981200" lvl="4" indent="0">
                  <a:buNone/>
                </a:pPr>
                <a:r>
                  <a:rPr lang="en-US" dirty="0"/>
                  <a:t>	 </a:t>
                </a:r>
                <a14:m>
                  <m:oMath xmlns:m="http://schemas.openxmlformats.org/officeDocument/2006/math">
                    <m:sSup>
                      <m:sSupPr>
                        <m:ctrlPr>
                          <a:rPr lang="es-ES" i="1" dirty="0" smtClean="0">
                            <a:latin typeface="Cambria Math" panose="02040503050406030204" pitchFamily="18" charset="0"/>
                          </a:rPr>
                        </m:ctrlPr>
                      </m:sSupPr>
                      <m:e>
                        <m:r>
                          <a:rPr lang="es-ES" i="1" dirty="0" smtClean="0">
                            <a:latin typeface="Cambria Math" panose="02040503050406030204" pitchFamily="18" charset="0"/>
                          </a:rPr>
                          <m:t>𝑥</m:t>
                        </m:r>
                      </m:e>
                      <m:sup>
                        <m:r>
                          <a:rPr lang="es-ES" i="1" dirty="0" smtClean="0">
                            <a:latin typeface="Cambria Math" panose="02040503050406030204" pitchFamily="18" charset="0"/>
                          </a:rPr>
                          <m:t>′</m:t>
                        </m:r>
                      </m:sup>
                    </m:sSup>
                    <m:r>
                      <a:rPr lang="es-ES" i="1" dirty="0" smtClean="0">
                        <a:latin typeface="Cambria Math" panose="02040503050406030204" pitchFamily="18" charset="0"/>
                      </a:rPr>
                      <m:t>= </m:t>
                    </m:r>
                    <m:r>
                      <a:rPr lang="es-ES" i="1" dirty="0" smtClean="0">
                        <a:latin typeface="Cambria Math" panose="02040503050406030204" pitchFamily="18" charset="0"/>
                      </a:rPr>
                      <m:t>𝑥</m:t>
                    </m:r>
                    <m:r>
                      <a:rPr lang="es-ES" i="1" dirty="0" smtClean="0">
                        <a:latin typeface="Cambria Math" panose="02040503050406030204" pitchFamily="18" charset="0"/>
                      </a:rPr>
                      <m:t> +</m:t>
                    </m:r>
                    <m:sSub>
                      <m:sSubPr>
                        <m:ctrlPr>
                          <a:rPr lang="en-US" i="1">
                            <a:solidFill>
                              <a:srgbClr val="333333"/>
                            </a:solidFill>
                            <a:latin typeface="Cambria Math" panose="02040503050406030204" pitchFamily="18" charset="0"/>
                          </a:rPr>
                        </m:ctrlPr>
                      </m:sSubPr>
                      <m:e>
                        <m:r>
                          <a:rPr lang="en-US" i="1">
                            <a:solidFill>
                              <a:srgbClr val="333333"/>
                            </a:solidFill>
                            <a:latin typeface="Cambria Math" panose="02040503050406030204" pitchFamily="18" charset="0"/>
                          </a:rPr>
                          <m:t>𝑡</m:t>
                        </m:r>
                      </m:e>
                      <m:sub>
                        <m:r>
                          <a:rPr lang="en-US" i="1">
                            <a:solidFill>
                              <a:srgbClr val="333333"/>
                            </a:solidFill>
                            <a:latin typeface="Cambria Math" panose="02040503050406030204" pitchFamily="18" charset="0"/>
                          </a:rPr>
                          <m:t>𝑥</m:t>
                        </m:r>
                      </m:sub>
                    </m:sSub>
                    <m:r>
                      <a:rPr lang="en-US" b="0" i="1" smtClean="0">
                        <a:solidFill>
                          <a:srgbClr val="333333"/>
                        </a:solidFill>
                        <a:latin typeface="Cambria Math" panose="02040503050406030204" pitchFamily="18" charset="0"/>
                      </a:rPr>
                      <m:t> </m:t>
                    </m:r>
                  </m:oMath>
                </a14:m>
                <a:r>
                  <a:rPr lang="es-ES" dirty="0"/>
                  <a:t>,  and </a:t>
                </a:r>
                <a14:m>
                  <m:oMath xmlns:m="http://schemas.openxmlformats.org/officeDocument/2006/math">
                    <m:sSup>
                      <m:sSupPr>
                        <m:ctrlPr>
                          <a:rPr lang="es-ES" i="1" dirty="0" smtClean="0">
                            <a:latin typeface="Cambria Math" panose="02040503050406030204" pitchFamily="18" charset="0"/>
                          </a:rPr>
                        </m:ctrlPr>
                      </m:sSupPr>
                      <m:e>
                        <m:r>
                          <a:rPr lang="es-ES" i="1" dirty="0" smtClean="0">
                            <a:latin typeface="Cambria Math" panose="02040503050406030204" pitchFamily="18" charset="0"/>
                          </a:rPr>
                          <m:t>𝑦</m:t>
                        </m:r>
                      </m:e>
                      <m:sup>
                        <m:r>
                          <a:rPr lang="es-ES" i="1" dirty="0" smtClean="0">
                            <a:latin typeface="Cambria Math" panose="02040503050406030204" pitchFamily="18" charset="0"/>
                          </a:rPr>
                          <m:t>′</m:t>
                        </m:r>
                      </m:sup>
                    </m:sSup>
                    <m:r>
                      <a:rPr lang="es-ES" i="1" dirty="0">
                        <a:latin typeface="Cambria Math" panose="02040503050406030204" pitchFamily="18" charset="0"/>
                      </a:rPr>
                      <m:t>= </m:t>
                    </m:r>
                    <m:r>
                      <a:rPr lang="es-ES" i="1" dirty="0">
                        <a:latin typeface="Cambria Math" panose="02040503050406030204" pitchFamily="18" charset="0"/>
                      </a:rPr>
                      <m:t>𝑦</m:t>
                    </m:r>
                    <m:r>
                      <a:rPr lang="es-ES" i="1" dirty="0">
                        <a:latin typeface="Cambria Math" panose="02040503050406030204" pitchFamily="18" charset="0"/>
                      </a:rPr>
                      <m:t> +</m:t>
                    </m:r>
                    <m:sSub>
                      <m:sSubPr>
                        <m:ctrlPr>
                          <a:rPr lang="en-US" i="1">
                            <a:solidFill>
                              <a:srgbClr val="333333"/>
                            </a:solidFill>
                            <a:latin typeface="Cambria Math" panose="02040503050406030204" pitchFamily="18" charset="0"/>
                          </a:rPr>
                        </m:ctrlPr>
                      </m:sSubPr>
                      <m:e>
                        <m:r>
                          <a:rPr lang="en-US" i="1">
                            <a:solidFill>
                              <a:srgbClr val="333333"/>
                            </a:solidFill>
                            <a:latin typeface="Cambria Math" panose="02040503050406030204" pitchFamily="18" charset="0"/>
                          </a:rPr>
                          <m:t>𝑡</m:t>
                        </m:r>
                      </m:e>
                      <m:sub>
                        <m:r>
                          <a:rPr lang="en-US" b="0" i="1" smtClean="0">
                            <a:solidFill>
                              <a:srgbClr val="333333"/>
                            </a:solidFill>
                            <a:latin typeface="Cambria Math" panose="02040503050406030204" pitchFamily="18" charset="0"/>
                          </a:rPr>
                          <m:t>𝑦</m:t>
                        </m:r>
                      </m:sub>
                    </m:sSub>
                  </m:oMath>
                </a14:m>
                <a:endParaRPr lang="en-US" dirty="0">
                  <a:solidFill>
                    <a:srgbClr val="333333"/>
                  </a:solidFill>
                </a:endParaRPr>
              </a:p>
              <a:p>
                <a:pPr lvl="1"/>
                <a:r>
                  <a:rPr lang="en-US" dirty="0"/>
                  <a:t>Rotation by an angle θ about the origin: </a:t>
                </a:r>
              </a:p>
              <a:p>
                <a:pPr marL="609600" lvl="1" indent="0">
                  <a:buNone/>
                </a:pPr>
                <a:r>
                  <a:rPr lang="en-US" dirty="0"/>
                  <a:t>			</a:t>
                </a:r>
                <a:r>
                  <a:rPr lang="es-ES" dirty="0"/>
                  <a:t> </a:t>
                </a:r>
                <a14:m>
                  <m:oMath xmlns:m="http://schemas.openxmlformats.org/officeDocument/2006/math">
                    <m:r>
                      <a:rPr lang="es-ES" i="1" dirty="0" smtClean="0">
                        <a:latin typeface="Cambria Math" panose="02040503050406030204" pitchFamily="18" charset="0"/>
                      </a:rPr>
                      <m:t>𝑥</m:t>
                    </m:r>
                    <m:r>
                      <a:rPr lang="es-ES" i="1" dirty="0" smtClean="0">
                        <a:latin typeface="Cambria Math" panose="02040503050406030204" pitchFamily="18" charset="0"/>
                      </a:rPr>
                      <m:t>′ = </m:t>
                    </m:r>
                    <m:r>
                      <a:rPr lang="es-ES" i="1" dirty="0" err="1">
                        <a:latin typeface="Cambria Math" panose="02040503050406030204" pitchFamily="18" charset="0"/>
                      </a:rPr>
                      <m:t>𝑥</m:t>
                    </m:r>
                    <m:r>
                      <a:rPr lang="es-ES" i="1" dirty="0" err="1">
                        <a:latin typeface="Cambria Math" panose="02040503050406030204" pitchFamily="18" charset="0"/>
                      </a:rPr>
                      <m:t>·</m:t>
                    </m:r>
                    <m:r>
                      <m:rPr>
                        <m:sty m:val="p"/>
                      </m:rPr>
                      <a:rPr lang="es-ES" i="1" dirty="0" err="1">
                        <a:latin typeface="Cambria Math" panose="02040503050406030204" pitchFamily="18" charset="0"/>
                      </a:rPr>
                      <m:t>cos</m:t>
                    </m:r>
                    <m:r>
                      <a:rPr lang="es-ES" i="1" dirty="0">
                        <a:latin typeface="Cambria Math" panose="02040503050406030204" pitchFamily="18" charset="0"/>
                      </a:rPr>
                      <m:t>⁡(</m:t>
                    </m:r>
                    <m:r>
                      <a:rPr lang="es-ES" i="1" dirty="0">
                        <a:latin typeface="Cambria Math" panose="02040503050406030204" pitchFamily="18" charset="0"/>
                      </a:rPr>
                      <m:t>𝜃</m:t>
                    </m:r>
                    <m:r>
                      <a:rPr lang="es-ES" i="1" dirty="0">
                        <a:latin typeface="Cambria Math" panose="02040503050406030204" pitchFamily="18" charset="0"/>
                      </a:rPr>
                      <m:t>) − </m:t>
                    </m:r>
                    <m:r>
                      <a:rPr lang="es-ES" i="1" dirty="0" err="1">
                        <a:latin typeface="Cambria Math" panose="02040503050406030204" pitchFamily="18" charset="0"/>
                      </a:rPr>
                      <m:t>𝑦</m:t>
                    </m:r>
                    <m:r>
                      <a:rPr lang="es-ES" i="1" dirty="0" err="1">
                        <a:latin typeface="Cambria Math" panose="02040503050406030204" pitchFamily="18" charset="0"/>
                      </a:rPr>
                      <m:t>·</m:t>
                    </m:r>
                    <m:r>
                      <m:rPr>
                        <m:sty m:val="p"/>
                      </m:rPr>
                      <a:rPr lang="es-ES" i="1" dirty="0" err="1">
                        <a:latin typeface="Cambria Math" panose="02040503050406030204" pitchFamily="18" charset="0"/>
                      </a:rPr>
                      <m:t>sin</m:t>
                    </m:r>
                    <m:r>
                      <a:rPr lang="es-ES" i="1" dirty="0">
                        <a:latin typeface="Cambria Math" panose="02040503050406030204" pitchFamily="18" charset="0"/>
                      </a:rPr>
                      <m:t>⁡(</m:t>
                    </m:r>
                    <m:r>
                      <a:rPr lang="es-ES" i="1" dirty="0">
                        <a:latin typeface="Cambria Math" panose="02040503050406030204" pitchFamily="18" charset="0"/>
                      </a:rPr>
                      <m:t>𝜃</m:t>
                    </m:r>
                    <m:r>
                      <a:rPr lang="es-ES" i="1" dirty="0" smtClean="0">
                        <a:latin typeface="Cambria Math" panose="02040503050406030204" pitchFamily="18" charset="0"/>
                      </a:rPr>
                      <m:t>) </m:t>
                    </m:r>
                  </m:oMath>
                </a14:m>
                <a:r>
                  <a:rPr lang="es-ES" dirty="0"/>
                  <a:t>and </a:t>
                </a:r>
                <a14:m>
                  <m:oMath xmlns:m="http://schemas.openxmlformats.org/officeDocument/2006/math">
                    <m:r>
                      <a:rPr lang="es-ES" i="1" dirty="0" smtClean="0">
                        <a:latin typeface="Cambria Math" panose="02040503050406030204" pitchFamily="18" charset="0"/>
                      </a:rPr>
                      <m:t>𝑦</m:t>
                    </m:r>
                    <m:r>
                      <a:rPr lang="es-ES" i="1" dirty="0">
                        <a:latin typeface="Cambria Math" panose="02040503050406030204" pitchFamily="18" charset="0"/>
                      </a:rPr>
                      <m:t>′ = </m:t>
                    </m:r>
                    <m:r>
                      <a:rPr lang="es-ES" i="1" dirty="0" err="1">
                        <a:latin typeface="Cambria Math" panose="02040503050406030204" pitchFamily="18" charset="0"/>
                      </a:rPr>
                      <m:t>𝑥</m:t>
                    </m:r>
                    <m:r>
                      <a:rPr lang="es-ES" i="1" dirty="0" err="1">
                        <a:latin typeface="Cambria Math" panose="02040503050406030204" pitchFamily="18" charset="0"/>
                      </a:rPr>
                      <m:t>·</m:t>
                    </m:r>
                    <m:r>
                      <m:rPr>
                        <m:sty m:val="p"/>
                      </m:rPr>
                      <a:rPr lang="es-ES" i="1" dirty="0" err="1">
                        <a:latin typeface="Cambria Math" panose="02040503050406030204" pitchFamily="18" charset="0"/>
                      </a:rPr>
                      <m:t>sin</m:t>
                    </m:r>
                    <m:r>
                      <a:rPr lang="es-ES" i="1" dirty="0">
                        <a:latin typeface="Cambria Math" panose="02040503050406030204" pitchFamily="18" charset="0"/>
                      </a:rPr>
                      <m:t>⁡(</m:t>
                    </m:r>
                    <m:r>
                      <a:rPr lang="es-ES" i="1" dirty="0">
                        <a:latin typeface="Cambria Math" panose="02040503050406030204" pitchFamily="18" charset="0"/>
                      </a:rPr>
                      <m:t>𝜃</m:t>
                    </m:r>
                    <m:r>
                      <a:rPr lang="es-ES" i="1" dirty="0">
                        <a:latin typeface="Cambria Math" panose="02040503050406030204" pitchFamily="18" charset="0"/>
                      </a:rPr>
                      <m:t>) + </m:t>
                    </m:r>
                    <m:r>
                      <a:rPr lang="es-ES" i="1" dirty="0" err="1">
                        <a:latin typeface="Cambria Math" panose="02040503050406030204" pitchFamily="18" charset="0"/>
                      </a:rPr>
                      <m:t>𝑦</m:t>
                    </m:r>
                    <m:r>
                      <a:rPr lang="es-ES" i="1" dirty="0" err="1">
                        <a:latin typeface="Cambria Math" panose="02040503050406030204" pitchFamily="18" charset="0"/>
                      </a:rPr>
                      <m:t>·</m:t>
                    </m:r>
                    <m:r>
                      <m:rPr>
                        <m:sty m:val="p"/>
                      </m:rPr>
                      <a:rPr lang="es-ES" i="1" dirty="0" err="1">
                        <a:latin typeface="Cambria Math" panose="02040503050406030204" pitchFamily="18" charset="0"/>
                      </a:rPr>
                      <m:t>cos</m:t>
                    </m:r>
                    <m:r>
                      <a:rPr lang="es-ES" i="1" dirty="0">
                        <a:latin typeface="Cambria Math" panose="02040503050406030204" pitchFamily="18" charset="0"/>
                      </a:rPr>
                      <m:t>⁡(</m:t>
                    </m:r>
                    <m:r>
                      <a:rPr lang="es-ES" i="1" dirty="0">
                        <a:latin typeface="Cambria Math" panose="02040503050406030204" pitchFamily="18" charset="0"/>
                      </a:rPr>
                      <m:t>𝜃</m:t>
                    </m:r>
                    <m:r>
                      <a:rPr lang="es-ES" i="1" dirty="0">
                        <a:latin typeface="Cambria Math" panose="02040503050406030204" pitchFamily="18" charset="0"/>
                      </a:rPr>
                      <m:t>)</m:t>
                    </m:r>
                  </m:oMath>
                </a14:m>
                <a:endParaRPr lang="en-US" dirty="0"/>
              </a:p>
              <a:p>
                <a:pPr lvl="1"/>
                <a:r>
                  <a:rPr lang="en-US" dirty="0"/>
                  <a:t>Scaling (scaling) with factors </a:t>
                </a:r>
                <a14:m>
                  <m:oMath xmlns:m="http://schemas.openxmlformats.org/officeDocument/2006/math">
                    <m:sSub>
                      <m:sSubPr>
                        <m:ctrlPr>
                          <a:rPr lang="en-US" b="0" i="1" smtClean="0">
                            <a:solidFill>
                              <a:srgbClr val="333333"/>
                            </a:solidFill>
                            <a:latin typeface="Cambria Math" panose="02040503050406030204" pitchFamily="18" charset="0"/>
                          </a:rPr>
                        </m:ctrlPr>
                      </m:sSubPr>
                      <m:e>
                        <m:r>
                          <a:rPr lang="en-US" b="0" i="1" smtClean="0">
                            <a:solidFill>
                              <a:srgbClr val="333333"/>
                            </a:solidFill>
                            <a:latin typeface="Cambria Math" panose="02040503050406030204" pitchFamily="18" charset="0"/>
                          </a:rPr>
                          <m:t>𝑠</m:t>
                        </m:r>
                      </m:e>
                      <m:sub>
                        <m:r>
                          <a:rPr lang="en-US" i="1">
                            <a:solidFill>
                              <a:srgbClr val="333333"/>
                            </a:solidFill>
                            <a:latin typeface="Cambria Math" panose="02040503050406030204" pitchFamily="18" charset="0"/>
                          </a:rPr>
                          <m:t>𝑥</m:t>
                        </m:r>
                      </m:sub>
                    </m:sSub>
                  </m:oMath>
                </a14:m>
                <a:r>
                  <a:rPr lang="en-US" dirty="0"/>
                  <a:t>, </a:t>
                </a:r>
                <a14:m>
                  <m:oMath xmlns:m="http://schemas.openxmlformats.org/officeDocument/2006/math">
                    <m:sSub>
                      <m:sSubPr>
                        <m:ctrlPr>
                          <a:rPr lang="en-US" b="0" i="1" smtClean="0">
                            <a:solidFill>
                              <a:srgbClr val="333333"/>
                            </a:solidFill>
                            <a:latin typeface="Cambria Math" panose="02040503050406030204" pitchFamily="18" charset="0"/>
                          </a:rPr>
                        </m:ctrlPr>
                      </m:sSubPr>
                      <m:e>
                        <m:r>
                          <a:rPr lang="en-US" b="0" i="1" smtClean="0">
                            <a:solidFill>
                              <a:srgbClr val="333333"/>
                            </a:solidFill>
                            <a:latin typeface="Cambria Math" panose="02040503050406030204" pitchFamily="18" charset="0"/>
                          </a:rPr>
                          <m:t>𝑠</m:t>
                        </m:r>
                      </m:e>
                      <m:sub>
                        <m:r>
                          <a:rPr lang="en-US" b="0" i="1" smtClean="0">
                            <a:solidFill>
                              <a:srgbClr val="333333"/>
                            </a:solidFill>
                            <a:latin typeface="Cambria Math" panose="02040503050406030204" pitchFamily="18" charset="0"/>
                          </a:rPr>
                          <m:t>𝑦</m:t>
                        </m:r>
                      </m:sub>
                    </m:sSub>
                    <m:r>
                      <a:rPr lang="en-US" i="1">
                        <a:solidFill>
                          <a:srgbClr val="333333"/>
                        </a:solidFill>
                        <a:latin typeface="Cambria Math" panose="02040503050406030204" pitchFamily="18" charset="0"/>
                      </a:rPr>
                      <m:t> </m:t>
                    </m:r>
                  </m:oMath>
                </a14:m>
                <a:r>
                  <a:rPr lang="en-US" dirty="0"/>
                  <a:t>:</a:t>
                </a:r>
              </a:p>
              <a:p>
                <a:pPr marL="609600" lvl="1" indent="0">
                  <a:buNone/>
                </a:pPr>
                <a:r>
                  <a:rPr lang="en-US" dirty="0"/>
                  <a:t>			 </a:t>
                </a:r>
                <a14:m>
                  <m:oMath xmlns:m="http://schemas.openxmlformats.org/officeDocument/2006/math">
                    <m:sSup>
                      <m:sSupPr>
                        <m:ctrlPr>
                          <a:rPr lang="es-ES" i="1" dirty="0">
                            <a:latin typeface="Cambria Math" panose="02040503050406030204" pitchFamily="18" charset="0"/>
                          </a:rPr>
                        </m:ctrlPr>
                      </m:sSupPr>
                      <m:e>
                        <m:r>
                          <a:rPr lang="es-ES" i="1" dirty="0">
                            <a:latin typeface="Cambria Math" panose="02040503050406030204" pitchFamily="18" charset="0"/>
                          </a:rPr>
                          <m:t>𝑥</m:t>
                        </m:r>
                      </m:e>
                      <m:sup>
                        <m:r>
                          <a:rPr lang="es-ES" i="1" dirty="0">
                            <a:latin typeface="Cambria Math" panose="02040503050406030204" pitchFamily="18" charset="0"/>
                          </a:rPr>
                          <m:t>′</m:t>
                        </m:r>
                      </m:sup>
                    </m:sSup>
                    <m:r>
                      <a:rPr lang="es-ES" i="1" dirty="0">
                        <a:latin typeface="Cambria Math" panose="02040503050406030204" pitchFamily="18" charset="0"/>
                      </a:rPr>
                      <m:t>= </m:t>
                    </m:r>
                    <m:r>
                      <a:rPr lang="es-ES" i="1" dirty="0">
                        <a:latin typeface="Cambria Math" panose="02040503050406030204" pitchFamily="18" charset="0"/>
                      </a:rPr>
                      <m:t>𝑥</m:t>
                    </m:r>
                    <m:r>
                      <a:rPr lang="es-ES" i="1" dirty="0">
                        <a:latin typeface="Cambria Math" panose="02040503050406030204" pitchFamily="18" charset="0"/>
                      </a:rPr>
                      <m:t> +</m:t>
                    </m:r>
                    <m:sSub>
                      <m:sSubPr>
                        <m:ctrlPr>
                          <a:rPr lang="en-US" b="0" i="1" smtClean="0">
                            <a:solidFill>
                              <a:srgbClr val="333333"/>
                            </a:solidFill>
                            <a:latin typeface="Cambria Math" panose="02040503050406030204" pitchFamily="18" charset="0"/>
                          </a:rPr>
                        </m:ctrlPr>
                      </m:sSubPr>
                      <m:e>
                        <m:r>
                          <a:rPr lang="en-US" b="0" i="1" smtClean="0">
                            <a:solidFill>
                              <a:srgbClr val="333333"/>
                            </a:solidFill>
                            <a:latin typeface="Cambria Math" panose="02040503050406030204" pitchFamily="18" charset="0"/>
                          </a:rPr>
                          <m:t>𝑠</m:t>
                        </m:r>
                      </m:e>
                      <m:sub>
                        <m:r>
                          <a:rPr lang="en-US" i="1">
                            <a:solidFill>
                              <a:srgbClr val="333333"/>
                            </a:solidFill>
                            <a:latin typeface="Cambria Math" panose="02040503050406030204" pitchFamily="18" charset="0"/>
                          </a:rPr>
                          <m:t>𝑥</m:t>
                        </m:r>
                      </m:sub>
                    </m:sSub>
                    <m:r>
                      <a:rPr lang="en-US" i="1">
                        <a:solidFill>
                          <a:srgbClr val="333333"/>
                        </a:solidFill>
                        <a:latin typeface="Cambria Math" panose="02040503050406030204" pitchFamily="18" charset="0"/>
                      </a:rPr>
                      <m:t> </m:t>
                    </m:r>
                  </m:oMath>
                </a14:m>
                <a:r>
                  <a:rPr lang="es-ES" dirty="0"/>
                  <a:t>,  and </a:t>
                </a:r>
                <a14:m>
                  <m:oMath xmlns:m="http://schemas.openxmlformats.org/officeDocument/2006/math">
                    <m:sSup>
                      <m:sSupPr>
                        <m:ctrlPr>
                          <a:rPr lang="es-ES" i="1" dirty="0">
                            <a:latin typeface="Cambria Math" panose="02040503050406030204" pitchFamily="18" charset="0"/>
                          </a:rPr>
                        </m:ctrlPr>
                      </m:sSupPr>
                      <m:e>
                        <m:r>
                          <a:rPr lang="es-ES" i="1" dirty="0">
                            <a:latin typeface="Cambria Math" panose="02040503050406030204" pitchFamily="18" charset="0"/>
                          </a:rPr>
                          <m:t>𝑦</m:t>
                        </m:r>
                      </m:e>
                      <m:sup>
                        <m:r>
                          <a:rPr lang="es-ES" i="1" dirty="0">
                            <a:latin typeface="Cambria Math" panose="02040503050406030204" pitchFamily="18" charset="0"/>
                          </a:rPr>
                          <m:t>′</m:t>
                        </m:r>
                      </m:sup>
                    </m:sSup>
                    <m:r>
                      <a:rPr lang="es-ES" i="1" dirty="0">
                        <a:latin typeface="Cambria Math" panose="02040503050406030204" pitchFamily="18" charset="0"/>
                      </a:rPr>
                      <m:t>= </m:t>
                    </m:r>
                    <m:r>
                      <a:rPr lang="es-ES" i="1" dirty="0">
                        <a:latin typeface="Cambria Math" panose="02040503050406030204" pitchFamily="18" charset="0"/>
                      </a:rPr>
                      <m:t>𝑦</m:t>
                    </m:r>
                    <m:r>
                      <a:rPr lang="es-ES" i="1" dirty="0">
                        <a:latin typeface="Cambria Math" panose="02040503050406030204" pitchFamily="18" charset="0"/>
                      </a:rPr>
                      <m:t> +</m:t>
                    </m:r>
                    <m:sSub>
                      <m:sSubPr>
                        <m:ctrlPr>
                          <a:rPr lang="en-US" b="0" i="1" smtClean="0">
                            <a:solidFill>
                              <a:srgbClr val="333333"/>
                            </a:solidFill>
                            <a:latin typeface="Cambria Math" panose="02040503050406030204" pitchFamily="18" charset="0"/>
                          </a:rPr>
                        </m:ctrlPr>
                      </m:sSubPr>
                      <m:e>
                        <m:r>
                          <a:rPr lang="en-US" b="0" i="1" smtClean="0">
                            <a:solidFill>
                              <a:srgbClr val="333333"/>
                            </a:solidFill>
                            <a:latin typeface="Cambria Math" panose="02040503050406030204" pitchFamily="18" charset="0"/>
                          </a:rPr>
                          <m:t>𝑠</m:t>
                        </m:r>
                      </m:e>
                      <m:sub>
                        <m:r>
                          <a:rPr lang="en-US" i="1">
                            <a:solidFill>
                              <a:srgbClr val="333333"/>
                            </a:solidFill>
                            <a:latin typeface="Cambria Math" panose="02040503050406030204" pitchFamily="18" charset="0"/>
                          </a:rPr>
                          <m:t>𝑦</m:t>
                        </m:r>
                      </m:sub>
                    </m:sSub>
                  </m:oMath>
                </a14:m>
                <a:endParaRPr lang="en-US" dirty="0"/>
              </a:p>
            </p:txBody>
          </p:sp>
        </mc:Choice>
        <mc:Fallback>
          <p:sp>
            <p:nvSpPr>
              <p:cNvPr id="3" name="Text Placeholder 2">
                <a:extLst>
                  <a:ext uri="{FF2B5EF4-FFF2-40B4-BE49-F238E27FC236}">
                    <a16:creationId xmlns:a16="http://schemas.microsoft.com/office/drawing/2014/main" id="{B1E4CF7C-C560-FAEB-897E-45C4349F6B8F}"/>
                  </a:ext>
                </a:extLst>
              </p:cNvPr>
              <p:cNvSpPr>
                <a:spLocks noGrp="1" noRot="1" noChangeAspect="1" noMove="1" noResize="1" noEditPoints="1" noAdjustHandles="1" noChangeArrowheads="1" noChangeShapeType="1" noTextEdit="1"/>
              </p:cNvSpPr>
              <p:nvPr>
                <p:ph type="body" idx="1"/>
              </p:nvPr>
            </p:nvSpPr>
            <p:spPr>
              <a:xfrm>
                <a:off x="385464" y="1116737"/>
                <a:ext cx="8321408" cy="3233100"/>
              </a:xfrm>
              <a:blipFill>
                <a:blip r:embed="rId3"/>
                <a:stretch>
                  <a:fillRect b="-188"/>
                </a:stretch>
              </a:blipFill>
            </p:spPr>
            <p:txBody>
              <a:bodyPr/>
              <a:lstStyle/>
              <a:p>
                <a:r>
                  <a:rPr lang="en-US">
                    <a:noFill/>
                  </a:rPr>
                  <a:t> </a:t>
                </a:r>
              </a:p>
            </p:txBody>
          </p:sp>
        </mc:Fallback>
      </mc:AlternateContent>
    </p:spTree>
    <p:extLst>
      <p:ext uri="{BB962C8B-B14F-4D97-AF65-F5344CB8AC3E}">
        <p14:creationId xmlns:p14="http://schemas.microsoft.com/office/powerpoint/2010/main" val="6238928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3137B-7E0A-6E9A-09A4-59B50BD075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D70704-22C8-BFED-E6AF-DF64EC7D8ADE}"/>
              </a:ext>
            </a:extLst>
          </p:cNvPr>
          <p:cNvSpPr>
            <a:spLocks noGrp="1"/>
          </p:cNvSpPr>
          <p:nvPr>
            <p:ph type="title"/>
          </p:nvPr>
        </p:nvSpPr>
        <p:spPr/>
        <p:txBody>
          <a:bodyPr/>
          <a:lstStyle/>
          <a:p>
            <a:r>
              <a:rPr lang="en-US" dirty="0"/>
              <a:t>Example to matrix</a:t>
            </a:r>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D11F4FA4-C7BC-F31A-F708-526C5D43F3D8}"/>
                  </a:ext>
                </a:extLst>
              </p:cNvPr>
              <p:cNvSpPr>
                <a:spLocks noGrp="1"/>
              </p:cNvSpPr>
              <p:nvPr>
                <p:ph type="body" idx="1"/>
              </p:nvPr>
            </p:nvSpPr>
            <p:spPr>
              <a:xfrm>
                <a:off x="385464" y="1116737"/>
                <a:ext cx="8321408" cy="3233100"/>
              </a:xfrm>
            </p:spPr>
            <p:txBody>
              <a:bodyPr/>
              <a:lstStyle/>
              <a:p>
                <a:r>
                  <a:rPr lang="en-US" dirty="0"/>
                  <a:t>Given a 4×4 image matrix (an object with a value of 9 in the center, and a background of 0)</a:t>
                </a:r>
                <a:r>
                  <a:rPr lang="en-US" b="0" i="0" dirty="0">
                    <a:solidFill>
                      <a:srgbClr val="333333"/>
                    </a:solidFill>
                    <a:effectLst/>
                    <a:latin typeface="Courier New" panose="02070309020205020404" pitchFamily="49" charset="0"/>
                  </a:rPr>
                  <a:t>: </a:t>
                </a:r>
              </a:p>
              <a:p>
                <a:pPr marL="177800" indent="0">
                  <a:buNone/>
                </a:pPr>
                <a14:m>
                  <m:oMathPara xmlns:m="http://schemas.openxmlformats.org/officeDocument/2006/math">
                    <m:oMath>
                      <m:r>
                        <a:rPr lang="en-US" b="0" i="1" smtClean="0">
                          <a:solidFill>
                            <a:srgbClr val="333333"/>
                          </a:solidFill>
                          <a:effectLst/>
                          <a:latin typeface="Cambria Math" panose="02040503050406030204" pitchFamily="18" charset="0"/>
                        </a:rPr>
                        <m:t>𝐼</m:t>
                      </m:r>
                      <m:r>
                        <a:rPr lang="en-US" b="0" i="1" smtClean="0">
                          <a:solidFill>
                            <a:srgbClr val="333333"/>
                          </a:solidFill>
                          <a:effectLst/>
                          <a:latin typeface="Cambria Math" panose="02040503050406030204" pitchFamily="18" charset="0"/>
                        </a:rPr>
                        <m:t>=</m:t>
                      </m:r>
                      <m:d>
                        <m:dPr>
                          <m:begChr m:val="⌈"/>
                          <m:endChr m:val="⌉"/>
                          <m:ctrlPr>
                            <a:rPr lang="en-US" b="0" i="1" smtClean="0">
                              <a:solidFill>
                                <a:srgbClr val="333333"/>
                              </a:solidFill>
                              <a:effectLst/>
                              <a:latin typeface="Cambria Math" panose="02040503050406030204" pitchFamily="18" charset="0"/>
                            </a:rPr>
                          </m:ctrlPr>
                        </m:dPr>
                        <m:e>
                          <m:m>
                            <m:mPr>
                              <m:mcs>
                                <m:mc>
                                  <m:mcPr>
                                    <m:count m:val="4"/>
                                    <m:mcJc m:val="center"/>
                                  </m:mcPr>
                                </m:mc>
                              </m:mcs>
                              <m:ctrlPr>
                                <a:rPr lang="en-US" b="0" i="1" smtClean="0">
                                  <a:solidFill>
                                    <a:srgbClr val="333333"/>
                                  </a:solidFill>
                                  <a:effectLst/>
                                  <a:latin typeface="Cambria Math" panose="02040503050406030204" pitchFamily="18" charset="0"/>
                                </a:rPr>
                              </m:ctrlPr>
                            </m:mPr>
                            <m:mr>
                              <m:e>
                                <m:r>
                                  <m:rPr>
                                    <m:brk m:alnAt="7"/>
                                  </m:rPr>
                                  <a:rPr lang="en-US" b="0" i="1" smtClean="0">
                                    <a:solidFill>
                                      <a:srgbClr val="333333"/>
                                    </a:solidFill>
                                    <a:effectLst/>
                                    <a:latin typeface="Cambria Math" panose="02040503050406030204" pitchFamily="18" charset="0"/>
                                  </a:rPr>
                                  <m:t>0</m:t>
                                </m:r>
                              </m:e>
                              <m:e>
                                <m:r>
                                  <a:rPr lang="en-US" b="0" i="1" smtClean="0">
                                    <a:solidFill>
                                      <a:srgbClr val="333333"/>
                                    </a:solidFill>
                                    <a:effectLst/>
                                    <a:latin typeface="Cambria Math" panose="02040503050406030204" pitchFamily="18" charset="0"/>
                                  </a:rPr>
                                  <m:t>0</m:t>
                                </m:r>
                              </m:e>
                              <m:e>
                                <m:r>
                                  <a:rPr lang="en-US" b="0" i="1" smtClean="0">
                                    <a:solidFill>
                                      <a:srgbClr val="333333"/>
                                    </a:solidFill>
                                    <a:effectLst/>
                                    <a:latin typeface="Cambria Math" panose="02040503050406030204" pitchFamily="18" charset="0"/>
                                  </a:rPr>
                                  <m:t>0</m:t>
                                </m:r>
                              </m:e>
                              <m:e>
                                <m:r>
                                  <a:rPr lang="en-US" b="0" i="1" smtClean="0">
                                    <a:solidFill>
                                      <a:srgbClr val="333333"/>
                                    </a:solidFill>
                                    <a:effectLst/>
                                    <a:latin typeface="Cambria Math" panose="02040503050406030204" pitchFamily="18" charset="0"/>
                                  </a:rPr>
                                  <m:t>0</m:t>
                                </m:r>
                              </m:e>
                            </m:mr>
                            <m:mr>
                              <m:e>
                                <m:r>
                                  <a:rPr lang="en-US" b="0" i="1" smtClean="0">
                                    <a:solidFill>
                                      <a:srgbClr val="333333"/>
                                    </a:solidFill>
                                    <a:effectLst/>
                                    <a:latin typeface="Cambria Math" panose="02040503050406030204" pitchFamily="18" charset="0"/>
                                  </a:rPr>
                                  <m:t>0</m:t>
                                </m:r>
                              </m:e>
                              <m:e>
                                <m:r>
                                  <a:rPr lang="en-US" b="0" i="1" smtClean="0">
                                    <a:solidFill>
                                      <a:srgbClr val="333333"/>
                                    </a:solidFill>
                                    <a:effectLst/>
                                    <a:latin typeface="Cambria Math" panose="02040503050406030204" pitchFamily="18" charset="0"/>
                                  </a:rPr>
                                  <m:t>9</m:t>
                                </m:r>
                              </m:e>
                              <m:e>
                                <m:r>
                                  <a:rPr lang="en-US" b="0" i="1" smtClean="0">
                                    <a:solidFill>
                                      <a:srgbClr val="333333"/>
                                    </a:solidFill>
                                    <a:effectLst/>
                                    <a:latin typeface="Cambria Math" panose="02040503050406030204" pitchFamily="18" charset="0"/>
                                  </a:rPr>
                                  <m:t>9</m:t>
                                </m:r>
                              </m:e>
                              <m:e>
                                <m:r>
                                  <a:rPr lang="en-US" b="0" i="1" smtClean="0">
                                    <a:solidFill>
                                      <a:srgbClr val="333333"/>
                                    </a:solidFill>
                                    <a:effectLst/>
                                    <a:latin typeface="Cambria Math" panose="02040503050406030204" pitchFamily="18" charset="0"/>
                                  </a:rPr>
                                  <m:t>0</m:t>
                                </m:r>
                              </m:e>
                            </m:mr>
                            <m:mr>
                              <m:e>
                                <m:r>
                                  <a:rPr lang="en-US" b="0" i="1" smtClean="0">
                                    <a:solidFill>
                                      <a:srgbClr val="333333"/>
                                    </a:solidFill>
                                    <a:effectLst/>
                                    <a:latin typeface="Cambria Math" panose="02040503050406030204" pitchFamily="18" charset="0"/>
                                  </a:rPr>
                                  <m:t>0</m:t>
                                </m:r>
                              </m:e>
                              <m:e>
                                <m:r>
                                  <a:rPr lang="en-US" b="0" i="1" smtClean="0">
                                    <a:solidFill>
                                      <a:srgbClr val="333333"/>
                                    </a:solidFill>
                                    <a:effectLst/>
                                    <a:latin typeface="Cambria Math" panose="02040503050406030204" pitchFamily="18" charset="0"/>
                                  </a:rPr>
                                  <m:t>9</m:t>
                                </m:r>
                              </m:e>
                              <m:e>
                                <m:r>
                                  <a:rPr lang="en-US" b="0" i="1" smtClean="0">
                                    <a:solidFill>
                                      <a:srgbClr val="333333"/>
                                    </a:solidFill>
                                    <a:effectLst/>
                                    <a:latin typeface="Cambria Math" panose="02040503050406030204" pitchFamily="18" charset="0"/>
                                  </a:rPr>
                                  <m:t>9</m:t>
                                </m:r>
                              </m:e>
                              <m:e>
                                <m:r>
                                  <a:rPr lang="en-US" b="0" i="1" smtClean="0">
                                    <a:solidFill>
                                      <a:srgbClr val="333333"/>
                                    </a:solidFill>
                                    <a:effectLst/>
                                    <a:latin typeface="Cambria Math" panose="02040503050406030204" pitchFamily="18" charset="0"/>
                                  </a:rPr>
                                  <m:t>0</m:t>
                                </m:r>
                              </m:e>
                            </m:mr>
                            <m:mr>
                              <m:e>
                                <m:r>
                                  <a:rPr lang="en-US" b="0" i="1" smtClean="0">
                                    <a:solidFill>
                                      <a:srgbClr val="333333"/>
                                    </a:solidFill>
                                    <a:effectLst/>
                                    <a:latin typeface="Cambria Math" panose="02040503050406030204" pitchFamily="18" charset="0"/>
                                  </a:rPr>
                                  <m:t>0</m:t>
                                </m:r>
                              </m:e>
                              <m:e>
                                <m:r>
                                  <a:rPr lang="en-US" b="0" i="1" smtClean="0">
                                    <a:solidFill>
                                      <a:srgbClr val="333333"/>
                                    </a:solidFill>
                                    <a:effectLst/>
                                    <a:latin typeface="Cambria Math" panose="02040503050406030204" pitchFamily="18" charset="0"/>
                                  </a:rPr>
                                  <m:t>0</m:t>
                                </m:r>
                              </m:e>
                              <m:e>
                                <m:r>
                                  <a:rPr lang="en-US" b="0" i="1" smtClean="0">
                                    <a:solidFill>
                                      <a:srgbClr val="333333"/>
                                    </a:solidFill>
                                    <a:effectLst/>
                                    <a:latin typeface="Cambria Math" panose="02040503050406030204" pitchFamily="18" charset="0"/>
                                  </a:rPr>
                                  <m:t>0</m:t>
                                </m:r>
                              </m:e>
                              <m:e>
                                <m:r>
                                  <a:rPr lang="en-US" b="0" i="1" smtClean="0">
                                    <a:solidFill>
                                      <a:srgbClr val="333333"/>
                                    </a:solidFill>
                                    <a:effectLst/>
                                    <a:latin typeface="Cambria Math" panose="02040503050406030204" pitchFamily="18" charset="0"/>
                                  </a:rPr>
                                  <m:t>0</m:t>
                                </m:r>
                              </m:e>
                            </m:mr>
                          </m:m>
                        </m:e>
                      </m:d>
                    </m:oMath>
                  </m:oMathPara>
                </a14:m>
                <a:endParaRPr lang="en-US" b="0" i="0" dirty="0">
                  <a:solidFill>
                    <a:srgbClr val="333333"/>
                  </a:solidFill>
                  <a:effectLst/>
                  <a:latin typeface="Courier New" panose="02070309020205020404" pitchFamily="49" charset="0"/>
                </a:endParaRPr>
              </a:p>
              <a:p>
                <a:pPr marL="177800" indent="0">
                  <a:buNone/>
                </a:pPr>
                <a:endParaRPr lang="en-US" b="0" i="0" dirty="0">
                  <a:solidFill>
                    <a:srgbClr val="333333"/>
                  </a:solidFill>
                  <a:effectLst/>
                  <a:latin typeface="Courier New" panose="02070309020205020404" pitchFamily="49" charset="0"/>
                </a:endParaRPr>
              </a:p>
              <a:p>
                <a:r>
                  <a:rPr lang="en-US" dirty="0">
                    <a:solidFill>
                      <a:srgbClr val="333333"/>
                    </a:solidFill>
                    <a:latin typeface="Hanken Grotesk" panose="020B0604020202020204" charset="0"/>
                  </a:rPr>
                  <a:t>Translation (</a:t>
                </a:r>
                <a14:m>
                  <m:oMath xmlns:m="http://schemas.openxmlformats.org/officeDocument/2006/math">
                    <m:sSub>
                      <m:sSubPr>
                        <m:ctrlPr>
                          <a:rPr lang="en-US" i="1">
                            <a:solidFill>
                              <a:srgbClr val="333333"/>
                            </a:solidFill>
                            <a:latin typeface="Cambria Math" panose="02040503050406030204" pitchFamily="18" charset="0"/>
                          </a:rPr>
                        </m:ctrlPr>
                      </m:sSubPr>
                      <m:e>
                        <m:r>
                          <a:rPr lang="en-US" i="1">
                            <a:solidFill>
                              <a:srgbClr val="333333"/>
                            </a:solidFill>
                            <a:latin typeface="Cambria Math" panose="02040503050406030204" pitchFamily="18" charset="0"/>
                          </a:rPr>
                          <m:t>𝑡</m:t>
                        </m:r>
                      </m:e>
                      <m:sub>
                        <m:r>
                          <a:rPr lang="en-US" i="1">
                            <a:solidFill>
                              <a:srgbClr val="333333"/>
                            </a:solidFill>
                            <a:latin typeface="Cambria Math" panose="02040503050406030204" pitchFamily="18" charset="0"/>
                          </a:rPr>
                          <m:t>𝑥</m:t>
                        </m:r>
                      </m:sub>
                    </m:sSub>
                    <m:r>
                      <a:rPr lang="en-US" i="1">
                        <a:solidFill>
                          <a:srgbClr val="333333"/>
                        </a:solidFill>
                        <a:latin typeface="Cambria Math" panose="02040503050406030204" pitchFamily="18" charset="0"/>
                      </a:rPr>
                      <m:t> </m:t>
                    </m:r>
                  </m:oMath>
                </a14:m>
                <a:r>
                  <a:rPr lang="en-US" dirty="0">
                    <a:solidFill>
                      <a:srgbClr val="333333"/>
                    </a:solidFill>
                    <a:latin typeface="Hanken Grotesk" panose="020B0604020202020204" charset="0"/>
                  </a:rPr>
                  <a:t>=1, </a:t>
                </a:r>
                <a14:m>
                  <m:oMath xmlns:m="http://schemas.openxmlformats.org/officeDocument/2006/math">
                    <m:sSub>
                      <m:sSubPr>
                        <m:ctrlPr>
                          <a:rPr lang="en-US" i="1">
                            <a:solidFill>
                              <a:srgbClr val="333333"/>
                            </a:solidFill>
                            <a:latin typeface="Cambria Math" panose="02040503050406030204" pitchFamily="18" charset="0"/>
                          </a:rPr>
                        </m:ctrlPr>
                      </m:sSubPr>
                      <m:e>
                        <m:r>
                          <a:rPr lang="en-US" i="1">
                            <a:solidFill>
                              <a:srgbClr val="333333"/>
                            </a:solidFill>
                            <a:latin typeface="Cambria Math" panose="02040503050406030204" pitchFamily="18" charset="0"/>
                          </a:rPr>
                          <m:t>𝑡</m:t>
                        </m:r>
                      </m:e>
                      <m:sub>
                        <m:r>
                          <a:rPr lang="en-US" i="1">
                            <a:solidFill>
                              <a:srgbClr val="333333"/>
                            </a:solidFill>
                            <a:latin typeface="Cambria Math" panose="02040503050406030204" pitchFamily="18" charset="0"/>
                          </a:rPr>
                          <m:t>𝑦</m:t>
                        </m:r>
                      </m:sub>
                    </m:sSub>
                    <m:r>
                      <a:rPr lang="en-US" i="1">
                        <a:solidFill>
                          <a:srgbClr val="333333"/>
                        </a:solidFill>
                        <a:latin typeface="Cambria Math" panose="02040503050406030204" pitchFamily="18" charset="0"/>
                      </a:rPr>
                      <m:t> </m:t>
                    </m:r>
                  </m:oMath>
                </a14:m>
                <a:r>
                  <a:rPr lang="en-US" dirty="0">
                    <a:solidFill>
                      <a:srgbClr val="333333"/>
                    </a:solidFill>
                    <a:latin typeface="Hanken Grotesk" panose="020B0604020202020204" charset="0"/>
                  </a:rPr>
                  <a:t>=1) — shift the object 1 pixel to the right and 1 pixel down. Each pixel at position (</a:t>
                </a:r>
                <a14:m>
                  <m:oMath xmlns:m="http://schemas.openxmlformats.org/officeDocument/2006/math">
                    <m:r>
                      <a:rPr lang="en-US" i="1" dirty="0" smtClean="0">
                        <a:solidFill>
                          <a:srgbClr val="333333"/>
                        </a:solidFill>
                        <a:latin typeface="Cambria Math" panose="02040503050406030204" pitchFamily="18" charset="0"/>
                      </a:rPr>
                      <m:t>𝑥</m:t>
                    </m:r>
                    <m:r>
                      <a:rPr lang="en-US" i="1" dirty="0" smtClean="0">
                        <a:solidFill>
                          <a:srgbClr val="333333"/>
                        </a:solidFill>
                        <a:latin typeface="Cambria Math" panose="02040503050406030204" pitchFamily="18" charset="0"/>
                      </a:rPr>
                      <m:t>,</m:t>
                    </m:r>
                    <m:r>
                      <a:rPr lang="en-US" i="1" dirty="0" smtClean="0">
                        <a:solidFill>
                          <a:srgbClr val="333333"/>
                        </a:solidFill>
                        <a:latin typeface="Cambria Math" panose="02040503050406030204" pitchFamily="18" charset="0"/>
                      </a:rPr>
                      <m:t>𝑦</m:t>
                    </m:r>
                  </m:oMath>
                </a14:m>
                <a:r>
                  <a:rPr lang="en-US" dirty="0">
                    <a:solidFill>
                      <a:srgbClr val="333333"/>
                    </a:solidFill>
                    <a:latin typeface="Hanken Grotesk" panose="020B0604020202020204" charset="0"/>
                  </a:rPr>
                  <a:t>) is moved to position (</a:t>
                </a:r>
                <a14:m>
                  <m:oMath xmlns:m="http://schemas.openxmlformats.org/officeDocument/2006/math">
                    <m:r>
                      <a:rPr lang="en-US" i="1" dirty="0" smtClean="0">
                        <a:solidFill>
                          <a:srgbClr val="333333"/>
                        </a:solidFill>
                        <a:latin typeface="Cambria Math" panose="02040503050406030204" pitchFamily="18" charset="0"/>
                      </a:rPr>
                      <m:t>𝑥</m:t>
                    </m:r>
                    <m:r>
                      <a:rPr lang="en-US" i="1" dirty="0" smtClean="0">
                        <a:solidFill>
                          <a:srgbClr val="333333"/>
                        </a:solidFill>
                        <a:latin typeface="Cambria Math" panose="02040503050406030204" pitchFamily="18" charset="0"/>
                      </a:rPr>
                      <m:t>+1, </m:t>
                    </m:r>
                    <m:r>
                      <a:rPr lang="en-US" i="1" dirty="0" smtClean="0">
                        <a:solidFill>
                          <a:srgbClr val="333333"/>
                        </a:solidFill>
                        <a:latin typeface="Cambria Math" panose="02040503050406030204" pitchFamily="18" charset="0"/>
                      </a:rPr>
                      <m:t>𝑦</m:t>
                    </m:r>
                    <m:r>
                      <a:rPr lang="en-US" i="1" dirty="0" smtClean="0">
                        <a:solidFill>
                          <a:srgbClr val="333333"/>
                        </a:solidFill>
                        <a:latin typeface="Cambria Math" panose="02040503050406030204" pitchFamily="18" charset="0"/>
                      </a:rPr>
                      <m:t>+1</m:t>
                    </m:r>
                  </m:oMath>
                </a14:m>
                <a:r>
                  <a:rPr lang="en-US" dirty="0">
                    <a:solidFill>
                      <a:srgbClr val="333333"/>
                    </a:solidFill>
                    <a:latin typeface="Hanken Grotesk" panose="020B0604020202020204" charset="0"/>
                  </a:rPr>
                  <a:t>). The area "left behind" is filled with the value 0 (background):</a:t>
                </a:r>
              </a:p>
              <a:p>
                <a:pPr marL="177800" indent="0">
                  <a:buNone/>
                </a:pPr>
                <a14:m>
                  <m:oMathPara xmlns:m="http://schemas.openxmlformats.org/officeDocument/2006/math">
                    <m:oMath>
                      <m:r>
                        <a:rPr lang="en-US" b="0" i="1" smtClean="0">
                          <a:solidFill>
                            <a:srgbClr val="333333"/>
                          </a:solidFill>
                          <a:latin typeface="Cambria Math" panose="02040503050406030204" pitchFamily="18" charset="0"/>
                        </a:rPr>
                        <m:t>𝑆</m:t>
                      </m:r>
                      <m:r>
                        <a:rPr lang="en-US" i="1">
                          <a:solidFill>
                            <a:srgbClr val="333333"/>
                          </a:solidFill>
                          <a:latin typeface="Cambria Math" panose="02040503050406030204" pitchFamily="18" charset="0"/>
                        </a:rPr>
                        <m:t>=</m:t>
                      </m:r>
                      <m:d>
                        <m:dPr>
                          <m:begChr m:val="⌈"/>
                          <m:endChr m:val="⌉"/>
                          <m:ctrlPr>
                            <a:rPr lang="en-US" i="1">
                              <a:solidFill>
                                <a:srgbClr val="333333"/>
                              </a:solidFill>
                              <a:latin typeface="Cambria Math" panose="02040503050406030204" pitchFamily="18" charset="0"/>
                            </a:rPr>
                          </m:ctrlPr>
                        </m:dPr>
                        <m:e>
                          <m:m>
                            <m:mPr>
                              <m:mcs>
                                <m:mc>
                                  <m:mcPr>
                                    <m:count m:val="4"/>
                                    <m:mcJc m:val="center"/>
                                  </m:mcPr>
                                </m:mc>
                              </m:mcs>
                              <m:ctrlPr>
                                <a:rPr lang="en-US" i="1">
                                  <a:solidFill>
                                    <a:srgbClr val="333333"/>
                                  </a:solidFill>
                                  <a:latin typeface="Cambria Math" panose="02040503050406030204" pitchFamily="18" charset="0"/>
                                </a:rPr>
                              </m:ctrlPr>
                            </m:mPr>
                            <m:mr>
                              <m:e>
                                <m:r>
                                  <m:rPr>
                                    <m:brk m:alnAt="7"/>
                                  </m:rPr>
                                  <a:rPr lang="en-US" i="1">
                                    <a:solidFill>
                                      <a:srgbClr val="333333"/>
                                    </a:solidFill>
                                    <a:latin typeface="Cambria Math" panose="02040503050406030204" pitchFamily="18" charset="0"/>
                                  </a:rPr>
                                  <m:t>0</m:t>
                                </m:r>
                              </m:e>
                              <m:e>
                                <m:r>
                                  <a:rPr lang="en-US" i="1">
                                    <a:solidFill>
                                      <a:srgbClr val="333333"/>
                                    </a:solidFill>
                                    <a:latin typeface="Cambria Math" panose="02040503050406030204" pitchFamily="18" charset="0"/>
                                  </a:rPr>
                                  <m:t>0</m:t>
                                </m:r>
                              </m:e>
                              <m:e>
                                <m:r>
                                  <a:rPr lang="en-US" i="1">
                                    <a:solidFill>
                                      <a:srgbClr val="333333"/>
                                    </a:solidFill>
                                    <a:latin typeface="Cambria Math" panose="02040503050406030204" pitchFamily="18" charset="0"/>
                                  </a:rPr>
                                  <m:t>0</m:t>
                                </m:r>
                              </m:e>
                              <m:e>
                                <m:r>
                                  <a:rPr lang="en-US" i="1">
                                    <a:solidFill>
                                      <a:srgbClr val="333333"/>
                                    </a:solidFill>
                                    <a:latin typeface="Cambria Math" panose="02040503050406030204" pitchFamily="18" charset="0"/>
                                  </a:rPr>
                                  <m:t>0</m:t>
                                </m:r>
                              </m:e>
                            </m:mr>
                            <m:mr>
                              <m:e>
                                <m:r>
                                  <a:rPr lang="en-US" i="1">
                                    <a:solidFill>
                                      <a:srgbClr val="333333"/>
                                    </a:solidFill>
                                    <a:latin typeface="Cambria Math" panose="02040503050406030204" pitchFamily="18" charset="0"/>
                                  </a:rPr>
                                  <m:t>0</m:t>
                                </m:r>
                              </m:e>
                              <m:e>
                                <m:r>
                                  <a:rPr lang="en-US" b="0" i="1" smtClean="0">
                                    <a:solidFill>
                                      <a:srgbClr val="333333"/>
                                    </a:solidFill>
                                    <a:latin typeface="Cambria Math" panose="02040503050406030204" pitchFamily="18" charset="0"/>
                                  </a:rPr>
                                  <m:t>0</m:t>
                                </m:r>
                              </m:e>
                              <m:e>
                                <m:r>
                                  <a:rPr lang="en-US" b="0" i="1" smtClean="0">
                                    <a:solidFill>
                                      <a:srgbClr val="333333"/>
                                    </a:solidFill>
                                    <a:latin typeface="Cambria Math" panose="02040503050406030204" pitchFamily="18" charset="0"/>
                                  </a:rPr>
                                  <m:t>0</m:t>
                                </m:r>
                              </m:e>
                              <m:e>
                                <m:r>
                                  <a:rPr lang="en-US" i="1">
                                    <a:solidFill>
                                      <a:srgbClr val="333333"/>
                                    </a:solidFill>
                                    <a:latin typeface="Cambria Math" panose="02040503050406030204" pitchFamily="18" charset="0"/>
                                  </a:rPr>
                                  <m:t>0</m:t>
                                </m:r>
                              </m:e>
                            </m:mr>
                            <m:mr>
                              <m:e>
                                <m:r>
                                  <a:rPr lang="en-US" i="1">
                                    <a:solidFill>
                                      <a:srgbClr val="333333"/>
                                    </a:solidFill>
                                    <a:latin typeface="Cambria Math" panose="02040503050406030204" pitchFamily="18" charset="0"/>
                                  </a:rPr>
                                  <m:t>0</m:t>
                                </m:r>
                              </m:e>
                              <m:e>
                                <m:r>
                                  <a:rPr lang="en-US" b="0" i="1" smtClean="0">
                                    <a:solidFill>
                                      <a:srgbClr val="333333"/>
                                    </a:solidFill>
                                    <a:latin typeface="Cambria Math" panose="02040503050406030204" pitchFamily="18" charset="0"/>
                                  </a:rPr>
                                  <m:t>0</m:t>
                                </m:r>
                              </m:e>
                              <m:e>
                                <m:r>
                                  <a:rPr lang="en-US" i="1">
                                    <a:solidFill>
                                      <a:srgbClr val="333333"/>
                                    </a:solidFill>
                                    <a:latin typeface="Cambria Math" panose="02040503050406030204" pitchFamily="18" charset="0"/>
                                  </a:rPr>
                                  <m:t>9</m:t>
                                </m:r>
                              </m:e>
                              <m:e>
                                <m:r>
                                  <a:rPr lang="en-US" b="0" i="1" smtClean="0">
                                    <a:solidFill>
                                      <a:srgbClr val="333333"/>
                                    </a:solidFill>
                                    <a:latin typeface="Cambria Math" panose="02040503050406030204" pitchFamily="18" charset="0"/>
                                  </a:rPr>
                                  <m:t>9</m:t>
                                </m:r>
                              </m:e>
                            </m:mr>
                            <m:mr>
                              <m:e>
                                <m:r>
                                  <a:rPr lang="en-US" i="1">
                                    <a:solidFill>
                                      <a:srgbClr val="333333"/>
                                    </a:solidFill>
                                    <a:latin typeface="Cambria Math" panose="02040503050406030204" pitchFamily="18" charset="0"/>
                                  </a:rPr>
                                  <m:t>0</m:t>
                                </m:r>
                              </m:e>
                              <m:e>
                                <m:r>
                                  <a:rPr lang="en-US" i="1">
                                    <a:solidFill>
                                      <a:srgbClr val="333333"/>
                                    </a:solidFill>
                                    <a:latin typeface="Cambria Math" panose="02040503050406030204" pitchFamily="18" charset="0"/>
                                  </a:rPr>
                                  <m:t>0</m:t>
                                </m:r>
                              </m:e>
                              <m:e>
                                <m:r>
                                  <a:rPr lang="en-US" b="0" i="1" smtClean="0">
                                    <a:solidFill>
                                      <a:srgbClr val="333333"/>
                                    </a:solidFill>
                                    <a:latin typeface="Cambria Math" panose="02040503050406030204" pitchFamily="18" charset="0"/>
                                  </a:rPr>
                                  <m:t>9</m:t>
                                </m:r>
                              </m:e>
                              <m:e>
                                <m:r>
                                  <a:rPr lang="en-US" b="0" i="1" smtClean="0">
                                    <a:solidFill>
                                      <a:srgbClr val="333333"/>
                                    </a:solidFill>
                                    <a:latin typeface="Cambria Math" panose="02040503050406030204" pitchFamily="18" charset="0"/>
                                  </a:rPr>
                                  <m:t>9</m:t>
                                </m:r>
                              </m:e>
                            </m:mr>
                          </m:m>
                        </m:e>
                      </m:d>
                    </m:oMath>
                  </m:oMathPara>
                </a14:m>
                <a:endParaRPr lang="en-US" dirty="0">
                  <a:solidFill>
                    <a:srgbClr val="333333"/>
                  </a:solidFill>
                  <a:latin typeface="Hanken Grotesk" panose="020B0604020202020204" charset="0"/>
                </a:endParaRPr>
              </a:p>
            </p:txBody>
          </p:sp>
        </mc:Choice>
        <mc:Fallback>
          <p:sp>
            <p:nvSpPr>
              <p:cNvPr id="3" name="Text Placeholder 2">
                <a:extLst>
                  <a:ext uri="{FF2B5EF4-FFF2-40B4-BE49-F238E27FC236}">
                    <a16:creationId xmlns:a16="http://schemas.microsoft.com/office/drawing/2014/main" id="{D11F4FA4-C7BC-F31A-F708-526C5D43F3D8}"/>
                  </a:ext>
                </a:extLst>
              </p:cNvPr>
              <p:cNvSpPr>
                <a:spLocks noGrp="1" noRot="1" noChangeAspect="1" noMove="1" noResize="1" noEditPoints="1" noAdjustHandles="1" noChangeArrowheads="1" noChangeShapeType="1" noTextEdit="1"/>
              </p:cNvSpPr>
              <p:nvPr>
                <p:ph type="body" idx="1"/>
              </p:nvPr>
            </p:nvSpPr>
            <p:spPr>
              <a:xfrm>
                <a:off x="385464" y="1116737"/>
                <a:ext cx="8321408" cy="3233100"/>
              </a:xfr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344979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E861D1-8F2A-8E46-6C94-AB071AF482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91E67C-2CCF-152B-8E12-D756A53505E1}"/>
              </a:ext>
            </a:extLst>
          </p:cNvPr>
          <p:cNvSpPr>
            <a:spLocks noGrp="1"/>
          </p:cNvSpPr>
          <p:nvPr>
            <p:ph type="title"/>
          </p:nvPr>
        </p:nvSpPr>
        <p:spPr/>
        <p:txBody>
          <a:bodyPr/>
          <a:lstStyle/>
          <a:p>
            <a:r>
              <a:rPr lang="en-US" dirty="0"/>
              <a:t>Interpretation in Image</a:t>
            </a:r>
          </a:p>
        </p:txBody>
      </p:sp>
      <p:sp>
        <p:nvSpPr>
          <p:cNvPr id="3" name="Text Placeholder 2">
            <a:extLst>
              <a:ext uri="{FF2B5EF4-FFF2-40B4-BE49-F238E27FC236}">
                <a16:creationId xmlns:a16="http://schemas.microsoft.com/office/drawing/2014/main" id="{4EDC7DF3-013B-C68D-8CDA-F65815442108}"/>
              </a:ext>
            </a:extLst>
          </p:cNvPr>
          <p:cNvSpPr>
            <a:spLocks noGrp="1"/>
          </p:cNvSpPr>
          <p:nvPr>
            <p:ph type="body" idx="1"/>
          </p:nvPr>
        </p:nvSpPr>
        <p:spPr>
          <a:xfrm>
            <a:off x="363161" y="1607390"/>
            <a:ext cx="3941209" cy="3303606"/>
          </a:xfrm>
          <a:ln>
            <a:solidFill>
              <a:srgbClr val="FF0000"/>
            </a:solidFill>
          </a:ln>
        </p:spPr>
        <p:txBody>
          <a:bodyPr/>
          <a:lstStyle/>
          <a:p>
            <a:pPr marL="0" marR="0" indent="0" algn="l">
              <a:lnSpc>
                <a:spcPct val="56435"/>
              </a:lnSpc>
              <a:spcBef>
                <a:spcPts val="600"/>
              </a:spcBef>
              <a:buNone/>
            </a:pPr>
            <a:r>
              <a:rPr lang="en-US" b="0" i="0" dirty="0" err="1">
                <a:solidFill>
                  <a:srgbClr val="333333"/>
                </a:solidFill>
                <a:effectLst/>
                <a:latin typeface="Courier New" panose="02070309020205020404" pitchFamily="49" charset="0"/>
              </a:rPr>
              <a:t>tinggi_gambar</a:t>
            </a:r>
            <a:r>
              <a:rPr lang="en-US" b="0" i="0" dirty="0">
                <a:solidFill>
                  <a:srgbClr val="333333"/>
                </a:solidFill>
                <a:effectLst/>
                <a:latin typeface="Courier New" panose="02070309020205020404" pitchFamily="49" charset="0"/>
              </a:rPr>
              <a:t>, </a:t>
            </a:r>
            <a:r>
              <a:rPr lang="en-US" b="0" i="0" dirty="0" err="1">
                <a:solidFill>
                  <a:srgbClr val="333333"/>
                </a:solidFill>
                <a:effectLst/>
                <a:latin typeface="Courier New" panose="02070309020205020404" pitchFamily="49" charset="0"/>
              </a:rPr>
              <a:t>lebar_gambar</a:t>
            </a:r>
            <a:r>
              <a:rPr lang="en-US" b="0" i="0" dirty="0">
                <a:solidFill>
                  <a:srgbClr val="333333"/>
                </a:solidFill>
                <a:effectLst/>
                <a:latin typeface="Courier New" panose="02070309020205020404" pitchFamily="49" charset="0"/>
              </a:rPr>
              <a:t> = </a:t>
            </a:r>
            <a:r>
              <a:rPr lang="en-US" b="0" i="0" dirty="0" err="1">
                <a:solidFill>
                  <a:srgbClr val="333333"/>
                </a:solidFill>
                <a:effectLst/>
                <a:latin typeface="Courier New" panose="02070309020205020404" pitchFamily="49" charset="0"/>
              </a:rPr>
              <a:t>img.shape</a:t>
            </a:r>
            <a:r>
              <a:rPr lang="en-US" b="0" i="0" dirty="0">
                <a:solidFill>
                  <a:srgbClr val="333333"/>
                </a:solidFill>
                <a:effectLst/>
                <a:latin typeface="Courier New" panose="02070309020205020404" pitchFamily="49" charset="0"/>
              </a:rPr>
              <a:t>[:</a:t>
            </a:r>
            <a:r>
              <a:rPr lang="en-US" b="1" i="0" dirty="0">
                <a:solidFill>
                  <a:srgbClr val="0000DD"/>
                </a:solidFill>
                <a:effectLst/>
                <a:latin typeface="Courier New" panose="02070309020205020404" pitchFamily="49" charset="0"/>
              </a:rPr>
              <a:t>2</a:t>
            </a:r>
            <a:r>
              <a:rPr lang="en-US" b="0" i="0" dirty="0">
                <a:solidFill>
                  <a:srgbClr val="333333"/>
                </a:solidFill>
                <a:effectLst/>
                <a:latin typeface="Courier New" panose="02070309020205020404" pitchFamily="49" charset="0"/>
              </a:rPr>
              <a:t>]</a:t>
            </a:r>
          </a:p>
          <a:p>
            <a:pPr marL="0" marR="0" indent="0" algn="l">
              <a:lnSpc>
                <a:spcPct val="56435"/>
              </a:lnSpc>
              <a:spcBef>
                <a:spcPts val="600"/>
              </a:spcBef>
              <a:buNone/>
            </a:pPr>
            <a:endParaRPr lang="en-US" b="0" i="0" dirty="0">
              <a:solidFill>
                <a:srgbClr val="333333"/>
              </a:solidFill>
              <a:effectLst/>
              <a:latin typeface="Courier New" panose="02070309020205020404" pitchFamily="49" charset="0"/>
            </a:endParaRPr>
          </a:p>
          <a:p>
            <a:pPr marL="0" marR="0" indent="0" algn="l">
              <a:lnSpc>
                <a:spcPct val="56435"/>
              </a:lnSpc>
              <a:spcBef>
                <a:spcPts val="600"/>
              </a:spcBef>
              <a:buNone/>
            </a:pPr>
            <a:r>
              <a:rPr lang="en-US" b="0" i="0" dirty="0">
                <a:solidFill>
                  <a:srgbClr val="888888"/>
                </a:solidFill>
                <a:effectLst/>
                <a:latin typeface="Courier New" panose="02070309020205020404" pitchFamily="49" charset="0"/>
              </a:rPr>
              <a:t># MENCIPTAKAN MATRIKS 2x3 (</a:t>
            </a:r>
            <a:r>
              <a:rPr lang="en-US" b="0" i="0" dirty="0" err="1">
                <a:solidFill>
                  <a:srgbClr val="888888"/>
                </a:solidFill>
                <a:effectLst/>
                <a:latin typeface="Courier New" panose="02070309020205020404" pitchFamily="49" charset="0"/>
              </a:rPr>
              <a:t>Bukan</a:t>
            </a:r>
            <a:r>
              <a:rPr lang="en-US" b="0" i="0" dirty="0">
                <a:solidFill>
                  <a:srgbClr val="888888"/>
                </a:solidFill>
                <a:effectLst/>
                <a:latin typeface="Courier New" panose="02070309020205020404" pitchFamily="49" charset="0"/>
              </a:rPr>
              <a:t> 3x3)</a:t>
            </a:r>
            <a:endParaRPr lang="en-US" b="0" i="0" dirty="0">
              <a:solidFill>
                <a:srgbClr val="333333"/>
              </a:solidFill>
              <a:effectLst/>
              <a:latin typeface="Courier New" panose="02070309020205020404" pitchFamily="49" charset="0"/>
            </a:endParaRPr>
          </a:p>
          <a:p>
            <a:pPr marL="0" marR="0" indent="0" algn="l">
              <a:lnSpc>
                <a:spcPct val="56435"/>
              </a:lnSpc>
              <a:spcBef>
                <a:spcPts val="600"/>
              </a:spcBef>
              <a:buNone/>
            </a:pPr>
            <a:r>
              <a:rPr lang="en-US" b="0" i="0" dirty="0">
                <a:solidFill>
                  <a:srgbClr val="888888"/>
                </a:solidFill>
                <a:effectLst/>
                <a:latin typeface="Courier New" panose="02070309020205020404" pitchFamily="49" charset="0"/>
              </a:rPr>
              <a:t># Karena </a:t>
            </a:r>
            <a:r>
              <a:rPr lang="en-US" b="0" i="0" dirty="0" err="1">
                <a:solidFill>
                  <a:srgbClr val="888888"/>
                </a:solidFill>
                <a:effectLst/>
                <a:latin typeface="Courier New" panose="02070309020205020404" pitchFamily="49" charset="0"/>
              </a:rPr>
              <a:t>ini</a:t>
            </a:r>
            <a:r>
              <a:rPr lang="en-US" b="0" i="0" dirty="0">
                <a:solidFill>
                  <a:srgbClr val="888888"/>
                </a:solidFill>
                <a:effectLst/>
                <a:latin typeface="Courier New" panose="02070309020205020404" pitchFamily="49" charset="0"/>
              </a:rPr>
              <a:t> </a:t>
            </a:r>
            <a:r>
              <a:rPr lang="en-US" b="0" i="0" dirty="0" err="1">
                <a:solidFill>
                  <a:srgbClr val="888888"/>
                </a:solidFill>
                <a:effectLst/>
                <a:latin typeface="Courier New" panose="02070309020205020404" pitchFamily="49" charset="0"/>
              </a:rPr>
              <a:t>translasi</a:t>
            </a:r>
            <a:r>
              <a:rPr lang="en-US" b="0" i="0" dirty="0">
                <a:solidFill>
                  <a:srgbClr val="888888"/>
                </a:solidFill>
                <a:effectLst/>
                <a:latin typeface="Courier New" panose="02070309020205020404" pitchFamily="49" charset="0"/>
              </a:rPr>
              <a:t>: a=1, b=0, c=0, d=1</a:t>
            </a:r>
          </a:p>
          <a:p>
            <a:pPr marL="0" marR="0" lvl="0" indent="0" algn="l" defTabSz="914400" rtl="0" eaLnBrk="1" fontAlgn="auto" latinLnBrk="0" hangingPunct="1">
              <a:lnSpc>
                <a:spcPct val="56435"/>
              </a:lnSpc>
              <a:spcBef>
                <a:spcPts val="200"/>
              </a:spcBef>
              <a:spcAft>
                <a:spcPts val="0"/>
              </a:spcAft>
              <a:buClr>
                <a:srgbClr val="333333"/>
              </a:buClr>
              <a:buSzPts val="800"/>
              <a:buFont typeface="Hanken Grotesk"/>
              <a:buNone/>
              <a:tabLst/>
              <a:defRPr/>
            </a:pPr>
            <a:r>
              <a:rPr kumimoji="0" lang="en-US" sz="1200" b="0" i="0" u="none" strike="noStrike" kern="0" cap="none" spc="0" normalizeH="0" baseline="0" noProof="0" dirty="0" err="1">
                <a:ln>
                  <a:noFill/>
                </a:ln>
                <a:solidFill>
                  <a:srgbClr val="333333"/>
                </a:solidFill>
                <a:effectLst/>
                <a:uLnTx/>
                <a:uFillTx/>
                <a:latin typeface="Courier New" panose="02070309020205020404" pitchFamily="49" charset="0"/>
                <a:sym typeface="Hanken Grotesk"/>
              </a:rPr>
              <a:t>tx</a:t>
            </a:r>
            <a:r>
              <a:rPr kumimoji="0" lang="en-US" sz="1200" b="0" i="0" u="none" strike="noStrike" kern="0" cap="none" spc="0" normalizeH="0" baseline="0" noProof="0" dirty="0">
                <a:ln>
                  <a:noFill/>
                </a:ln>
                <a:solidFill>
                  <a:srgbClr val="333333"/>
                </a:solidFill>
                <a:effectLst/>
                <a:uLnTx/>
                <a:uFillTx/>
                <a:latin typeface="Courier New" panose="02070309020205020404" pitchFamily="49" charset="0"/>
                <a:sym typeface="Hanken Grotesk"/>
              </a:rPr>
              <a:t>, ty = </a:t>
            </a:r>
            <a:r>
              <a:rPr kumimoji="0" lang="en-US" sz="1200" b="1" i="0" u="none" strike="noStrike" kern="0" cap="none" spc="0" normalizeH="0" baseline="0" noProof="0" dirty="0">
                <a:ln>
                  <a:noFill/>
                </a:ln>
                <a:solidFill>
                  <a:srgbClr val="0000DD"/>
                </a:solidFill>
                <a:effectLst/>
                <a:uLnTx/>
                <a:uFillTx/>
                <a:latin typeface="Courier New" panose="02070309020205020404" pitchFamily="49" charset="0"/>
                <a:sym typeface="Hanken Grotesk"/>
              </a:rPr>
              <a:t>50</a:t>
            </a:r>
            <a:r>
              <a:rPr kumimoji="0" lang="en-US" sz="1200" b="0" i="0" u="none" strike="noStrike" kern="0" cap="none" spc="0" normalizeH="0" baseline="0" noProof="0" dirty="0">
                <a:ln>
                  <a:noFill/>
                </a:ln>
                <a:solidFill>
                  <a:srgbClr val="333333"/>
                </a:solidFill>
                <a:effectLst/>
                <a:uLnTx/>
                <a:uFillTx/>
                <a:latin typeface="Courier New" panose="02070309020205020404" pitchFamily="49" charset="0"/>
                <a:sym typeface="Hanken Grotesk"/>
              </a:rPr>
              <a:t>, </a:t>
            </a:r>
            <a:r>
              <a:rPr kumimoji="0" lang="en-US" sz="1200" b="1" i="0" u="none" strike="noStrike" kern="0" cap="none" spc="0" normalizeH="0" baseline="0" noProof="0" dirty="0">
                <a:ln>
                  <a:noFill/>
                </a:ln>
                <a:solidFill>
                  <a:srgbClr val="0000DD"/>
                </a:solidFill>
                <a:effectLst/>
                <a:uLnTx/>
                <a:uFillTx/>
                <a:latin typeface="Courier New" panose="02070309020205020404" pitchFamily="49" charset="0"/>
                <a:sym typeface="Hanken Grotesk"/>
              </a:rPr>
              <a:t>30</a:t>
            </a:r>
            <a:endParaRPr kumimoji="0" lang="en-US" sz="1200" b="0" i="0" u="none" strike="noStrike" kern="0" cap="none" spc="0" normalizeH="0" baseline="0" noProof="0" dirty="0">
              <a:ln>
                <a:noFill/>
              </a:ln>
              <a:solidFill>
                <a:srgbClr val="333333"/>
              </a:solidFill>
              <a:effectLst/>
              <a:uLnTx/>
              <a:uFillTx/>
              <a:latin typeface="Courier New" panose="02070309020205020404" pitchFamily="49" charset="0"/>
              <a:sym typeface="Hanken Grotesk"/>
            </a:endParaRPr>
          </a:p>
          <a:p>
            <a:pPr marL="0" marR="0" lvl="0" indent="0" algn="l" defTabSz="914400" rtl="0" eaLnBrk="1" fontAlgn="auto" latinLnBrk="0" hangingPunct="1">
              <a:lnSpc>
                <a:spcPct val="56435"/>
              </a:lnSpc>
              <a:spcBef>
                <a:spcPts val="200"/>
              </a:spcBef>
              <a:spcAft>
                <a:spcPts val="0"/>
              </a:spcAft>
              <a:buClr>
                <a:srgbClr val="333333"/>
              </a:buClr>
              <a:buSzPts val="800"/>
              <a:buFont typeface="Hanken Grotesk"/>
              <a:buNone/>
              <a:tabLst/>
              <a:defRPr/>
            </a:pPr>
            <a:r>
              <a:rPr kumimoji="0" lang="en-US" sz="1200" b="0" i="0" u="none" strike="noStrike" kern="0" cap="none" spc="0" normalizeH="0" baseline="0" noProof="0" dirty="0" err="1">
                <a:ln>
                  <a:noFill/>
                </a:ln>
                <a:solidFill>
                  <a:srgbClr val="333333"/>
                </a:solidFill>
                <a:effectLst/>
                <a:uLnTx/>
                <a:uFillTx/>
                <a:latin typeface="Courier New" panose="02070309020205020404" pitchFamily="49" charset="0"/>
                <a:sym typeface="Hanken Grotesk"/>
              </a:rPr>
              <a:t>matriks_translasi</a:t>
            </a:r>
            <a:r>
              <a:rPr kumimoji="0" lang="en-US" sz="1200" b="0" i="0" u="none" strike="noStrike" kern="0" cap="none" spc="0" normalizeH="0" baseline="0" noProof="0" dirty="0">
                <a:ln>
                  <a:noFill/>
                </a:ln>
                <a:solidFill>
                  <a:srgbClr val="333333"/>
                </a:solidFill>
                <a:effectLst/>
                <a:uLnTx/>
                <a:uFillTx/>
                <a:latin typeface="Courier New" panose="02070309020205020404" pitchFamily="49" charset="0"/>
                <a:sym typeface="Hanken Grotesk"/>
              </a:rPr>
              <a:t> = np.float32([</a:t>
            </a:r>
          </a:p>
          <a:p>
            <a:pPr marL="0" marR="0" lvl="0" indent="0" algn="l" defTabSz="914400" rtl="0" eaLnBrk="1" fontAlgn="auto" latinLnBrk="0" hangingPunct="1">
              <a:lnSpc>
                <a:spcPct val="56435"/>
              </a:lnSpc>
              <a:spcBef>
                <a:spcPts val="200"/>
              </a:spcBef>
              <a:spcAft>
                <a:spcPts val="0"/>
              </a:spcAft>
              <a:buClr>
                <a:srgbClr val="333333"/>
              </a:buClr>
              <a:buSzPts val="800"/>
              <a:buFont typeface="Hanken Grotesk"/>
              <a:buNone/>
              <a:tabLst/>
              <a:defRPr/>
            </a:pPr>
            <a:r>
              <a:rPr kumimoji="0" lang="en-US" sz="1200" b="0" i="0" u="none" strike="noStrike" kern="0" cap="none" spc="0" normalizeH="0" baseline="0" noProof="0" dirty="0">
                <a:ln>
                  <a:noFill/>
                </a:ln>
                <a:solidFill>
                  <a:srgbClr val="333333"/>
                </a:solidFill>
                <a:effectLst/>
                <a:uLnTx/>
                <a:uFillTx/>
                <a:latin typeface="Courier New" panose="02070309020205020404" pitchFamily="49" charset="0"/>
                <a:sym typeface="Hanken Grotesk"/>
              </a:rPr>
              <a:t>    [</a:t>
            </a:r>
            <a:r>
              <a:rPr kumimoji="0" lang="en-US" sz="1200" b="1" i="0" u="none" strike="noStrike" kern="0" cap="none" spc="0" normalizeH="0" baseline="0" noProof="0" dirty="0">
                <a:ln>
                  <a:noFill/>
                </a:ln>
                <a:solidFill>
                  <a:srgbClr val="0000DD"/>
                </a:solidFill>
                <a:effectLst/>
                <a:uLnTx/>
                <a:uFillTx/>
                <a:latin typeface="Courier New" panose="02070309020205020404" pitchFamily="49" charset="0"/>
                <a:sym typeface="Hanken Grotesk"/>
              </a:rPr>
              <a:t>1</a:t>
            </a:r>
            <a:r>
              <a:rPr kumimoji="0" lang="en-US" sz="1200" b="0" i="0" u="none" strike="noStrike" kern="0" cap="none" spc="0" normalizeH="0" baseline="0" noProof="0" dirty="0">
                <a:ln>
                  <a:noFill/>
                </a:ln>
                <a:solidFill>
                  <a:srgbClr val="333333"/>
                </a:solidFill>
                <a:effectLst/>
                <a:uLnTx/>
                <a:uFillTx/>
                <a:latin typeface="Courier New" panose="02070309020205020404" pitchFamily="49" charset="0"/>
                <a:sym typeface="Hanken Grotesk"/>
              </a:rPr>
              <a:t>, </a:t>
            </a:r>
            <a:r>
              <a:rPr kumimoji="0" lang="en-US" sz="1200" b="1" i="0" u="none" strike="noStrike" kern="0" cap="none" spc="0" normalizeH="0" baseline="0" noProof="0" dirty="0">
                <a:ln>
                  <a:noFill/>
                </a:ln>
                <a:solidFill>
                  <a:srgbClr val="0000DD"/>
                </a:solidFill>
                <a:effectLst/>
                <a:uLnTx/>
                <a:uFillTx/>
                <a:latin typeface="Courier New" panose="02070309020205020404" pitchFamily="49" charset="0"/>
                <a:sym typeface="Hanken Grotesk"/>
              </a:rPr>
              <a:t>0</a:t>
            </a:r>
            <a:r>
              <a:rPr kumimoji="0" lang="en-US" sz="1200" b="0" i="0" u="none" strike="noStrike" kern="0" cap="none" spc="0" normalizeH="0" baseline="0" noProof="0" dirty="0">
                <a:ln>
                  <a:noFill/>
                </a:ln>
                <a:solidFill>
                  <a:srgbClr val="333333"/>
                </a:solidFill>
                <a:effectLst/>
                <a:uLnTx/>
                <a:uFillTx/>
                <a:latin typeface="Courier New" panose="02070309020205020404" pitchFamily="49" charset="0"/>
                <a:sym typeface="Hanken Grotesk"/>
              </a:rPr>
              <a:t>, </a:t>
            </a:r>
            <a:r>
              <a:rPr kumimoji="0" lang="en-US" sz="1200" b="0" i="0" u="none" strike="noStrike" kern="0" cap="none" spc="0" normalizeH="0" baseline="0" noProof="0" dirty="0" err="1">
                <a:ln>
                  <a:noFill/>
                </a:ln>
                <a:solidFill>
                  <a:srgbClr val="333333"/>
                </a:solidFill>
                <a:effectLst/>
                <a:uLnTx/>
                <a:uFillTx/>
                <a:latin typeface="Courier New" panose="02070309020205020404" pitchFamily="49" charset="0"/>
                <a:sym typeface="Hanken Grotesk"/>
              </a:rPr>
              <a:t>tx</a:t>
            </a:r>
            <a:r>
              <a:rPr kumimoji="0" lang="en-US" sz="1200" b="0" i="0" u="none" strike="noStrike" kern="0" cap="none" spc="0" normalizeH="0" baseline="0" noProof="0" dirty="0">
                <a:ln>
                  <a:noFill/>
                </a:ln>
                <a:solidFill>
                  <a:srgbClr val="333333"/>
                </a:solidFill>
                <a:effectLst/>
                <a:uLnTx/>
                <a:uFillTx/>
                <a:latin typeface="Courier New" panose="02070309020205020404" pitchFamily="49" charset="0"/>
                <a:sym typeface="Hanken Grotesk"/>
              </a:rPr>
              <a:t>],</a:t>
            </a:r>
          </a:p>
          <a:p>
            <a:pPr marL="0" marR="0" lvl="0" indent="0" algn="l" defTabSz="914400" rtl="0" eaLnBrk="1" fontAlgn="auto" latinLnBrk="0" hangingPunct="1">
              <a:lnSpc>
                <a:spcPct val="56435"/>
              </a:lnSpc>
              <a:spcBef>
                <a:spcPts val="200"/>
              </a:spcBef>
              <a:spcAft>
                <a:spcPts val="0"/>
              </a:spcAft>
              <a:buClr>
                <a:srgbClr val="333333"/>
              </a:buClr>
              <a:buSzPts val="800"/>
              <a:buFont typeface="Hanken Grotesk"/>
              <a:buNone/>
              <a:tabLst/>
              <a:defRPr/>
            </a:pPr>
            <a:r>
              <a:rPr kumimoji="0" lang="en-US" sz="1200" b="0" i="0" u="none" strike="noStrike" kern="0" cap="none" spc="0" normalizeH="0" baseline="0" noProof="0" dirty="0">
                <a:ln>
                  <a:noFill/>
                </a:ln>
                <a:solidFill>
                  <a:srgbClr val="333333"/>
                </a:solidFill>
                <a:effectLst/>
                <a:uLnTx/>
                <a:uFillTx/>
                <a:latin typeface="Courier New" panose="02070309020205020404" pitchFamily="49" charset="0"/>
                <a:sym typeface="Hanken Grotesk"/>
              </a:rPr>
              <a:t>    [</a:t>
            </a:r>
            <a:r>
              <a:rPr kumimoji="0" lang="en-US" sz="1200" b="1" i="0" u="none" strike="noStrike" kern="0" cap="none" spc="0" normalizeH="0" baseline="0" noProof="0" dirty="0">
                <a:ln>
                  <a:noFill/>
                </a:ln>
                <a:solidFill>
                  <a:srgbClr val="0000DD"/>
                </a:solidFill>
                <a:effectLst/>
                <a:uLnTx/>
                <a:uFillTx/>
                <a:latin typeface="Courier New" panose="02070309020205020404" pitchFamily="49" charset="0"/>
                <a:sym typeface="Hanken Grotesk"/>
              </a:rPr>
              <a:t>0</a:t>
            </a:r>
            <a:r>
              <a:rPr kumimoji="0" lang="en-US" sz="1200" b="0" i="0" u="none" strike="noStrike" kern="0" cap="none" spc="0" normalizeH="0" baseline="0" noProof="0" dirty="0">
                <a:ln>
                  <a:noFill/>
                </a:ln>
                <a:solidFill>
                  <a:srgbClr val="333333"/>
                </a:solidFill>
                <a:effectLst/>
                <a:uLnTx/>
                <a:uFillTx/>
                <a:latin typeface="Courier New" panose="02070309020205020404" pitchFamily="49" charset="0"/>
                <a:sym typeface="Hanken Grotesk"/>
              </a:rPr>
              <a:t>, </a:t>
            </a:r>
            <a:r>
              <a:rPr kumimoji="0" lang="en-US" sz="1200" b="1" i="0" u="none" strike="noStrike" kern="0" cap="none" spc="0" normalizeH="0" baseline="0" noProof="0" dirty="0">
                <a:ln>
                  <a:noFill/>
                </a:ln>
                <a:solidFill>
                  <a:srgbClr val="0000DD"/>
                </a:solidFill>
                <a:effectLst/>
                <a:uLnTx/>
                <a:uFillTx/>
                <a:latin typeface="Courier New" panose="02070309020205020404" pitchFamily="49" charset="0"/>
                <a:sym typeface="Hanken Grotesk"/>
              </a:rPr>
              <a:t>1</a:t>
            </a:r>
            <a:r>
              <a:rPr kumimoji="0" lang="en-US" sz="1200" b="0" i="0" u="none" strike="noStrike" kern="0" cap="none" spc="0" normalizeH="0" baseline="0" noProof="0" dirty="0">
                <a:ln>
                  <a:noFill/>
                </a:ln>
                <a:solidFill>
                  <a:srgbClr val="333333"/>
                </a:solidFill>
                <a:effectLst/>
                <a:uLnTx/>
                <a:uFillTx/>
                <a:latin typeface="Courier New" panose="02070309020205020404" pitchFamily="49" charset="0"/>
                <a:sym typeface="Hanken Grotesk"/>
              </a:rPr>
              <a:t>, ty]</a:t>
            </a:r>
          </a:p>
          <a:p>
            <a:pPr marL="0" marR="0" lvl="0" indent="0" algn="l" defTabSz="914400" rtl="0" eaLnBrk="1" fontAlgn="auto" latinLnBrk="0" hangingPunct="1">
              <a:lnSpc>
                <a:spcPct val="56435"/>
              </a:lnSpc>
              <a:spcBef>
                <a:spcPts val="200"/>
              </a:spcBef>
              <a:spcAft>
                <a:spcPts val="0"/>
              </a:spcAft>
              <a:buClr>
                <a:srgbClr val="333333"/>
              </a:buClr>
              <a:buSzPts val="800"/>
              <a:buFont typeface="Hanken Grotesk"/>
              <a:buNone/>
              <a:tabLst/>
              <a:defRPr/>
            </a:pPr>
            <a:r>
              <a:rPr kumimoji="0" lang="en-US" sz="1200" b="0" i="0" u="none" strike="noStrike" kern="0" cap="none" spc="0" normalizeH="0" baseline="0" noProof="0" dirty="0">
                <a:ln>
                  <a:noFill/>
                </a:ln>
                <a:solidFill>
                  <a:srgbClr val="333333"/>
                </a:solidFill>
                <a:effectLst/>
                <a:uLnTx/>
                <a:uFillTx/>
                <a:latin typeface="Courier New" panose="02070309020205020404" pitchFamily="49" charset="0"/>
                <a:sym typeface="Hanken Grotesk"/>
              </a:rPr>
              <a:t>])</a:t>
            </a:r>
          </a:p>
          <a:p>
            <a:pPr marL="0" marR="0" indent="0" algn="l">
              <a:lnSpc>
                <a:spcPct val="56435"/>
              </a:lnSpc>
              <a:spcBef>
                <a:spcPts val="600"/>
              </a:spcBef>
              <a:buNone/>
            </a:pPr>
            <a:endParaRPr lang="en-US" b="0" i="0" dirty="0">
              <a:solidFill>
                <a:srgbClr val="333333"/>
              </a:solidFill>
              <a:effectLst/>
              <a:latin typeface="Courier New" panose="02070309020205020404" pitchFamily="49" charset="0"/>
            </a:endParaRPr>
          </a:p>
          <a:p>
            <a:pPr marL="0" marR="0" indent="0" algn="l">
              <a:lnSpc>
                <a:spcPct val="56435"/>
              </a:lnSpc>
              <a:spcBef>
                <a:spcPts val="600"/>
              </a:spcBef>
              <a:buNone/>
            </a:pPr>
            <a:r>
              <a:rPr lang="en-US" b="0" i="0" dirty="0">
                <a:solidFill>
                  <a:srgbClr val="888888"/>
                </a:solidFill>
                <a:effectLst/>
                <a:latin typeface="Courier New" panose="02070309020205020404" pitchFamily="49" charset="0"/>
              </a:rPr>
              <a:t># </a:t>
            </a:r>
            <a:r>
              <a:rPr lang="en-US" b="0" i="0" dirty="0" err="1">
                <a:solidFill>
                  <a:srgbClr val="888888"/>
                </a:solidFill>
                <a:effectLst/>
                <a:latin typeface="Courier New" panose="02070309020205020404" pitchFamily="49" charset="0"/>
              </a:rPr>
              <a:t>Menerapkan</a:t>
            </a:r>
            <a:r>
              <a:rPr lang="en-US" b="0" i="0" dirty="0">
                <a:solidFill>
                  <a:srgbClr val="888888"/>
                </a:solidFill>
                <a:effectLst/>
                <a:latin typeface="Courier New" panose="02070309020205020404" pitchFamily="49" charset="0"/>
              </a:rPr>
              <a:t> </a:t>
            </a:r>
            <a:r>
              <a:rPr lang="en-US" b="0" i="0" dirty="0" err="1">
                <a:solidFill>
                  <a:srgbClr val="888888"/>
                </a:solidFill>
                <a:effectLst/>
                <a:latin typeface="Courier New" panose="02070309020205020404" pitchFamily="49" charset="0"/>
              </a:rPr>
              <a:t>transformasi</a:t>
            </a:r>
            <a:r>
              <a:rPr lang="en-US" b="0" i="0" dirty="0">
                <a:solidFill>
                  <a:srgbClr val="888888"/>
                </a:solidFill>
                <a:effectLst/>
                <a:latin typeface="Courier New" panose="02070309020205020404" pitchFamily="49" charset="0"/>
              </a:rPr>
              <a:t> </a:t>
            </a:r>
            <a:r>
              <a:rPr lang="en-US" b="0" i="0" dirty="0" err="1">
                <a:solidFill>
                  <a:srgbClr val="888888"/>
                </a:solidFill>
                <a:effectLst/>
                <a:latin typeface="Courier New" panose="02070309020205020404" pitchFamily="49" charset="0"/>
              </a:rPr>
              <a:t>afinitas</a:t>
            </a:r>
            <a:endParaRPr lang="en-US" b="0" i="0" dirty="0">
              <a:solidFill>
                <a:srgbClr val="333333"/>
              </a:solidFill>
              <a:effectLst/>
              <a:latin typeface="Courier New" panose="02070309020205020404" pitchFamily="49" charset="0"/>
            </a:endParaRPr>
          </a:p>
          <a:p>
            <a:pPr marL="0" marR="0" indent="0" algn="l">
              <a:lnSpc>
                <a:spcPct val="56435"/>
              </a:lnSpc>
              <a:spcBef>
                <a:spcPts val="600"/>
              </a:spcBef>
              <a:buNone/>
            </a:pPr>
            <a:r>
              <a:rPr lang="en-US" b="0" i="0" dirty="0">
                <a:solidFill>
                  <a:srgbClr val="888888"/>
                </a:solidFill>
                <a:effectLst/>
                <a:latin typeface="Courier New" panose="02070309020205020404" pitchFamily="49" charset="0"/>
              </a:rPr>
              <a:t># OpenCV </a:t>
            </a:r>
            <a:r>
              <a:rPr lang="en-US" b="0" i="0" dirty="0" err="1">
                <a:solidFill>
                  <a:srgbClr val="888888"/>
                </a:solidFill>
                <a:effectLst/>
                <a:latin typeface="Courier New" panose="02070309020205020404" pitchFamily="49" charset="0"/>
              </a:rPr>
              <a:t>secara</a:t>
            </a:r>
            <a:r>
              <a:rPr lang="en-US" b="0" i="0" dirty="0">
                <a:solidFill>
                  <a:srgbClr val="888888"/>
                </a:solidFill>
                <a:effectLst/>
                <a:latin typeface="Courier New" panose="02070309020205020404" pitchFamily="49" charset="0"/>
              </a:rPr>
              <a:t> </a:t>
            </a:r>
            <a:r>
              <a:rPr lang="en-US" b="0" i="0" dirty="0" err="1">
                <a:solidFill>
                  <a:srgbClr val="888888"/>
                </a:solidFill>
                <a:effectLst/>
                <a:latin typeface="Courier New" panose="02070309020205020404" pitchFamily="49" charset="0"/>
              </a:rPr>
              <a:t>otomatis</a:t>
            </a:r>
            <a:r>
              <a:rPr lang="en-US" b="0" i="0" dirty="0">
                <a:solidFill>
                  <a:srgbClr val="888888"/>
                </a:solidFill>
                <a:effectLst/>
                <a:latin typeface="Courier New" panose="02070309020205020404" pitchFamily="49" charset="0"/>
              </a:rPr>
              <a:t> </a:t>
            </a:r>
            <a:r>
              <a:rPr lang="en-US" b="0" i="0" dirty="0" err="1">
                <a:solidFill>
                  <a:srgbClr val="888888"/>
                </a:solidFill>
                <a:effectLst/>
                <a:latin typeface="Courier New" panose="02070309020205020404" pitchFamily="49" charset="0"/>
              </a:rPr>
              <a:t>kalkulasi</a:t>
            </a:r>
            <a:r>
              <a:rPr lang="en-US" b="0" i="0" dirty="0">
                <a:solidFill>
                  <a:srgbClr val="888888"/>
                </a:solidFill>
                <a:effectLst/>
                <a:latin typeface="Courier New" panose="02070309020205020404" pitchFamily="49" charset="0"/>
              </a:rPr>
              <a:t> </a:t>
            </a:r>
            <a:r>
              <a:rPr lang="en-US" b="0" i="0" dirty="0" err="1">
                <a:solidFill>
                  <a:srgbClr val="888888"/>
                </a:solidFill>
                <a:effectLst/>
                <a:latin typeface="Courier New" panose="02070309020205020404" pitchFamily="49" charset="0"/>
              </a:rPr>
              <a:t>koordinat</a:t>
            </a:r>
            <a:endParaRPr lang="en-US" b="0" i="0" dirty="0">
              <a:solidFill>
                <a:srgbClr val="333333"/>
              </a:solidFill>
              <a:effectLst/>
              <a:latin typeface="Courier New" panose="02070309020205020404" pitchFamily="49" charset="0"/>
            </a:endParaRPr>
          </a:p>
          <a:p>
            <a:pPr marL="0" marR="0" indent="0" algn="l">
              <a:lnSpc>
                <a:spcPct val="56435"/>
              </a:lnSpc>
              <a:spcBef>
                <a:spcPts val="600"/>
              </a:spcBef>
              <a:buNone/>
            </a:pPr>
            <a:r>
              <a:rPr lang="en-US" b="0" i="0" dirty="0">
                <a:solidFill>
                  <a:srgbClr val="333333"/>
                </a:solidFill>
                <a:effectLst/>
                <a:latin typeface="Courier New" panose="02070309020205020404" pitchFamily="49" charset="0"/>
              </a:rPr>
              <a:t>    </a:t>
            </a:r>
            <a:r>
              <a:rPr lang="en-US" b="0" i="0" dirty="0" err="1">
                <a:solidFill>
                  <a:srgbClr val="333333"/>
                </a:solidFill>
                <a:effectLst/>
                <a:latin typeface="Courier New" panose="02070309020205020404" pitchFamily="49" charset="0"/>
              </a:rPr>
              <a:t>img_hasil</a:t>
            </a:r>
            <a:r>
              <a:rPr lang="en-US" b="0" i="0" dirty="0">
                <a:solidFill>
                  <a:srgbClr val="333333"/>
                </a:solidFill>
                <a:effectLst/>
                <a:latin typeface="Courier New" panose="02070309020205020404" pitchFamily="49" charset="0"/>
              </a:rPr>
              <a:t> = cv2.warpAffine(</a:t>
            </a:r>
            <a:r>
              <a:rPr lang="en-US" b="0" i="0" dirty="0" err="1">
                <a:solidFill>
                  <a:srgbClr val="333333"/>
                </a:solidFill>
                <a:effectLst/>
                <a:latin typeface="Courier New" panose="02070309020205020404" pitchFamily="49" charset="0"/>
              </a:rPr>
              <a:t>img</a:t>
            </a:r>
            <a:r>
              <a:rPr lang="en-US" b="0" i="0" dirty="0">
                <a:solidFill>
                  <a:srgbClr val="333333"/>
                </a:solidFill>
                <a:effectLst/>
                <a:latin typeface="Courier New" panose="02070309020205020404" pitchFamily="49" charset="0"/>
              </a:rPr>
              <a:t>, M, (</a:t>
            </a:r>
            <a:r>
              <a:rPr lang="en-US" b="0" i="0" dirty="0" err="1">
                <a:solidFill>
                  <a:srgbClr val="333333"/>
                </a:solidFill>
                <a:effectLst/>
                <a:latin typeface="Courier New" panose="02070309020205020404" pitchFamily="49" charset="0"/>
              </a:rPr>
              <a:t>lebar_gambar</a:t>
            </a:r>
            <a:r>
              <a:rPr lang="en-US" b="0" i="0" dirty="0">
                <a:solidFill>
                  <a:srgbClr val="333333"/>
                </a:solidFill>
                <a:effectLst/>
                <a:latin typeface="Courier New" panose="02070309020205020404" pitchFamily="49" charset="0"/>
              </a:rPr>
              <a:t>, </a:t>
            </a:r>
            <a:r>
              <a:rPr lang="en-US" b="0" i="0" dirty="0" err="1">
                <a:solidFill>
                  <a:srgbClr val="333333"/>
                </a:solidFill>
                <a:effectLst/>
                <a:latin typeface="Courier New" panose="02070309020205020404" pitchFamily="49" charset="0"/>
              </a:rPr>
              <a:t>tinggi_gambar</a:t>
            </a:r>
            <a:r>
              <a:rPr lang="en-US" b="0" i="0" dirty="0">
                <a:solidFill>
                  <a:srgbClr val="333333"/>
                </a:solidFill>
                <a:effectLst/>
                <a:latin typeface="Courier New" panose="02070309020205020404" pitchFamily="49" charset="0"/>
              </a:rPr>
              <a:t>))</a:t>
            </a:r>
            <a:endParaRPr lang="en-US" sz="1100" dirty="0"/>
          </a:p>
        </p:txBody>
      </p:sp>
      <mc:AlternateContent xmlns:mc="http://schemas.openxmlformats.org/markup-compatibility/2006">
        <mc:Choice xmlns:a14="http://schemas.microsoft.com/office/drawing/2010/main" Requires="a14">
          <p:sp>
            <p:nvSpPr>
              <p:cNvPr id="4" name="Text Placeholder 2">
                <a:extLst>
                  <a:ext uri="{FF2B5EF4-FFF2-40B4-BE49-F238E27FC236}">
                    <a16:creationId xmlns:a16="http://schemas.microsoft.com/office/drawing/2014/main" id="{9212BC78-548C-CE9F-A041-15BDC7A3C7CB}"/>
                  </a:ext>
                </a:extLst>
              </p:cNvPr>
              <p:cNvSpPr txBox="1">
                <a:spLocks/>
              </p:cNvSpPr>
              <p:nvPr/>
            </p:nvSpPr>
            <p:spPr>
              <a:xfrm>
                <a:off x="363161" y="1080172"/>
                <a:ext cx="8321408" cy="40963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spc="0">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spc="0">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spc="0">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spc="0">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spc="0">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spc="0">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spc="0">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spc="0">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spc="0">
                    <a:solidFill>
                      <a:schemeClr val="dk1"/>
                    </a:solidFill>
                    <a:latin typeface="Hanken Grotesk"/>
                    <a:ea typeface="Hanken Grotesk"/>
                    <a:cs typeface="Hanken Grotesk"/>
                    <a:sym typeface="Hanken Grotesk"/>
                  </a:defRPr>
                </a:lvl9pPr>
              </a:lstStyle>
              <a:p>
                <a:pPr marL="177800" indent="0">
                  <a:buNone/>
                </a:pPr>
                <a:r>
                  <a:rPr lang="en-US" dirty="0"/>
                  <a:t>Shift an image (translate it) by 50 pixels to the right </a:t>
                </a:r>
                <a14:m>
                  <m:oMath xmlns:m="http://schemas.openxmlformats.org/officeDocument/2006/math">
                    <m:r>
                      <a:rPr lang="en-US" i="1" dirty="0" smtClean="0">
                        <a:latin typeface="Cambria Math" panose="02040503050406030204" pitchFamily="18" charset="0"/>
                      </a:rPr>
                      <m:t>(</m:t>
                    </m:r>
                    <m:r>
                      <m:rPr>
                        <m:lit/>
                      </m:rPr>
                      <a:rPr lang="en-US" i="1" dirty="0">
                        <a:latin typeface="Cambria Math" panose="02040503050406030204" pitchFamily="18" charset="0"/>
                      </a:rPr>
                      <m:t>(</m:t>
                    </m:r>
                    <m:sSub>
                      <m:sSubPr>
                        <m:ctrlPr>
                          <a:rPr lang="en-US" i="1">
                            <a:solidFill>
                              <a:srgbClr val="333333"/>
                            </a:solidFill>
                            <a:latin typeface="Cambria Math" panose="02040503050406030204" pitchFamily="18" charset="0"/>
                          </a:rPr>
                        </m:ctrlPr>
                      </m:sSubPr>
                      <m:e>
                        <m:r>
                          <a:rPr lang="en-US" i="1">
                            <a:solidFill>
                              <a:srgbClr val="333333"/>
                            </a:solidFill>
                            <a:latin typeface="Cambria Math" panose="02040503050406030204" pitchFamily="18" charset="0"/>
                          </a:rPr>
                          <m:t>𝑡</m:t>
                        </m:r>
                      </m:e>
                      <m:sub>
                        <m:r>
                          <a:rPr lang="en-US" b="0" i="1" smtClean="0">
                            <a:solidFill>
                              <a:srgbClr val="333333"/>
                            </a:solidFill>
                            <a:latin typeface="Cambria Math" panose="02040503050406030204" pitchFamily="18" charset="0"/>
                          </a:rPr>
                          <m:t>𝑥</m:t>
                        </m:r>
                      </m:sub>
                    </m:sSub>
                    <m:r>
                      <a:rPr lang="en-US" i="1" dirty="0">
                        <a:latin typeface="Cambria Math" panose="02040503050406030204" pitchFamily="18" charset="0"/>
                      </a:rPr>
                      <m:t>=50</m:t>
                    </m:r>
                    <m:r>
                      <m:rPr>
                        <m:lit/>
                      </m:rPr>
                      <a:rPr lang="en-US" i="1" dirty="0">
                        <a:latin typeface="Cambria Math" panose="02040503050406030204" pitchFamily="18" charset="0"/>
                      </a:rPr>
                      <m:t>)</m:t>
                    </m:r>
                    <m:r>
                      <a:rPr lang="en-US" i="1" dirty="0">
                        <a:latin typeface="Cambria Math" panose="02040503050406030204" pitchFamily="18" charset="0"/>
                      </a:rPr>
                      <m:t>) </m:t>
                    </m:r>
                  </m:oMath>
                </a14:m>
                <a:r>
                  <a:rPr lang="en-US" dirty="0"/>
                  <a:t>and </a:t>
                </a:r>
                <a14:m>
                  <m:oMath xmlns:m="http://schemas.openxmlformats.org/officeDocument/2006/math">
                    <m:r>
                      <a:rPr lang="en-US" i="1" dirty="0" smtClean="0">
                        <a:latin typeface="Cambria Math" panose="02040503050406030204" pitchFamily="18" charset="0"/>
                      </a:rPr>
                      <m:t>30</m:t>
                    </m:r>
                  </m:oMath>
                </a14:m>
                <a:r>
                  <a:rPr lang="en-US" dirty="0"/>
                  <a:t> pixels down </a:t>
                </a:r>
                <a14:m>
                  <m:oMath xmlns:m="http://schemas.openxmlformats.org/officeDocument/2006/math">
                    <m:r>
                      <a:rPr lang="en-US" i="1" dirty="0" smtClean="0">
                        <a:latin typeface="Cambria Math" panose="02040503050406030204" pitchFamily="18" charset="0"/>
                      </a:rPr>
                      <m:t>(</m:t>
                    </m:r>
                    <m:r>
                      <m:rPr>
                        <m:lit/>
                      </m:rPr>
                      <a:rPr lang="en-US" i="1" dirty="0">
                        <a:latin typeface="Cambria Math" panose="02040503050406030204" pitchFamily="18" charset="0"/>
                      </a:rPr>
                      <m:t>(</m:t>
                    </m:r>
                    <m:sSub>
                      <m:sSubPr>
                        <m:ctrlPr>
                          <a:rPr lang="en-US" i="1">
                            <a:solidFill>
                              <a:srgbClr val="333333"/>
                            </a:solidFill>
                            <a:latin typeface="Cambria Math" panose="02040503050406030204" pitchFamily="18" charset="0"/>
                          </a:rPr>
                        </m:ctrlPr>
                      </m:sSubPr>
                      <m:e>
                        <m:r>
                          <a:rPr lang="en-US" i="1">
                            <a:solidFill>
                              <a:srgbClr val="333333"/>
                            </a:solidFill>
                            <a:latin typeface="Cambria Math" panose="02040503050406030204" pitchFamily="18" charset="0"/>
                          </a:rPr>
                          <m:t>𝑡</m:t>
                        </m:r>
                      </m:e>
                      <m:sub>
                        <m:r>
                          <a:rPr lang="en-US" i="1">
                            <a:solidFill>
                              <a:srgbClr val="333333"/>
                            </a:solidFill>
                            <a:latin typeface="Cambria Math" panose="02040503050406030204" pitchFamily="18" charset="0"/>
                          </a:rPr>
                          <m:t>𝑦</m:t>
                        </m:r>
                      </m:sub>
                    </m:sSub>
                    <m:r>
                      <a:rPr lang="en-US" i="1" dirty="0">
                        <a:latin typeface="Cambria Math" panose="02040503050406030204" pitchFamily="18" charset="0"/>
                      </a:rPr>
                      <m:t>=30</m:t>
                    </m:r>
                    <m:r>
                      <m:rPr>
                        <m:lit/>
                      </m:rPr>
                      <a:rPr lang="en-US" i="1" dirty="0">
                        <a:latin typeface="Cambria Math" panose="02040503050406030204" pitchFamily="18" charset="0"/>
                      </a:rPr>
                      <m:t>)</m:t>
                    </m:r>
                    <m:r>
                      <a:rPr lang="en-US" i="1" dirty="0">
                        <a:latin typeface="Cambria Math" panose="02040503050406030204" pitchFamily="18" charset="0"/>
                      </a:rPr>
                      <m:t>)</m:t>
                    </m:r>
                  </m:oMath>
                </a14:m>
                <a:endParaRPr lang="en-US" dirty="0"/>
              </a:p>
            </p:txBody>
          </p:sp>
        </mc:Choice>
        <mc:Fallback>
          <p:sp>
            <p:nvSpPr>
              <p:cNvPr id="4" name="Text Placeholder 2">
                <a:extLst>
                  <a:ext uri="{FF2B5EF4-FFF2-40B4-BE49-F238E27FC236}">
                    <a16:creationId xmlns:a16="http://schemas.microsoft.com/office/drawing/2014/main" id="{9212BC78-548C-CE9F-A041-15BDC7A3C7CB}"/>
                  </a:ext>
                </a:extLst>
              </p:cNvPr>
              <p:cNvSpPr txBox="1">
                <a:spLocks noRot="1" noChangeAspect="1" noMove="1" noResize="1" noEditPoints="1" noAdjustHandles="1" noChangeArrowheads="1" noChangeShapeType="1" noTextEdit="1"/>
              </p:cNvSpPr>
              <p:nvPr/>
            </p:nvSpPr>
            <p:spPr>
              <a:xfrm>
                <a:off x="363161" y="1080172"/>
                <a:ext cx="8321408" cy="409631"/>
              </a:xfrm>
              <a:prstGeom prst="rect">
                <a:avLst/>
              </a:prstGeom>
              <a:blipFill>
                <a:blip r:embed="rId3"/>
                <a:stretch>
                  <a:fillRect b="-8955"/>
                </a:stretch>
              </a:blipFill>
              <a:ln>
                <a:noFill/>
              </a:ln>
            </p:spPr>
            <p:txBody>
              <a:bodyPr/>
              <a:lstStyle/>
              <a:p>
                <a:r>
                  <a:rPr lang="en-US">
                    <a:noFill/>
                  </a:rPr>
                  <a:t> </a:t>
                </a:r>
              </a:p>
            </p:txBody>
          </p:sp>
        </mc:Fallback>
      </mc:AlternateContent>
      <p:pic>
        <p:nvPicPr>
          <p:cNvPr id="6" name="Picture 5">
            <a:extLst>
              <a:ext uri="{FF2B5EF4-FFF2-40B4-BE49-F238E27FC236}">
                <a16:creationId xmlns:a16="http://schemas.microsoft.com/office/drawing/2014/main" id="{DE402108-35CC-900B-1E54-F0AED4840751}"/>
              </a:ext>
            </a:extLst>
          </p:cNvPr>
          <p:cNvPicPr>
            <a:picLocks noChangeAspect="1"/>
          </p:cNvPicPr>
          <p:nvPr/>
        </p:nvPicPr>
        <p:blipFill>
          <a:blip r:embed="rId4"/>
          <a:stretch>
            <a:fillRect/>
          </a:stretch>
        </p:blipFill>
        <p:spPr>
          <a:xfrm>
            <a:off x="4481508" y="1607390"/>
            <a:ext cx="4102147" cy="2963105"/>
          </a:xfrm>
          <a:prstGeom prst="rect">
            <a:avLst/>
          </a:prstGeom>
        </p:spPr>
      </p:pic>
    </p:spTree>
    <p:extLst>
      <p:ext uri="{BB962C8B-B14F-4D97-AF65-F5344CB8AC3E}">
        <p14:creationId xmlns:p14="http://schemas.microsoft.com/office/powerpoint/2010/main" val="16709033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B39456-3C9A-8FB4-F940-F1E128A2EE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84162A-CAFB-DC9B-8F55-A55BB7915E48}"/>
              </a:ext>
            </a:extLst>
          </p:cNvPr>
          <p:cNvSpPr>
            <a:spLocks noGrp="1"/>
          </p:cNvSpPr>
          <p:nvPr>
            <p:ph type="title"/>
          </p:nvPr>
        </p:nvSpPr>
        <p:spPr/>
        <p:txBody>
          <a:bodyPr/>
          <a:lstStyle/>
          <a:p>
            <a:r>
              <a:rPr lang="en-US" dirty="0"/>
              <a:t>Interpretation in Image</a:t>
            </a:r>
          </a:p>
        </p:txBody>
      </p:sp>
      <p:sp>
        <p:nvSpPr>
          <p:cNvPr id="3" name="Text Placeholder 2">
            <a:extLst>
              <a:ext uri="{FF2B5EF4-FFF2-40B4-BE49-F238E27FC236}">
                <a16:creationId xmlns:a16="http://schemas.microsoft.com/office/drawing/2014/main" id="{890EDCB8-A72B-757D-DE41-9ADE5077A334}"/>
              </a:ext>
            </a:extLst>
          </p:cNvPr>
          <p:cNvSpPr>
            <a:spLocks noGrp="1"/>
          </p:cNvSpPr>
          <p:nvPr>
            <p:ph type="body" idx="1"/>
          </p:nvPr>
        </p:nvSpPr>
        <p:spPr>
          <a:xfrm>
            <a:off x="403306" y="1241630"/>
            <a:ext cx="8490907" cy="3673828"/>
          </a:xfrm>
          <a:ln>
            <a:solidFill>
              <a:srgbClr val="FF0000"/>
            </a:solidFill>
          </a:ln>
        </p:spPr>
        <p:txBody>
          <a:bodyPr/>
          <a:lstStyle/>
          <a:p>
            <a:pPr marL="0" marR="0" indent="0" algn="l">
              <a:lnSpc>
                <a:spcPct val="56435"/>
              </a:lnSpc>
              <a:spcBef>
                <a:spcPts val="200"/>
              </a:spcBef>
              <a:buNone/>
            </a:pPr>
            <a:r>
              <a:rPr lang="en-US" sz="1200" b="0" i="0" dirty="0">
                <a:solidFill>
                  <a:srgbClr val="333333"/>
                </a:solidFill>
                <a:effectLst/>
                <a:latin typeface="Courier New" panose="02070309020205020404" pitchFamily="49" charset="0"/>
              </a:rPr>
              <a:t>--- </a:t>
            </a:r>
            <a:r>
              <a:rPr lang="en-US" sz="1200" b="1" i="0" dirty="0">
                <a:solidFill>
                  <a:srgbClr val="6600EE"/>
                </a:solidFill>
                <a:effectLst/>
                <a:latin typeface="Courier New" panose="02070309020205020404" pitchFamily="49" charset="0"/>
              </a:rPr>
              <a:t>1.</a:t>
            </a:r>
            <a:r>
              <a:rPr lang="en-US" sz="1200" b="0" i="0" dirty="0">
                <a:solidFill>
                  <a:srgbClr val="333333"/>
                </a:solidFill>
                <a:effectLst/>
                <a:latin typeface="Courier New" panose="02070309020205020404" pitchFamily="49" charset="0"/>
              </a:rPr>
              <a:t> </a:t>
            </a:r>
            <a:r>
              <a:rPr lang="en-US" sz="1200" b="0" i="0" dirty="0" err="1">
                <a:solidFill>
                  <a:srgbClr val="333333"/>
                </a:solidFill>
                <a:effectLst/>
                <a:latin typeface="Courier New" panose="02070309020205020404" pitchFamily="49" charset="0"/>
              </a:rPr>
              <a:t>Translasi</a:t>
            </a:r>
            <a:r>
              <a:rPr lang="en-US" sz="1200" b="0" i="0" dirty="0">
                <a:solidFill>
                  <a:srgbClr val="333333"/>
                </a:solidFill>
                <a:effectLst/>
                <a:latin typeface="Courier New" panose="02070309020205020404" pitchFamily="49" charset="0"/>
              </a:rPr>
              <a:t> (</a:t>
            </a:r>
            <a:r>
              <a:rPr lang="en-US" sz="1200" b="0" i="0" dirty="0" err="1">
                <a:solidFill>
                  <a:srgbClr val="333333"/>
                </a:solidFill>
                <a:effectLst/>
                <a:latin typeface="Courier New" panose="02070309020205020404" pitchFamily="49" charset="0"/>
              </a:rPr>
              <a:t>pergeseran</a:t>
            </a:r>
            <a:r>
              <a:rPr lang="en-US" sz="1200" b="0" i="0" dirty="0">
                <a:solidFill>
                  <a:srgbClr val="333333"/>
                </a:solidFill>
                <a:effectLst/>
                <a:latin typeface="Courier New" panose="02070309020205020404" pitchFamily="49" charset="0"/>
              </a:rPr>
              <a:t> </a:t>
            </a:r>
            <a:r>
              <a:rPr lang="en-US" sz="1200" b="0" i="0" dirty="0" err="1">
                <a:solidFill>
                  <a:srgbClr val="333333"/>
                </a:solidFill>
                <a:effectLst/>
                <a:latin typeface="Courier New" panose="02070309020205020404" pitchFamily="49" charset="0"/>
              </a:rPr>
              <a:t>posisi</a:t>
            </a:r>
            <a:r>
              <a:rPr lang="en-US" sz="1200" b="0" i="0" dirty="0">
                <a:solidFill>
                  <a:srgbClr val="333333"/>
                </a:solidFill>
                <a:effectLst/>
                <a:latin typeface="Courier New" panose="02070309020205020404" pitchFamily="49" charset="0"/>
              </a:rPr>
              <a:t>) ---</a:t>
            </a:r>
          </a:p>
          <a:p>
            <a:pPr marL="0" marR="0" indent="0" algn="l">
              <a:lnSpc>
                <a:spcPct val="56435"/>
              </a:lnSpc>
              <a:spcBef>
                <a:spcPts val="200"/>
              </a:spcBef>
              <a:buNone/>
            </a:pPr>
            <a:r>
              <a:rPr lang="en-US" sz="1200" b="0" i="0" dirty="0" err="1">
                <a:solidFill>
                  <a:srgbClr val="333333"/>
                </a:solidFill>
                <a:effectLst/>
                <a:latin typeface="Courier New" panose="02070309020205020404" pitchFamily="49" charset="0"/>
              </a:rPr>
              <a:t>tx</a:t>
            </a:r>
            <a:r>
              <a:rPr lang="en-US" sz="1200" b="0" i="0" dirty="0">
                <a:solidFill>
                  <a:srgbClr val="333333"/>
                </a:solidFill>
                <a:effectLst/>
                <a:latin typeface="Courier New" panose="02070309020205020404" pitchFamily="49" charset="0"/>
              </a:rPr>
              <a:t>, ty = </a:t>
            </a:r>
            <a:r>
              <a:rPr lang="en-US" sz="1200" b="1" i="0" dirty="0">
                <a:solidFill>
                  <a:srgbClr val="0000DD"/>
                </a:solidFill>
                <a:effectLst/>
                <a:latin typeface="Courier New" panose="02070309020205020404" pitchFamily="49" charset="0"/>
              </a:rPr>
              <a:t>50</a:t>
            </a:r>
            <a:r>
              <a:rPr lang="en-US" sz="1200" b="0" i="0" dirty="0">
                <a:solidFill>
                  <a:srgbClr val="333333"/>
                </a:solidFill>
                <a:effectLst/>
                <a:latin typeface="Courier New" panose="02070309020205020404" pitchFamily="49" charset="0"/>
              </a:rPr>
              <a:t>, </a:t>
            </a:r>
            <a:r>
              <a:rPr lang="en-US" sz="1200" b="1" i="0" dirty="0">
                <a:solidFill>
                  <a:srgbClr val="0000DD"/>
                </a:solidFill>
                <a:effectLst/>
                <a:latin typeface="Courier New" panose="02070309020205020404" pitchFamily="49" charset="0"/>
              </a:rPr>
              <a:t>30</a:t>
            </a:r>
            <a:endParaRPr lang="en-US" sz="1200" b="0" i="0" dirty="0">
              <a:solidFill>
                <a:srgbClr val="333333"/>
              </a:solidFill>
              <a:effectLst/>
              <a:latin typeface="Courier New" panose="02070309020205020404" pitchFamily="49" charset="0"/>
            </a:endParaRPr>
          </a:p>
          <a:p>
            <a:pPr marL="0" marR="0" indent="0" algn="l">
              <a:lnSpc>
                <a:spcPct val="56435"/>
              </a:lnSpc>
              <a:spcBef>
                <a:spcPts val="200"/>
              </a:spcBef>
              <a:buNone/>
            </a:pPr>
            <a:r>
              <a:rPr lang="en-US" sz="1200" b="0" i="0" dirty="0" err="1">
                <a:solidFill>
                  <a:srgbClr val="333333"/>
                </a:solidFill>
                <a:effectLst/>
                <a:latin typeface="Courier New" panose="02070309020205020404" pitchFamily="49" charset="0"/>
              </a:rPr>
              <a:t>matriks_translasi</a:t>
            </a:r>
            <a:r>
              <a:rPr lang="en-US" sz="1200" b="0" i="0" dirty="0">
                <a:solidFill>
                  <a:srgbClr val="333333"/>
                </a:solidFill>
                <a:effectLst/>
                <a:latin typeface="Courier New" panose="02070309020205020404" pitchFamily="49" charset="0"/>
              </a:rPr>
              <a:t> = np.float32([</a:t>
            </a:r>
          </a:p>
          <a:p>
            <a:pPr marL="0" marR="0" indent="0" algn="l">
              <a:lnSpc>
                <a:spcPct val="56435"/>
              </a:lnSpc>
              <a:spcBef>
                <a:spcPts val="200"/>
              </a:spcBef>
              <a:buNone/>
            </a:pPr>
            <a:r>
              <a:rPr lang="en-US" sz="1200" b="0" i="0" dirty="0">
                <a:solidFill>
                  <a:srgbClr val="333333"/>
                </a:solidFill>
                <a:effectLst/>
                <a:latin typeface="Courier New" panose="02070309020205020404" pitchFamily="49" charset="0"/>
              </a:rPr>
              <a:t>    [</a:t>
            </a:r>
            <a:r>
              <a:rPr lang="en-US" sz="1200" b="1" i="0" dirty="0">
                <a:solidFill>
                  <a:srgbClr val="0000DD"/>
                </a:solidFill>
                <a:effectLst/>
                <a:latin typeface="Courier New" panose="02070309020205020404" pitchFamily="49" charset="0"/>
              </a:rPr>
              <a:t>1</a:t>
            </a:r>
            <a:r>
              <a:rPr lang="en-US" sz="1200" b="0" i="0" dirty="0">
                <a:solidFill>
                  <a:srgbClr val="333333"/>
                </a:solidFill>
                <a:effectLst/>
                <a:latin typeface="Courier New" panose="02070309020205020404" pitchFamily="49" charset="0"/>
              </a:rPr>
              <a:t>, </a:t>
            </a:r>
            <a:r>
              <a:rPr lang="en-US" sz="1200" b="1" i="0" dirty="0">
                <a:solidFill>
                  <a:srgbClr val="0000DD"/>
                </a:solidFill>
                <a:effectLst/>
                <a:latin typeface="Courier New" panose="02070309020205020404" pitchFamily="49" charset="0"/>
              </a:rPr>
              <a:t>0</a:t>
            </a:r>
            <a:r>
              <a:rPr lang="en-US" sz="1200" b="0" i="0" dirty="0">
                <a:solidFill>
                  <a:srgbClr val="333333"/>
                </a:solidFill>
                <a:effectLst/>
                <a:latin typeface="Courier New" panose="02070309020205020404" pitchFamily="49" charset="0"/>
              </a:rPr>
              <a:t>, </a:t>
            </a:r>
            <a:r>
              <a:rPr lang="en-US" sz="1200" b="0" i="0" dirty="0" err="1">
                <a:solidFill>
                  <a:srgbClr val="333333"/>
                </a:solidFill>
                <a:effectLst/>
                <a:latin typeface="Courier New" panose="02070309020205020404" pitchFamily="49" charset="0"/>
              </a:rPr>
              <a:t>tx</a:t>
            </a:r>
            <a:r>
              <a:rPr lang="en-US" sz="1200" b="0" i="0" dirty="0">
                <a:solidFill>
                  <a:srgbClr val="333333"/>
                </a:solidFill>
                <a:effectLst/>
                <a:latin typeface="Courier New" panose="02070309020205020404" pitchFamily="49" charset="0"/>
              </a:rPr>
              <a:t>],</a:t>
            </a:r>
          </a:p>
          <a:p>
            <a:pPr marL="0" marR="0" indent="0" algn="l">
              <a:lnSpc>
                <a:spcPct val="56435"/>
              </a:lnSpc>
              <a:spcBef>
                <a:spcPts val="200"/>
              </a:spcBef>
              <a:buNone/>
            </a:pPr>
            <a:r>
              <a:rPr lang="en-US" sz="1200" b="0" i="0" dirty="0">
                <a:solidFill>
                  <a:srgbClr val="333333"/>
                </a:solidFill>
                <a:effectLst/>
                <a:latin typeface="Courier New" panose="02070309020205020404" pitchFamily="49" charset="0"/>
              </a:rPr>
              <a:t>    [</a:t>
            </a:r>
            <a:r>
              <a:rPr lang="en-US" sz="1200" b="1" i="0" dirty="0">
                <a:solidFill>
                  <a:srgbClr val="0000DD"/>
                </a:solidFill>
                <a:effectLst/>
                <a:latin typeface="Courier New" panose="02070309020205020404" pitchFamily="49" charset="0"/>
              </a:rPr>
              <a:t>0</a:t>
            </a:r>
            <a:r>
              <a:rPr lang="en-US" sz="1200" b="0" i="0" dirty="0">
                <a:solidFill>
                  <a:srgbClr val="333333"/>
                </a:solidFill>
                <a:effectLst/>
                <a:latin typeface="Courier New" panose="02070309020205020404" pitchFamily="49" charset="0"/>
              </a:rPr>
              <a:t>, </a:t>
            </a:r>
            <a:r>
              <a:rPr lang="en-US" sz="1200" b="1" i="0" dirty="0">
                <a:solidFill>
                  <a:srgbClr val="0000DD"/>
                </a:solidFill>
                <a:effectLst/>
                <a:latin typeface="Courier New" panose="02070309020205020404" pitchFamily="49" charset="0"/>
              </a:rPr>
              <a:t>1</a:t>
            </a:r>
            <a:r>
              <a:rPr lang="en-US" sz="1200" b="0" i="0" dirty="0">
                <a:solidFill>
                  <a:srgbClr val="333333"/>
                </a:solidFill>
                <a:effectLst/>
                <a:latin typeface="Courier New" panose="02070309020205020404" pitchFamily="49" charset="0"/>
              </a:rPr>
              <a:t>, ty]</a:t>
            </a:r>
          </a:p>
          <a:p>
            <a:pPr marL="0" marR="0" indent="0" algn="l">
              <a:lnSpc>
                <a:spcPct val="56435"/>
              </a:lnSpc>
              <a:spcBef>
                <a:spcPts val="200"/>
              </a:spcBef>
              <a:buNone/>
            </a:pPr>
            <a:r>
              <a:rPr lang="en-US" sz="1200" b="0" i="0" dirty="0">
                <a:solidFill>
                  <a:srgbClr val="333333"/>
                </a:solidFill>
                <a:effectLst/>
                <a:latin typeface="Courier New" panose="02070309020205020404" pitchFamily="49" charset="0"/>
              </a:rPr>
              <a:t>])</a:t>
            </a:r>
          </a:p>
          <a:p>
            <a:pPr marL="0" marR="0" indent="0" algn="l">
              <a:lnSpc>
                <a:spcPct val="56435"/>
              </a:lnSpc>
              <a:spcBef>
                <a:spcPts val="200"/>
              </a:spcBef>
              <a:buNone/>
            </a:pPr>
            <a:r>
              <a:rPr lang="en-US" sz="1200" b="0" i="0" dirty="0" err="1">
                <a:solidFill>
                  <a:srgbClr val="333333"/>
                </a:solidFill>
                <a:effectLst/>
                <a:latin typeface="Courier New" panose="02070309020205020404" pitchFamily="49" charset="0"/>
              </a:rPr>
              <a:t>citra_translasi</a:t>
            </a:r>
            <a:r>
              <a:rPr lang="en-US" sz="1200" b="0" i="0" dirty="0">
                <a:solidFill>
                  <a:srgbClr val="333333"/>
                </a:solidFill>
                <a:effectLst/>
                <a:latin typeface="Courier New" panose="02070309020205020404" pitchFamily="49" charset="0"/>
              </a:rPr>
              <a:t> = cv2.warpAffine(</a:t>
            </a:r>
            <a:r>
              <a:rPr lang="en-US" sz="1200" b="0" i="0" dirty="0" err="1">
                <a:solidFill>
                  <a:srgbClr val="333333"/>
                </a:solidFill>
                <a:effectLst/>
                <a:latin typeface="Courier New" panose="02070309020205020404" pitchFamily="49" charset="0"/>
              </a:rPr>
              <a:t>citra_gray</a:t>
            </a:r>
            <a:r>
              <a:rPr lang="en-US" sz="1200" b="0" i="0" dirty="0">
                <a:solidFill>
                  <a:srgbClr val="333333"/>
                </a:solidFill>
                <a:effectLst/>
                <a:latin typeface="Courier New" panose="02070309020205020404" pitchFamily="49" charset="0"/>
              </a:rPr>
              <a:t>, </a:t>
            </a:r>
            <a:r>
              <a:rPr lang="en-US" sz="1200" b="0" i="0" dirty="0" err="1">
                <a:solidFill>
                  <a:srgbClr val="333333"/>
                </a:solidFill>
                <a:effectLst/>
                <a:latin typeface="Courier New" panose="02070309020205020404" pitchFamily="49" charset="0"/>
              </a:rPr>
              <a:t>matriks_translasi</a:t>
            </a:r>
            <a:r>
              <a:rPr lang="en-US" sz="1200" b="0" i="0" dirty="0">
                <a:solidFill>
                  <a:srgbClr val="333333"/>
                </a:solidFill>
                <a:effectLst/>
                <a:latin typeface="Courier New" panose="02070309020205020404" pitchFamily="49" charset="0"/>
              </a:rPr>
              <a:t>, (</a:t>
            </a:r>
            <a:r>
              <a:rPr lang="en-US" sz="1200" b="0" i="0" dirty="0" err="1">
                <a:solidFill>
                  <a:srgbClr val="333333"/>
                </a:solidFill>
                <a:effectLst/>
                <a:latin typeface="Courier New" panose="02070309020205020404" pitchFamily="49" charset="0"/>
              </a:rPr>
              <a:t>lebar</a:t>
            </a:r>
            <a:r>
              <a:rPr lang="en-US" sz="1200" b="0" i="0" dirty="0">
                <a:solidFill>
                  <a:srgbClr val="333333"/>
                </a:solidFill>
                <a:effectLst/>
                <a:latin typeface="Courier New" panose="02070309020205020404" pitchFamily="49" charset="0"/>
              </a:rPr>
              <a:t>, </a:t>
            </a:r>
            <a:r>
              <a:rPr lang="en-US" sz="1200" b="0" i="0" dirty="0" err="1">
                <a:solidFill>
                  <a:srgbClr val="333333"/>
                </a:solidFill>
                <a:effectLst/>
                <a:latin typeface="Courier New" panose="02070309020205020404" pitchFamily="49" charset="0"/>
              </a:rPr>
              <a:t>tinggi</a:t>
            </a:r>
            <a:r>
              <a:rPr lang="en-US" sz="1200" b="0" i="0" dirty="0">
                <a:solidFill>
                  <a:srgbClr val="333333"/>
                </a:solidFill>
                <a:effectLst/>
                <a:latin typeface="Courier New" panose="02070309020205020404" pitchFamily="49" charset="0"/>
              </a:rPr>
              <a:t>))</a:t>
            </a:r>
          </a:p>
          <a:p>
            <a:pPr marL="0" marR="0" indent="0" algn="l">
              <a:lnSpc>
                <a:spcPct val="56435"/>
              </a:lnSpc>
              <a:spcBef>
                <a:spcPts val="200"/>
              </a:spcBef>
              <a:buNone/>
            </a:pPr>
            <a:endParaRPr lang="en-US" sz="1200" b="0" i="0" dirty="0">
              <a:solidFill>
                <a:srgbClr val="333333"/>
              </a:solidFill>
              <a:effectLst/>
              <a:latin typeface="Courier New" panose="02070309020205020404" pitchFamily="49" charset="0"/>
            </a:endParaRPr>
          </a:p>
          <a:p>
            <a:pPr marL="0" marR="0" indent="0" algn="l">
              <a:lnSpc>
                <a:spcPct val="56435"/>
              </a:lnSpc>
              <a:spcBef>
                <a:spcPts val="200"/>
              </a:spcBef>
              <a:buNone/>
            </a:pPr>
            <a:r>
              <a:rPr lang="en-US" sz="1200" b="0" i="0" dirty="0">
                <a:solidFill>
                  <a:srgbClr val="888888"/>
                </a:solidFill>
                <a:effectLst/>
                <a:latin typeface="Courier New" panose="02070309020205020404" pitchFamily="49" charset="0"/>
              </a:rPr>
              <a:t># --- 2. </a:t>
            </a:r>
            <a:r>
              <a:rPr lang="en-US" sz="1200" b="0" i="0" dirty="0" err="1">
                <a:solidFill>
                  <a:srgbClr val="888888"/>
                </a:solidFill>
                <a:effectLst/>
                <a:latin typeface="Courier New" panose="02070309020205020404" pitchFamily="49" charset="0"/>
              </a:rPr>
              <a:t>Rotasi</a:t>
            </a:r>
            <a:r>
              <a:rPr lang="en-US" sz="1200" b="0" i="0" dirty="0">
                <a:solidFill>
                  <a:srgbClr val="888888"/>
                </a:solidFill>
                <a:effectLst/>
                <a:latin typeface="Courier New" panose="02070309020205020404" pitchFamily="49" charset="0"/>
              </a:rPr>
              <a:t> ---</a:t>
            </a:r>
            <a:endParaRPr lang="en-US" sz="1200" b="0" i="0" dirty="0">
              <a:solidFill>
                <a:srgbClr val="333333"/>
              </a:solidFill>
              <a:effectLst/>
              <a:latin typeface="Courier New" panose="02070309020205020404" pitchFamily="49" charset="0"/>
            </a:endParaRPr>
          </a:p>
          <a:p>
            <a:pPr marL="0" marR="0" indent="0" algn="l">
              <a:lnSpc>
                <a:spcPct val="56435"/>
              </a:lnSpc>
              <a:spcBef>
                <a:spcPts val="200"/>
              </a:spcBef>
              <a:buNone/>
            </a:pPr>
            <a:r>
              <a:rPr lang="en-US" sz="1200" b="0" i="0" dirty="0" err="1">
                <a:solidFill>
                  <a:srgbClr val="333333"/>
                </a:solidFill>
                <a:effectLst/>
                <a:latin typeface="Courier New" panose="02070309020205020404" pitchFamily="49" charset="0"/>
              </a:rPr>
              <a:t>pusat</a:t>
            </a:r>
            <a:r>
              <a:rPr lang="en-US" sz="1200" b="0" i="0" dirty="0">
                <a:solidFill>
                  <a:srgbClr val="333333"/>
                </a:solidFill>
                <a:effectLst/>
                <a:latin typeface="Courier New" panose="02070309020205020404" pitchFamily="49" charset="0"/>
              </a:rPr>
              <a:t> = (</a:t>
            </a:r>
            <a:r>
              <a:rPr lang="en-US" sz="1200" b="0" i="0" dirty="0" err="1">
                <a:solidFill>
                  <a:srgbClr val="333333"/>
                </a:solidFill>
                <a:effectLst/>
                <a:latin typeface="Courier New" panose="02070309020205020404" pitchFamily="49" charset="0"/>
              </a:rPr>
              <a:t>lebar</a:t>
            </a:r>
            <a:r>
              <a:rPr lang="en-US" sz="1200" b="0" i="0" dirty="0">
                <a:solidFill>
                  <a:srgbClr val="333333"/>
                </a:solidFill>
                <a:effectLst/>
                <a:latin typeface="Courier New" panose="02070309020205020404" pitchFamily="49" charset="0"/>
              </a:rPr>
              <a:t> // </a:t>
            </a:r>
            <a:r>
              <a:rPr lang="en-US" sz="1200" b="1" i="0" dirty="0">
                <a:solidFill>
                  <a:srgbClr val="0000DD"/>
                </a:solidFill>
                <a:effectLst/>
                <a:latin typeface="Courier New" panose="02070309020205020404" pitchFamily="49" charset="0"/>
              </a:rPr>
              <a:t>2</a:t>
            </a:r>
            <a:r>
              <a:rPr lang="en-US" sz="1200" b="0" i="0" dirty="0">
                <a:solidFill>
                  <a:srgbClr val="333333"/>
                </a:solidFill>
                <a:effectLst/>
                <a:latin typeface="Courier New" panose="02070309020205020404" pitchFamily="49" charset="0"/>
              </a:rPr>
              <a:t>, </a:t>
            </a:r>
            <a:r>
              <a:rPr lang="en-US" sz="1200" b="0" i="0" dirty="0" err="1">
                <a:solidFill>
                  <a:srgbClr val="333333"/>
                </a:solidFill>
                <a:effectLst/>
                <a:latin typeface="Courier New" panose="02070309020205020404" pitchFamily="49" charset="0"/>
              </a:rPr>
              <a:t>tinggi</a:t>
            </a:r>
            <a:r>
              <a:rPr lang="en-US" sz="1200" b="0" i="0" dirty="0">
                <a:solidFill>
                  <a:srgbClr val="333333"/>
                </a:solidFill>
                <a:effectLst/>
                <a:latin typeface="Courier New" panose="02070309020205020404" pitchFamily="49" charset="0"/>
              </a:rPr>
              <a:t> // </a:t>
            </a:r>
            <a:r>
              <a:rPr lang="en-US" sz="1200" b="1" i="0" dirty="0">
                <a:solidFill>
                  <a:srgbClr val="0000DD"/>
                </a:solidFill>
                <a:effectLst/>
                <a:latin typeface="Courier New" panose="02070309020205020404" pitchFamily="49" charset="0"/>
              </a:rPr>
              <a:t>2</a:t>
            </a:r>
            <a:r>
              <a:rPr lang="en-US" sz="1200" b="0" i="0" dirty="0">
                <a:solidFill>
                  <a:srgbClr val="333333"/>
                </a:solidFill>
                <a:effectLst/>
                <a:latin typeface="Courier New" panose="02070309020205020404" pitchFamily="49" charset="0"/>
              </a:rPr>
              <a:t>)</a:t>
            </a:r>
          </a:p>
          <a:p>
            <a:pPr marL="0" marR="0" indent="0" algn="l">
              <a:lnSpc>
                <a:spcPct val="56435"/>
              </a:lnSpc>
              <a:spcBef>
                <a:spcPts val="200"/>
              </a:spcBef>
              <a:buNone/>
            </a:pPr>
            <a:r>
              <a:rPr lang="en-US" sz="1200" b="0" i="0" dirty="0" err="1">
                <a:solidFill>
                  <a:srgbClr val="333333"/>
                </a:solidFill>
                <a:effectLst/>
                <a:latin typeface="Courier New" panose="02070309020205020404" pitchFamily="49" charset="0"/>
              </a:rPr>
              <a:t>sudut</a:t>
            </a:r>
            <a:r>
              <a:rPr lang="en-US" sz="1200" b="0" i="0" dirty="0">
                <a:solidFill>
                  <a:srgbClr val="333333"/>
                </a:solidFill>
                <a:effectLst/>
                <a:latin typeface="Courier New" panose="02070309020205020404" pitchFamily="49" charset="0"/>
              </a:rPr>
              <a:t> = </a:t>
            </a:r>
            <a:r>
              <a:rPr lang="en-US" sz="1200" b="1" i="0" dirty="0">
                <a:solidFill>
                  <a:srgbClr val="0000DD"/>
                </a:solidFill>
                <a:effectLst/>
                <a:latin typeface="Courier New" panose="02070309020205020404" pitchFamily="49" charset="0"/>
              </a:rPr>
              <a:t>30</a:t>
            </a:r>
            <a:r>
              <a:rPr lang="en-US" sz="1200" b="0" i="0" dirty="0">
                <a:solidFill>
                  <a:srgbClr val="333333"/>
                </a:solidFill>
                <a:effectLst/>
                <a:latin typeface="Courier New" panose="02070309020205020404" pitchFamily="49" charset="0"/>
              </a:rPr>
              <a:t>       </a:t>
            </a:r>
            <a:r>
              <a:rPr lang="en-US" sz="1200" b="0" i="0" dirty="0">
                <a:solidFill>
                  <a:srgbClr val="888888"/>
                </a:solidFill>
                <a:effectLst/>
                <a:latin typeface="Courier New" panose="02070309020205020404" pitchFamily="49" charset="0"/>
              </a:rPr>
              <a:t># </a:t>
            </a:r>
            <a:r>
              <a:rPr lang="en-US" sz="1200" b="0" i="0" dirty="0" err="1">
                <a:solidFill>
                  <a:srgbClr val="888888"/>
                </a:solidFill>
                <a:effectLst/>
                <a:latin typeface="Courier New" panose="02070309020205020404" pitchFamily="49" charset="0"/>
              </a:rPr>
              <a:t>derajat</a:t>
            </a:r>
            <a:r>
              <a:rPr lang="en-US" sz="1200" b="0" i="0" dirty="0">
                <a:solidFill>
                  <a:srgbClr val="888888"/>
                </a:solidFill>
                <a:effectLst/>
                <a:latin typeface="Courier New" panose="02070309020205020404" pitchFamily="49" charset="0"/>
              </a:rPr>
              <a:t>, </a:t>
            </a:r>
            <a:r>
              <a:rPr lang="en-US" sz="1200" b="0" i="0" dirty="0" err="1">
                <a:solidFill>
                  <a:srgbClr val="888888"/>
                </a:solidFill>
                <a:effectLst/>
                <a:latin typeface="Courier New" panose="02070309020205020404" pitchFamily="49" charset="0"/>
              </a:rPr>
              <a:t>positif</a:t>
            </a:r>
            <a:r>
              <a:rPr lang="en-US" sz="1200" b="0" i="0" dirty="0">
                <a:solidFill>
                  <a:srgbClr val="888888"/>
                </a:solidFill>
                <a:effectLst/>
                <a:latin typeface="Courier New" panose="02070309020205020404" pitchFamily="49" charset="0"/>
              </a:rPr>
              <a:t> = </a:t>
            </a:r>
            <a:r>
              <a:rPr lang="en-US" sz="1200" b="0" i="0" dirty="0" err="1">
                <a:solidFill>
                  <a:srgbClr val="888888"/>
                </a:solidFill>
                <a:effectLst/>
                <a:latin typeface="Courier New" panose="02070309020205020404" pitchFamily="49" charset="0"/>
              </a:rPr>
              <a:t>berlawanan</a:t>
            </a:r>
            <a:r>
              <a:rPr lang="en-US" sz="1200" b="0" i="0" dirty="0">
                <a:solidFill>
                  <a:srgbClr val="888888"/>
                </a:solidFill>
                <a:effectLst/>
                <a:latin typeface="Courier New" panose="02070309020205020404" pitchFamily="49" charset="0"/>
              </a:rPr>
              <a:t> </a:t>
            </a:r>
            <a:r>
              <a:rPr lang="en-US" sz="1200" b="0" i="0" dirty="0" err="1">
                <a:solidFill>
                  <a:srgbClr val="888888"/>
                </a:solidFill>
                <a:effectLst/>
                <a:latin typeface="Courier New" panose="02070309020205020404" pitchFamily="49" charset="0"/>
              </a:rPr>
              <a:t>arah</a:t>
            </a:r>
            <a:r>
              <a:rPr lang="en-US" sz="1200" b="0" i="0" dirty="0">
                <a:solidFill>
                  <a:srgbClr val="888888"/>
                </a:solidFill>
                <a:effectLst/>
                <a:latin typeface="Courier New" panose="02070309020205020404" pitchFamily="49" charset="0"/>
              </a:rPr>
              <a:t> </a:t>
            </a:r>
            <a:r>
              <a:rPr lang="en-US" sz="1200" b="0" i="0" dirty="0" err="1">
                <a:solidFill>
                  <a:srgbClr val="888888"/>
                </a:solidFill>
                <a:effectLst/>
                <a:latin typeface="Courier New" panose="02070309020205020404" pitchFamily="49" charset="0"/>
              </a:rPr>
              <a:t>jarum</a:t>
            </a:r>
            <a:r>
              <a:rPr lang="en-US" sz="1200" b="0" i="0" dirty="0">
                <a:solidFill>
                  <a:srgbClr val="888888"/>
                </a:solidFill>
                <a:effectLst/>
                <a:latin typeface="Courier New" panose="02070309020205020404" pitchFamily="49" charset="0"/>
              </a:rPr>
              <a:t> jam</a:t>
            </a:r>
            <a:endParaRPr lang="en-US" sz="1200" b="0" i="0" dirty="0">
              <a:solidFill>
                <a:srgbClr val="333333"/>
              </a:solidFill>
              <a:effectLst/>
              <a:latin typeface="Courier New" panose="02070309020205020404" pitchFamily="49" charset="0"/>
            </a:endParaRPr>
          </a:p>
          <a:p>
            <a:pPr marL="0" marR="0" indent="0" algn="l">
              <a:lnSpc>
                <a:spcPct val="56435"/>
              </a:lnSpc>
              <a:spcBef>
                <a:spcPts val="200"/>
              </a:spcBef>
              <a:buNone/>
            </a:pPr>
            <a:r>
              <a:rPr lang="en-US" sz="1200" b="0" i="0" dirty="0" err="1">
                <a:solidFill>
                  <a:srgbClr val="333333"/>
                </a:solidFill>
                <a:effectLst/>
                <a:latin typeface="Courier New" panose="02070309020205020404" pitchFamily="49" charset="0"/>
              </a:rPr>
              <a:t>skala_rotasi</a:t>
            </a:r>
            <a:r>
              <a:rPr lang="en-US" sz="1200" b="0" i="0" dirty="0">
                <a:solidFill>
                  <a:srgbClr val="333333"/>
                </a:solidFill>
                <a:effectLst/>
                <a:latin typeface="Courier New" panose="02070309020205020404" pitchFamily="49" charset="0"/>
              </a:rPr>
              <a:t> = </a:t>
            </a:r>
            <a:r>
              <a:rPr lang="en-US" sz="1200" b="1" i="0" dirty="0">
                <a:solidFill>
                  <a:srgbClr val="6600EE"/>
                </a:solidFill>
                <a:effectLst/>
                <a:latin typeface="Courier New" panose="02070309020205020404" pitchFamily="49" charset="0"/>
              </a:rPr>
              <a:t>1.0</a:t>
            </a:r>
            <a:endParaRPr lang="en-US" sz="1200" b="0" i="0" dirty="0">
              <a:solidFill>
                <a:srgbClr val="333333"/>
              </a:solidFill>
              <a:effectLst/>
              <a:latin typeface="Courier New" panose="02070309020205020404" pitchFamily="49" charset="0"/>
            </a:endParaRPr>
          </a:p>
          <a:p>
            <a:pPr marL="0" marR="0" indent="0" algn="l">
              <a:lnSpc>
                <a:spcPct val="56435"/>
              </a:lnSpc>
              <a:spcBef>
                <a:spcPts val="200"/>
              </a:spcBef>
              <a:buNone/>
            </a:pPr>
            <a:r>
              <a:rPr lang="en-US" sz="1200" b="0" i="0" dirty="0" err="1">
                <a:solidFill>
                  <a:srgbClr val="333333"/>
                </a:solidFill>
                <a:effectLst/>
                <a:latin typeface="Courier New" panose="02070309020205020404" pitchFamily="49" charset="0"/>
              </a:rPr>
              <a:t>matriks_rotasi</a:t>
            </a:r>
            <a:r>
              <a:rPr lang="en-US" sz="1200" b="0" i="0" dirty="0">
                <a:solidFill>
                  <a:srgbClr val="333333"/>
                </a:solidFill>
                <a:effectLst/>
                <a:latin typeface="Courier New" panose="02070309020205020404" pitchFamily="49" charset="0"/>
              </a:rPr>
              <a:t> = cv2.getRotationMatrix2D(</a:t>
            </a:r>
            <a:r>
              <a:rPr lang="en-US" sz="1200" b="0" i="0" dirty="0" err="1">
                <a:solidFill>
                  <a:srgbClr val="333333"/>
                </a:solidFill>
                <a:effectLst/>
                <a:latin typeface="Courier New" panose="02070309020205020404" pitchFamily="49" charset="0"/>
              </a:rPr>
              <a:t>pusat</a:t>
            </a:r>
            <a:r>
              <a:rPr lang="en-US" sz="1200" b="0" i="0" dirty="0">
                <a:solidFill>
                  <a:srgbClr val="333333"/>
                </a:solidFill>
                <a:effectLst/>
                <a:latin typeface="Courier New" panose="02070309020205020404" pitchFamily="49" charset="0"/>
              </a:rPr>
              <a:t>, </a:t>
            </a:r>
            <a:r>
              <a:rPr lang="en-US" sz="1200" b="0" i="0" dirty="0" err="1">
                <a:solidFill>
                  <a:srgbClr val="333333"/>
                </a:solidFill>
                <a:effectLst/>
                <a:latin typeface="Courier New" panose="02070309020205020404" pitchFamily="49" charset="0"/>
              </a:rPr>
              <a:t>sudut</a:t>
            </a:r>
            <a:r>
              <a:rPr lang="en-US" sz="1200" b="0" i="0" dirty="0">
                <a:solidFill>
                  <a:srgbClr val="333333"/>
                </a:solidFill>
                <a:effectLst/>
                <a:latin typeface="Courier New" panose="02070309020205020404" pitchFamily="49" charset="0"/>
              </a:rPr>
              <a:t>, </a:t>
            </a:r>
            <a:r>
              <a:rPr lang="en-US" sz="1200" b="0" i="0" dirty="0" err="1">
                <a:solidFill>
                  <a:srgbClr val="333333"/>
                </a:solidFill>
                <a:effectLst/>
                <a:latin typeface="Courier New" panose="02070309020205020404" pitchFamily="49" charset="0"/>
              </a:rPr>
              <a:t>skala_rotasi</a:t>
            </a:r>
            <a:r>
              <a:rPr lang="en-US" sz="1200" b="0" i="0" dirty="0">
                <a:solidFill>
                  <a:srgbClr val="333333"/>
                </a:solidFill>
                <a:effectLst/>
                <a:latin typeface="Courier New" panose="02070309020205020404" pitchFamily="49" charset="0"/>
              </a:rPr>
              <a:t>)</a:t>
            </a:r>
          </a:p>
          <a:p>
            <a:pPr marL="0" marR="0" indent="0" algn="l">
              <a:lnSpc>
                <a:spcPct val="56435"/>
              </a:lnSpc>
              <a:spcBef>
                <a:spcPts val="200"/>
              </a:spcBef>
              <a:buNone/>
            </a:pPr>
            <a:r>
              <a:rPr lang="en-US" sz="1200" b="0" i="0" dirty="0" err="1">
                <a:solidFill>
                  <a:srgbClr val="333333"/>
                </a:solidFill>
                <a:effectLst/>
                <a:latin typeface="Courier New" panose="02070309020205020404" pitchFamily="49" charset="0"/>
              </a:rPr>
              <a:t>citra_rotasi</a:t>
            </a:r>
            <a:r>
              <a:rPr lang="en-US" sz="1200" b="0" i="0" dirty="0">
                <a:solidFill>
                  <a:srgbClr val="333333"/>
                </a:solidFill>
                <a:effectLst/>
                <a:latin typeface="Courier New" panose="02070309020205020404" pitchFamily="49" charset="0"/>
              </a:rPr>
              <a:t> = cv2.warpAffine(</a:t>
            </a:r>
            <a:r>
              <a:rPr lang="en-US" sz="1200" b="0" i="0" dirty="0" err="1">
                <a:solidFill>
                  <a:srgbClr val="333333"/>
                </a:solidFill>
                <a:effectLst/>
                <a:latin typeface="Courier New" panose="02070309020205020404" pitchFamily="49" charset="0"/>
              </a:rPr>
              <a:t>citra_gray</a:t>
            </a:r>
            <a:r>
              <a:rPr lang="en-US" sz="1200" b="0" i="0" dirty="0">
                <a:solidFill>
                  <a:srgbClr val="333333"/>
                </a:solidFill>
                <a:effectLst/>
                <a:latin typeface="Courier New" panose="02070309020205020404" pitchFamily="49" charset="0"/>
              </a:rPr>
              <a:t>, </a:t>
            </a:r>
            <a:r>
              <a:rPr lang="en-US" sz="1200" b="0" i="0" dirty="0" err="1">
                <a:solidFill>
                  <a:srgbClr val="333333"/>
                </a:solidFill>
                <a:effectLst/>
                <a:latin typeface="Courier New" panose="02070309020205020404" pitchFamily="49" charset="0"/>
              </a:rPr>
              <a:t>matriks_rotasi</a:t>
            </a:r>
            <a:r>
              <a:rPr lang="en-US" sz="1200" b="0" i="0" dirty="0">
                <a:solidFill>
                  <a:srgbClr val="333333"/>
                </a:solidFill>
                <a:effectLst/>
                <a:latin typeface="Courier New" panose="02070309020205020404" pitchFamily="49" charset="0"/>
              </a:rPr>
              <a:t>, (</a:t>
            </a:r>
            <a:r>
              <a:rPr lang="en-US" sz="1200" b="0" i="0" dirty="0" err="1">
                <a:solidFill>
                  <a:srgbClr val="333333"/>
                </a:solidFill>
                <a:effectLst/>
                <a:latin typeface="Courier New" panose="02070309020205020404" pitchFamily="49" charset="0"/>
              </a:rPr>
              <a:t>lebar</a:t>
            </a:r>
            <a:r>
              <a:rPr lang="en-US" sz="1200" b="0" i="0" dirty="0">
                <a:solidFill>
                  <a:srgbClr val="333333"/>
                </a:solidFill>
                <a:effectLst/>
                <a:latin typeface="Courier New" panose="02070309020205020404" pitchFamily="49" charset="0"/>
              </a:rPr>
              <a:t>, </a:t>
            </a:r>
            <a:r>
              <a:rPr lang="en-US" sz="1200" b="0" i="0" dirty="0" err="1">
                <a:solidFill>
                  <a:srgbClr val="333333"/>
                </a:solidFill>
                <a:effectLst/>
                <a:latin typeface="Courier New" panose="02070309020205020404" pitchFamily="49" charset="0"/>
              </a:rPr>
              <a:t>tinggi</a:t>
            </a:r>
            <a:r>
              <a:rPr lang="en-US" sz="1200" b="0" i="0" dirty="0">
                <a:solidFill>
                  <a:srgbClr val="333333"/>
                </a:solidFill>
                <a:effectLst/>
                <a:latin typeface="Courier New" panose="02070309020205020404" pitchFamily="49" charset="0"/>
              </a:rPr>
              <a:t>))</a:t>
            </a:r>
          </a:p>
          <a:p>
            <a:pPr marL="0" marR="0" indent="0" algn="l">
              <a:lnSpc>
                <a:spcPct val="56435"/>
              </a:lnSpc>
              <a:spcBef>
                <a:spcPts val="200"/>
              </a:spcBef>
              <a:buNone/>
            </a:pPr>
            <a:endParaRPr lang="en-US" sz="1200" b="0" i="0" dirty="0">
              <a:solidFill>
                <a:srgbClr val="333333"/>
              </a:solidFill>
              <a:effectLst/>
              <a:latin typeface="Courier New" panose="02070309020205020404" pitchFamily="49" charset="0"/>
            </a:endParaRPr>
          </a:p>
          <a:p>
            <a:pPr marL="0" marR="0" indent="0" algn="l">
              <a:lnSpc>
                <a:spcPct val="56435"/>
              </a:lnSpc>
              <a:spcBef>
                <a:spcPts val="200"/>
              </a:spcBef>
              <a:buNone/>
            </a:pPr>
            <a:r>
              <a:rPr lang="en-US" sz="1200" b="0" i="0" dirty="0">
                <a:solidFill>
                  <a:srgbClr val="888888"/>
                </a:solidFill>
                <a:effectLst/>
                <a:latin typeface="Courier New" panose="02070309020205020404" pitchFamily="49" charset="0"/>
              </a:rPr>
              <a:t># --- 3. </a:t>
            </a:r>
            <a:r>
              <a:rPr lang="en-US" sz="1200" b="0" i="0" dirty="0" err="1">
                <a:solidFill>
                  <a:srgbClr val="888888"/>
                </a:solidFill>
                <a:effectLst/>
                <a:latin typeface="Courier New" panose="02070309020205020404" pitchFamily="49" charset="0"/>
              </a:rPr>
              <a:t>Penskalaan</a:t>
            </a:r>
            <a:r>
              <a:rPr lang="en-US" sz="1200" b="0" i="0" dirty="0">
                <a:solidFill>
                  <a:srgbClr val="888888"/>
                </a:solidFill>
                <a:effectLst/>
                <a:latin typeface="Courier New" panose="02070309020205020404" pitchFamily="49" charset="0"/>
              </a:rPr>
              <a:t> (scaling / resize) ---</a:t>
            </a:r>
            <a:endParaRPr lang="en-US" sz="1200" b="0" i="0" dirty="0">
              <a:solidFill>
                <a:srgbClr val="333333"/>
              </a:solidFill>
              <a:effectLst/>
              <a:latin typeface="Courier New" panose="02070309020205020404" pitchFamily="49" charset="0"/>
            </a:endParaRPr>
          </a:p>
          <a:p>
            <a:pPr marL="0" marR="0" indent="0" algn="l">
              <a:lnSpc>
                <a:spcPct val="56435"/>
              </a:lnSpc>
              <a:spcBef>
                <a:spcPts val="200"/>
              </a:spcBef>
              <a:buNone/>
            </a:pPr>
            <a:r>
              <a:rPr lang="en-US" sz="1200" b="0" i="0" dirty="0" err="1">
                <a:solidFill>
                  <a:srgbClr val="333333"/>
                </a:solidFill>
                <a:effectLst/>
                <a:latin typeface="Courier New" panose="02070309020205020404" pitchFamily="49" charset="0"/>
              </a:rPr>
              <a:t>citra_perbesar</a:t>
            </a:r>
            <a:r>
              <a:rPr lang="en-US" sz="1200" b="0" i="0" dirty="0">
                <a:solidFill>
                  <a:srgbClr val="333333"/>
                </a:solidFill>
                <a:effectLst/>
                <a:latin typeface="Courier New" panose="02070309020205020404" pitchFamily="49" charset="0"/>
              </a:rPr>
              <a:t> = cv2.resize(</a:t>
            </a:r>
            <a:r>
              <a:rPr lang="en-US" sz="1200" b="0" i="0" dirty="0" err="1">
                <a:solidFill>
                  <a:srgbClr val="333333"/>
                </a:solidFill>
                <a:effectLst/>
                <a:latin typeface="Courier New" panose="02070309020205020404" pitchFamily="49" charset="0"/>
              </a:rPr>
              <a:t>citra_gray</a:t>
            </a:r>
            <a:r>
              <a:rPr lang="en-US" sz="1200" b="0" i="0" dirty="0">
                <a:solidFill>
                  <a:srgbClr val="333333"/>
                </a:solidFill>
                <a:effectLst/>
                <a:latin typeface="Courier New" panose="02070309020205020404" pitchFamily="49" charset="0"/>
              </a:rPr>
              <a:t>, </a:t>
            </a:r>
            <a:r>
              <a:rPr lang="en-US" sz="1200" b="1" i="0" dirty="0">
                <a:solidFill>
                  <a:srgbClr val="008800"/>
                </a:solidFill>
                <a:effectLst/>
                <a:latin typeface="Courier New" panose="02070309020205020404" pitchFamily="49" charset="0"/>
              </a:rPr>
              <a:t>None</a:t>
            </a:r>
            <a:r>
              <a:rPr lang="en-US" sz="1200" b="0" i="0" dirty="0">
                <a:solidFill>
                  <a:srgbClr val="333333"/>
                </a:solidFill>
                <a:effectLst/>
                <a:latin typeface="Courier New" panose="02070309020205020404" pitchFamily="49" charset="0"/>
              </a:rPr>
              <a:t>, </a:t>
            </a:r>
            <a:r>
              <a:rPr lang="en-US" sz="1200" b="0" i="0" dirty="0" err="1">
                <a:solidFill>
                  <a:srgbClr val="333333"/>
                </a:solidFill>
                <a:effectLst/>
                <a:latin typeface="Courier New" panose="02070309020205020404" pitchFamily="49" charset="0"/>
              </a:rPr>
              <a:t>fx</a:t>
            </a:r>
            <a:r>
              <a:rPr lang="en-US" sz="1200" b="0" i="0" dirty="0">
                <a:solidFill>
                  <a:srgbClr val="333333"/>
                </a:solidFill>
                <a:effectLst/>
                <a:latin typeface="Courier New" panose="02070309020205020404" pitchFamily="49" charset="0"/>
              </a:rPr>
              <a:t>=</a:t>
            </a:r>
            <a:r>
              <a:rPr lang="en-US" sz="1200" b="1" i="0" dirty="0">
                <a:solidFill>
                  <a:srgbClr val="6600EE"/>
                </a:solidFill>
                <a:effectLst/>
                <a:latin typeface="Courier New" panose="02070309020205020404" pitchFamily="49" charset="0"/>
              </a:rPr>
              <a:t>1.5</a:t>
            </a:r>
            <a:r>
              <a:rPr lang="en-US" sz="1200" b="0" i="0" dirty="0">
                <a:solidFill>
                  <a:srgbClr val="333333"/>
                </a:solidFill>
                <a:effectLst/>
                <a:latin typeface="Courier New" panose="02070309020205020404" pitchFamily="49" charset="0"/>
              </a:rPr>
              <a:t>, </a:t>
            </a:r>
            <a:r>
              <a:rPr lang="en-US" sz="1200" b="0" i="0" dirty="0" err="1">
                <a:solidFill>
                  <a:srgbClr val="333333"/>
                </a:solidFill>
                <a:effectLst/>
                <a:latin typeface="Courier New" panose="02070309020205020404" pitchFamily="49" charset="0"/>
              </a:rPr>
              <a:t>fy</a:t>
            </a:r>
            <a:r>
              <a:rPr lang="en-US" sz="1200" b="0" i="0" dirty="0">
                <a:solidFill>
                  <a:srgbClr val="333333"/>
                </a:solidFill>
                <a:effectLst/>
                <a:latin typeface="Courier New" panose="02070309020205020404" pitchFamily="49" charset="0"/>
              </a:rPr>
              <a:t>=</a:t>
            </a:r>
            <a:r>
              <a:rPr lang="en-US" sz="1200" b="1" i="0" dirty="0">
                <a:solidFill>
                  <a:srgbClr val="6600EE"/>
                </a:solidFill>
                <a:effectLst/>
                <a:latin typeface="Courier New" panose="02070309020205020404" pitchFamily="49" charset="0"/>
              </a:rPr>
              <a:t>1.5</a:t>
            </a:r>
            <a:r>
              <a:rPr lang="en-US" sz="1200" b="0" i="0" dirty="0">
                <a:solidFill>
                  <a:srgbClr val="333333"/>
                </a:solidFill>
                <a:effectLst/>
                <a:latin typeface="Courier New" panose="02070309020205020404" pitchFamily="49" charset="0"/>
              </a:rPr>
              <a:t>, interpolation=cv2.INTER_LINEAR)</a:t>
            </a:r>
          </a:p>
          <a:p>
            <a:pPr marL="0" marR="0" indent="0" algn="l">
              <a:lnSpc>
                <a:spcPct val="56435"/>
              </a:lnSpc>
              <a:spcBef>
                <a:spcPts val="200"/>
              </a:spcBef>
              <a:buNone/>
            </a:pPr>
            <a:r>
              <a:rPr lang="en-US" sz="1200" b="0" i="0" dirty="0" err="1">
                <a:solidFill>
                  <a:srgbClr val="333333"/>
                </a:solidFill>
                <a:effectLst/>
                <a:latin typeface="Courier New" panose="02070309020205020404" pitchFamily="49" charset="0"/>
              </a:rPr>
              <a:t>citra_perkecil</a:t>
            </a:r>
            <a:r>
              <a:rPr lang="en-US" sz="1200" b="0" i="0" dirty="0">
                <a:solidFill>
                  <a:srgbClr val="333333"/>
                </a:solidFill>
                <a:effectLst/>
                <a:latin typeface="Courier New" panose="02070309020205020404" pitchFamily="49" charset="0"/>
              </a:rPr>
              <a:t> = cv2.resize(</a:t>
            </a:r>
            <a:r>
              <a:rPr lang="en-US" sz="1200" b="0" i="0" dirty="0" err="1">
                <a:solidFill>
                  <a:srgbClr val="333333"/>
                </a:solidFill>
                <a:effectLst/>
                <a:latin typeface="Courier New" panose="02070309020205020404" pitchFamily="49" charset="0"/>
              </a:rPr>
              <a:t>citra_gray</a:t>
            </a:r>
            <a:r>
              <a:rPr lang="en-US" sz="1200" b="0" i="0" dirty="0">
                <a:solidFill>
                  <a:srgbClr val="333333"/>
                </a:solidFill>
                <a:effectLst/>
                <a:latin typeface="Courier New" panose="02070309020205020404" pitchFamily="49" charset="0"/>
              </a:rPr>
              <a:t>, </a:t>
            </a:r>
            <a:r>
              <a:rPr lang="en-US" sz="1200" b="1" i="0" dirty="0">
                <a:solidFill>
                  <a:srgbClr val="008800"/>
                </a:solidFill>
                <a:effectLst/>
                <a:latin typeface="Courier New" panose="02070309020205020404" pitchFamily="49" charset="0"/>
              </a:rPr>
              <a:t>None</a:t>
            </a:r>
            <a:r>
              <a:rPr lang="en-US" sz="1200" b="0" i="0" dirty="0">
                <a:solidFill>
                  <a:srgbClr val="333333"/>
                </a:solidFill>
                <a:effectLst/>
                <a:latin typeface="Courier New" panose="02070309020205020404" pitchFamily="49" charset="0"/>
              </a:rPr>
              <a:t>, </a:t>
            </a:r>
            <a:r>
              <a:rPr lang="en-US" sz="1200" b="0" i="0" dirty="0" err="1">
                <a:solidFill>
                  <a:srgbClr val="333333"/>
                </a:solidFill>
                <a:effectLst/>
                <a:latin typeface="Courier New" panose="02070309020205020404" pitchFamily="49" charset="0"/>
              </a:rPr>
              <a:t>fx</a:t>
            </a:r>
            <a:r>
              <a:rPr lang="en-US" sz="1200" b="0" i="0" dirty="0">
                <a:solidFill>
                  <a:srgbClr val="333333"/>
                </a:solidFill>
                <a:effectLst/>
                <a:latin typeface="Courier New" panose="02070309020205020404" pitchFamily="49" charset="0"/>
              </a:rPr>
              <a:t>=</a:t>
            </a:r>
            <a:r>
              <a:rPr lang="en-US" sz="1200" b="1" i="0" dirty="0">
                <a:solidFill>
                  <a:srgbClr val="6600EE"/>
                </a:solidFill>
                <a:effectLst/>
                <a:latin typeface="Courier New" panose="02070309020205020404" pitchFamily="49" charset="0"/>
              </a:rPr>
              <a:t>0.5</a:t>
            </a:r>
            <a:r>
              <a:rPr lang="en-US" sz="1200" b="0" i="0" dirty="0">
                <a:solidFill>
                  <a:srgbClr val="333333"/>
                </a:solidFill>
                <a:effectLst/>
                <a:latin typeface="Courier New" panose="02070309020205020404" pitchFamily="49" charset="0"/>
              </a:rPr>
              <a:t>, </a:t>
            </a:r>
            <a:r>
              <a:rPr lang="en-US" sz="1200" b="0" i="0" dirty="0" err="1">
                <a:solidFill>
                  <a:srgbClr val="333333"/>
                </a:solidFill>
                <a:effectLst/>
                <a:latin typeface="Courier New" panose="02070309020205020404" pitchFamily="49" charset="0"/>
              </a:rPr>
              <a:t>fy</a:t>
            </a:r>
            <a:r>
              <a:rPr lang="en-US" sz="1200" b="0" i="0" dirty="0">
                <a:solidFill>
                  <a:srgbClr val="333333"/>
                </a:solidFill>
                <a:effectLst/>
                <a:latin typeface="Courier New" panose="02070309020205020404" pitchFamily="49" charset="0"/>
              </a:rPr>
              <a:t>=</a:t>
            </a:r>
            <a:r>
              <a:rPr lang="en-US" sz="1200" b="1" i="0" dirty="0">
                <a:solidFill>
                  <a:srgbClr val="6600EE"/>
                </a:solidFill>
                <a:effectLst/>
                <a:latin typeface="Courier New" panose="02070309020205020404" pitchFamily="49" charset="0"/>
              </a:rPr>
              <a:t>0.5</a:t>
            </a:r>
            <a:r>
              <a:rPr lang="en-US" sz="1200" b="0" i="0" dirty="0">
                <a:solidFill>
                  <a:srgbClr val="333333"/>
                </a:solidFill>
                <a:effectLst/>
                <a:latin typeface="Courier New" panose="02070309020205020404" pitchFamily="49" charset="0"/>
              </a:rPr>
              <a:t>, interpolation=cv2.INTER_AREA)</a:t>
            </a:r>
          </a:p>
          <a:p>
            <a:pPr marL="0" marR="0" indent="0" algn="l">
              <a:lnSpc>
                <a:spcPct val="56435"/>
              </a:lnSpc>
              <a:spcBef>
                <a:spcPts val="200"/>
              </a:spcBef>
              <a:buNone/>
            </a:pPr>
            <a:endParaRPr lang="en-US" sz="1200" b="0" i="0" dirty="0">
              <a:solidFill>
                <a:srgbClr val="333333"/>
              </a:solidFill>
              <a:effectLst/>
              <a:latin typeface="Courier New" panose="02070309020205020404" pitchFamily="49" charset="0"/>
            </a:endParaRPr>
          </a:p>
          <a:p>
            <a:pPr marL="0" marR="0" indent="0" algn="l">
              <a:lnSpc>
                <a:spcPct val="56435"/>
              </a:lnSpc>
              <a:spcBef>
                <a:spcPts val="200"/>
              </a:spcBef>
              <a:buNone/>
            </a:pPr>
            <a:r>
              <a:rPr lang="en-US" sz="1200" b="0" i="0" dirty="0">
                <a:solidFill>
                  <a:srgbClr val="888888"/>
                </a:solidFill>
                <a:effectLst/>
                <a:latin typeface="Courier New" panose="02070309020205020404" pitchFamily="49" charset="0"/>
              </a:rPr>
              <a:t># --- 4. </a:t>
            </a:r>
            <a:r>
              <a:rPr lang="en-US" sz="1200" b="0" i="0" dirty="0" err="1">
                <a:solidFill>
                  <a:srgbClr val="888888"/>
                </a:solidFill>
                <a:effectLst/>
                <a:latin typeface="Courier New" panose="02070309020205020404" pitchFamily="49" charset="0"/>
              </a:rPr>
              <a:t>Geometrik</a:t>
            </a:r>
            <a:r>
              <a:rPr lang="en-US" sz="1200" b="0" i="0" dirty="0">
                <a:solidFill>
                  <a:srgbClr val="888888"/>
                </a:solidFill>
                <a:effectLst/>
                <a:latin typeface="Courier New" panose="02070309020205020404" pitchFamily="49" charset="0"/>
              </a:rPr>
              <a:t> </a:t>
            </a:r>
            <a:r>
              <a:rPr lang="en-US" sz="1200" b="0" i="0" dirty="0" err="1">
                <a:solidFill>
                  <a:srgbClr val="888888"/>
                </a:solidFill>
                <a:effectLst/>
                <a:latin typeface="Courier New" panose="02070309020205020404" pitchFamily="49" charset="0"/>
              </a:rPr>
              <a:t>dengan</a:t>
            </a:r>
            <a:r>
              <a:rPr lang="en-US" sz="1200" b="0" i="0" dirty="0">
                <a:solidFill>
                  <a:srgbClr val="888888"/>
                </a:solidFill>
                <a:effectLst/>
                <a:latin typeface="Courier New" panose="02070309020205020404" pitchFamily="49" charset="0"/>
              </a:rPr>
              <a:t> </a:t>
            </a:r>
            <a:r>
              <a:rPr lang="en-US" sz="1200" b="0" i="0" dirty="0" err="1">
                <a:solidFill>
                  <a:srgbClr val="888888"/>
                </a:solidFill>
                <a:effectLst/>
                <a:latin typeface="Courier New" panose="02070309020205020404" pitchFamily="49" charset="0"/>
              </a:rPr>
              <a:t>Transformasi</a:t>
            </a:r>
            <a:r>
              <a:rPr lang="en-US" sz="1200" b="0" i="0" dirty="0">
                <a:solidFill>
                  <a:srgbClr val="888888"/>
                </a:solidFill>
                <a:effectLst/>
                <a:latin typeface="Courier New" panose="02070309020205020404" pitchFamily="49" charset="0"/>
              </a:rPr>
              <a:t> </a:t>
            </a:r>
            <a:r>
              <a:rPr lang="en-US" sz="1200" b="0" i="0" dirty="0" err="1">
                <a:solidFill>
                  <a:srgbClr val="888888"/>
                </a:solidFill>
                <a:effectLst/>
                <a:latin typeface="Courier New" panose="02070309020205020404" pitchFamily="49" charset="0"/>
              </a:rPr>
              <a:t>Perspektif</a:t>
            </a:r>
            <a:r>
              <a:rPr lang="en-US" sz="1200" b="0" i="0" dirty="0">
                <a:solidFill>
                  <a:srgbClr val="888888"/>
                </a:solidFill>
                <a:effectLst/>
                <a:latin typeface="Courier New" panose="02070309020205020404" pitchFamily="49" charset="0"/>
              </a:rPr>
              <a:t> ---</a:t>
            </a:r>
            <a:endParaRPr lang="en-US" sz="1200" b="0" i="0" dirty="0">
              <a:solidFill>
                <a:srgbClr val="333333"/>
              </a:solidFill>
              <a:effectLst/>
              <a:latin typeface="Courier New" panose="02070309020205020404" pitchFamily="49" charset="0"/>
            </a:endParaRPr>
          </a:p>
          <a:p>
            <a:pPr marL="0" marR="0" indent="0" algn="l">
              <a:lnSpc>
                <a:spcPct val="56435"/>
              </a:lnSpc>
              <a:spcBef>
                <a:spcPts val="200"/>
              </a:spcBef>
              <a:buNone/>
            </a:pPr>
            <a:r>
              <a:rPr lang="en-US" sz="1200" b="0" i="0" dirty="0">
                <a:solidFill>
                  <a:srgbClr val="888888"/>
                </a:solidFill>
                <a:effectLst/>
                <a:latin typeface="Courier New" panose="02070309020205020404" pitchFamily="49" charset="0"/>
              </a:rPr>
              <a:t># </a:t>
            </a:r>
            <a:r>
              <a:rPr lang="en-US" sz="1200" b="0" i="0" dirty="0" err="1">
                <a:solidFill>
                  <a:srgbClr val="888888"/>
                </a:solidFill>
                <a:effectLst/>
                <a:latin typeface="Courier New" panose="02070309020205020404" pitchFamily="49" charset="0"/>
              </a:rPr>
              <a:t>Contoh</a:t>
            </a:r>
            <a:r>
              <a:rPr lang="en-US" sz="1200" b="0" i="0" dirty="0">
                <a:solidFill>
                  <a:srgbClr val="888888"/>
                </a:solidFill>
                <a:effectLst/>
                <a:latin typeface="Courier New" panose="02070309020205020404" pitchFamily="49" charset="0"/>
              </a:rPr>
              <a:t>: </a:t>
            </a:r>
            <a:r>
              <a:rPr lang="en-US" sz="1200" b="0" i="0" dirty="0" err="1">
                <a:solidFill>
                  <a:srgbClr val="888888"/>
                </a:solidFill>
                <a:effectLst/>
                <a:latin typeface="Courier New" panose="02070309020205020404" pitchFamily="49" charset="0"/>
              </a:rPr>
              <a:t>memperbaiki</a:t>
            </a:r>
            <a:r>
              <a:rPr lang="en-US" sz="1200" b="0" i="0" dirty="0">
                <a:solidFill>
                  <a:srgbClr val="888888"/>
                </a:solidFill>
                <a:effectLst/>
                <a:latin typeface="Courier New" panose="02070309020205020404" pitchFamily="49" charset="0"/>
              </a:rPr>
              <a:t> </a:t>
            </a:r>
            <a:r>
              <a:rPr lang="en-US" sz="1200" b="0" i="0" dirty="0" err="1">
                <a:solidFill>
                  <a:srgbClr val="888888"/>
                </a:solidFill>
                <a:effectLst/>
                <a:latin typeface="Courier New" panose="02070309020205020404" pitchFamily="49" charset="0"/>
              </a:rPr>
              <a:t>citra</a:t>
            </a:r>
            <a:r>
              <a:rPr lang="en-US" sz="1200" b="0" i="0" dirty="0">
                <a:solidFill>
                  <a:srgbClr val="888888"/>
                </a:solidFill>
                <a:effectLst/>
                <a:latin typeface="Courier New" panose="02070309020205020404" pitchFamily="49" charset="0"/>
              </a:rPr>
              <a:t> </a:t>
            </a:r>
            <a:r>
              <a:rPr lang="en-US" sz="1200" b="0" i="0" dirty="0" err="1">
                <a:solidFill>
                  <a:srgbClr val="888888"/>
                </a:solidFill>
                <a:effectLst/>
                <a:latin typeface="Courier New" panose="02070309020205020404" pitchFamily="49" charset="0"/>
              </a:rPr>
              <a:t>dokumen</a:t>
            </a:r>
            <a:r>
              <a:rPr lang="en-US" sz="1200" b="0" i="0" dirty="0">
                <a:solidFill>
                  <a:srgbClr val="888888"/>
                </a:solidFill>
                <a:effectLst/>
                <a:latin typeface="Courier New" panose="02070309020205020404" pitchFamily="49" charset="0"/>
              </a:rPr>
              <a:t> yang </a:t>
            </a:r>
            <a:r>
              <a:rPr lang="en-US" sz="1200" b="0" i="0" dirty="0" err="1">
                <a:solidFill>
                  <a:srgbClr val="888888"/>
                </a:solidFill>
                <a:effectLst/>
                <a:latin typeface="Courier New" panose="02070309020205020404" pitchFamily="49" charset="0"/>
              </a:rPr>
              <a:t>terpotret</a:t>
            </a:r>
            <a:r>
              <a:rPr lang="en-US" sz="1200" b="0" i="0" dirty="0">
                <a:solidFill>
                  <a:srgbClr val="888888"/>
                </a:solidFill>
                <a:effectLst/>
                <a:latin typeface="Courier New" panose="02070309020205020404" pitchFamily="49" charset="0"/>
              </a:rPr>
              <a:t> miring (4 </a:t>
            </a:r>
            <a:r>
              <a:rPr lang="en-US" sz="1200" b="0" i="0" dirty="0" err="1">
                <a:solidFill>
                  <a:srgbClr val="888888"/>
                </a:solidFill>
                <a:effectLst/>
                <a:latin typeface="Courier New" panose="02070309020205020404" pitchFamily="49" charset="0"/>
              </a:rPr>
              <a:t>titik</a:t>
            </a:r>
            <a:r>
              <a:rPr lang="en-US" sz="1200" b="0" i="0" dirty="0">
                <a:solidFill>
                  <a:srgbClr val="888888"/>
                </a:solidFill>
                <a:effectLst/>
                <a:latin typeface="Courier New" panose="02070309020205020404" pitchFamily="49" charset="0"/>
              </a:rPr>
              <a:t> </a:t>
            </a:r>
            <a:r>
              <a:rPr lang="en-US" sz="1200" b="0" i="0" dirty="0" err="1">
                <a:solidFill>
                  <a:srgbClr val="888888"/>
                </a:solidFill>
                <a:effectLst/>
                <a:latin typeface="Courier New" panose="02070309020205020404" pitchFamily="49" charset="0"/>
              </a:rPr>
              <a:t>sudut</a:t>
            </a:r>
            <a:r>
              <a:rPr lang="en-US" sz="1200" b="0" i="0" dirty="0">
                <a:solidFill>
                  <a:srgbClr val="888888"/>
                </a:solidFill>
                <a:effectLst/>
                <a:latin typeface="Courier New" panose="02070309020205020404" pitchFamily="49" charset="0"/>
              </a:rPr>
              <a:t> </a:t>
            </a:r>
            <a:r>
              <a:rPr lang="en-US" sz="1200" b="0" i="0" dirty="0" err="1">
                <a:solidFill>
                  <a:srgbClr val="888888"/>
                </a:solidFill>
                <a:effectLst/>
                <a:latin typeface="Courier New" panose="02070309020205020404" pitchFamily="49" charset="0"/>
              </a:rPr>
              <a:t>asli</a:t>
            </a:r>
            <a:r>
              <a:rPr lang="en-US" sz="1200" b="0" i="0" dirty="0">
                <a:solidFill>
                  <a:srgbClr val="888888"/>
                </a:solidFill>
                <a:effectLst/>
                <a:latin typeface="Courier New" panose="02070309020205020404" pitchFamily="49" charset="0"/>
              </a:rPr>
              <a:t> -&gt; 4 </a:t>
            </a:r>
            <a:r>
              <a:rPr lang="en-US" sz="1200" b="0" i="0" dirty="0" err="1">
                <a:solidFill>
                  <a:srgbClr val="888888"/>
                </a:solidFill>
                <a:effectLst/>
                <a:latin typeface="Courier New" panose="02070309020205020404" pitchFamily="49" charset="0"/>
              </a:rPr>
              <a:t>titik</a:t>
            </a:r>
            <a:r>
              <a:rPr lang="en-US" sz="1200" b="0" i="0" dirty="0">
                <a:solidFill>
                  <a:srgbClr val="888888"/>
                </a:solidFill>
                <a:effectLst/>
                <a:latin typeface="Courier New" panose="02070309020205020404" pitchFamily="49" charset="0"/>
              </a:rPr>
              <a:t> target </a:t>
            </a:r>
            <a:r>
              <a:rPr lang="en-US" sz="1200" b="0" i="0" dirty="0" err="1">
                <a:solidFill>
                  <a:srgbClr val="888888"/>
                </a:solidFill>
                <a:effectLst/>
                <a:latin typeface="Courier New" panose="02070309020205020404" pitchFamily="49" charset="0"/>
              </a:rPr>
              <a:t>persegi</a:t>
            </a:r>
            <a:r>
              <a:rPr lang="en-US" sz="1200" b="0" i="0" dirty="0">
                <a:solidFill>
                  <a:srgbClr val="888888"/>
                </a:solidFill>
                <a:effectLst/>
                <a:latin typeface="Courier New" panose="02070309020205020404" pitchFamily="49" charset="0"/>
              </a:rPr>
              <a:t>)</a:t>
            </a:r>
            <a:endParaRPr lang="en-US" sz="1200" b="0" i="0" dirty="0">
              <a:solidFill>
                <a:srgbClr val="333333"/>
              </a:solidFill>
              <a:effectLst/>
              <a:latin typeface="Courier New" panose="02070309020205020404" pitchFamily="49" charset="0"/>
            </a:endParaRPr>
          </a:p>
          <a:p>
            <a:pPr marL="0" marR="0" indent="0" algn="l">
              <a:lnSpc>
                <a:spcPct val="56435"/>
              </a:lnSpc>
              <a:spcBef>
                <a:spcPts val="200"/>
              </a:spcBef>
              <a:buNone/>
            </a:pPr>
            <a:r>
              <a:rPr lang="en-US" sz="1200" b="0" i="0" dirty="0" err="1">
                <a:solidFill>
                  <a:srgbClr val="333333"/>
                </a:solidFill>
                <a:effectLst/>
                <a:latin typeface="Courier New" panose="02070309020205020404" pitchFamily="49" charset="0"/>
              </a:rPr>
              <a:t>titik_asal</a:t>
            </a:r>
            <a:r>
              <a:rPr lang="en-US" sz="1200" b="0" i="0" dirty="0">
                <a:solidFill>
                  <a:srgbClr val="333333"/>
                </a:solidFill>
                <a:effectLst/>
                <a:latin typeface="Courier New" panose="02070309020205020404" pitchFamily="49" charset="0"/>
              </a:rPr>
              <a:t> = np.float32([[</a:t>
            </a:r>
            <a:r>
              <a:rPr lang="en-US" sz="1200" b="1" i="0" dirty="0">
                <a:solidFill>
                  <a:srgbClr val="0000DD"/>
                </a:solidFill>
                <a:effectLst/>
                <a:latin typeface="Courier New" panose="02070309020205020404" pitchFamily="49" charset="0"/>
              </a:rPr>
              <a:t>50</a:t>
            </a:r>
            <a:r>
              <a:rPr lang="en-US" sz="1200" b="0" i="0" dirty="0">
                <a:solidFill>
                  <a:srgbClr val="333333"/>
                </a:solidFill>
                <a:effectLst/>
                <a:latin typeface="Courier New" panose="02070309020205020404" pitchFamily="49" charset="0"/>
              </a:rPr>
              <a:t>, </a:t>
            </a:r>
            <a:r>
              <a:rPr lang="en-US" sz="1200" b="1" i="0" dirty="0">
                <a:solidFill>
                  <a:srgbClr val="0000DD"/>
                </a:solidFill>
                <a:effectLst/>
                <a:latin typeface="Courier New" panose="02070309020205020404" pitchFamily="49" charset="0"/>
              </a:rPr>
              <a:t>50</a:t>
            </a:r>
            <a:r>
              <a:rPr lang="en-US" sz="1200" b="0" i="0" dirty="0">
                <a:solidFill>
                  <a:srgbClr val="333333"/>
                </a:solidFill>
                <a:effectLst/>
                <a:latin typeface="Courier New" panose="02070309020205020404" pitchFamily="49" charset="0"/>
              </a:rPr>
              <a:t>], [</a:t>
            </a:r>
            <a:r>
              <a:rPr lang="en-US" sz="1200" b="1" i="0" dirty="0">
                <a:solidFill>
                  <a:srgbClr val="0000DD"/>
                </a:solidFill>
                <a:effectLst/>
                <a:latin typeface="Courier New" panose="02070309020205020404" pitchFamily="49" charset="0"/>
              </a:rPr>
              <a:t>400</a:t>
            </a:r>
            <a:r>
              <a:rPr lang="en-US" sz="1200" b="0" i="0" dirty="0">
                <a:solidFill>
                  <a:srgbClr val="333333"/>
                </a:solidFill>
                <a:effectLst/>
                <a:latin typeface="Courier New" panose="02070309020205020404" pitchFamily="49" charset="0"/>
              </a:rPr>
              <a:t>, </a:t>
            </a:r>
            <a:r>
              <a:rPr lang="en-US" sz="1200" b="1" i="0" dirty="0">
                <a:solidFill>
                  <a:srgbClr val="0000DD"/>
                </a:solidFill>
                <a:effectLst/>
                <a:latin typeface="Courier New" panose="02070309020205020404" pitchFamily="49" charset="0"/>
              </a:rPr>
              <a:t>30</a:t>
            </a:r>
            <a:r>
              <a:rPr lang="en-US" sz="1200" b="0" i="0" dirty="0">
                <a:solidFill>
                  <a:srgbClr val="333333"/>
                </a:solidFill>
                <a:effectLst/>
                <a:latin typeface="Courier New" panose="02070309020205020404" pitchFamily="49" charset="0"/>
              </a:rPr>
              <a:t>], [</a:t>
            </a:r>
            <a:r>
              <a:rPr lang="en-US" sz="1200" b="1" i="0" dirty="0">
                <a:solidFill>
                  <a:srgbClr val="0000DD"/>
                </a:solidFill>
                <a:effectLst/>
                <a:latin typeface="Courier New" panose="02070309020205020404" pitchFamily="49" charset="0"/>
              </a:rPr>
              <a:t>30</a:t>
            </a:r>
            <a:r>
              <a:rPr lang="en-US" sz="1200" b="0" i="0" dirty="0">
                <a:solidFill>
                  <a:srgbClr val="333333"/>
                </a:solidFill>
                <a:effectLst/>
                <a:latin typeface="Courier New" panose="02070309020205020404" pitchFamily="49" charset="0"/>
              </a:rPr>
              <a:t>, </a:t>
            </a:r>
            <a:r>
              <a:rPr lang="en-US" sz="1200" b="1" i="0" dirty="0">
                <a:solidFill>
                  <a:srgbClr val="0000DD"/>
                </a:solidFill>
                <a:effectLst/>
                <a:latin typeface="Courier New" panose="02070309020205020404" pitchFamily="49" charset="0"/>
              </a:rPr>
              <a:t>500</a:t>
            </a:r>
            <a:r>
              <a:rPr lang="en-US" sz="1200" b="0" i="0" dirty="0">
                <a:solidFill>
                  <a:srgbClr val="333333"/>
                </a:solidFill>
                <a:effectLst/>
                <a:latin typeface="Courier New" panose="02070309020205020404" pitchFamily="49" charset="0"/>
              </a:rPr>
              <a:t>], [</a:t>
            </a:r>
            <a:r>
              <a:rPr lang="en-US" sz="1200" b="1" i="0" dirty="0">
                <a:solidFill>
                  <a:srgbClr val="0000DD"/>
                </a:solidFill>
                <a:effectLst/>
                <a:latin typeface="Courier New" panose="02070309020205020404" pitchFamily="49" charset="0"/>
              </a:rPr>
              <a:t>420</a:t>
            </a:r>
            <a:r>
              <a:rPr lang="en-US" sz="1200" b="0" i="0" dirty="0">
                <a:solidFill>
                  <a:srgbClr val="333333"/>
                </a:solidFill>
                <a:effectLst/>
                <a:latin typeface="Courier New" panose="02070309020205020404" pitchFamily="49" charset="0"/>
              </a:rPr>
              <a:t>, </a:t>
            </a:r>
            <a:r>
              <a:rPr lang="en-US" sz="1200" b="1" i="0" dirty="0">
                <a:solidFill>
                  <a:srgbClr val="0000DD"/>
                </a:solidFill>
                <a:effectLst/>
                <a:latin typeface="Courier New" panose="02070309020205020404" pitchFamily="49" charset="0"/>
              </a:rPr>
              <a:t>480</a:t>
            </a:r>
            <a:r>
              <a:rPr lang="en-US" sz="1200" b="0" i="0" dirty="0">
                <a:solidFill>
                  <a:srgbClr val="333333"/>
                </a:solidFill>
                <a:effectLst/>
                <a:latin typeface="Courier New" panose="02070309020205020404" pitchFamily="49" charset="0"/>
              </a:rPr>
              <a:t>]])</a:t>
            </a:r>
          </a:p>
          <a:p>
            <a:pPr marL="0" marR="0" indent="0" algn="l">
              <a:lnSpc>
                <a:spcPct val="56435"/>
              </a:lnSpc>
              <a:spcBef>
                <a:spcPts val="200"/>
              </a:spcBef>
              <a:buNone/>
            </a:pPr>
            <a:r>
              <a:rPr lang="en-US" sz="1200" b="0" i="0" dirty="0" err="1">
                <a:solidFill>
                  <a:srgbClr val="333333"/>
                </a:solidFill>
                <a:effectLst/>
                <a:latin typeface="Courier New" panose="02070309020205020404" pitchFamily="49" charset="0"/>
              </a:rPr>
              <a:t>titik_tujuan</a:t>
            </a:r>
            <a:r>
              <a:rPr lang="en-US" sz="1200" b="0" i="0" dirty="0">
                <a:solidFill>
                  <a:srgbClr val="333333"/>
                </a:solidFill>
                <a:effectLst/>
                <a:latin typeface="Courier New" panose="02070309020205020404" pitchFamily="49" charset="0"/>
              </a:rPr>
              <a:t> = np.float32([[</a:t>
            </a:r>
            <a:r>
              <a:rPr lang="en-US" sz="1200" b="1" i="0" dirty="0">
                <a:solidFill>
                  <a:srgbClr val="0000DD"/>
                </a:solidFill>
                <a:effectLst/>
                <a:latin typeface="Courier New" panose="02070309020205020404" pitchFamily="49" charset="0"/>
              </a:rPr>
              <a:t>0</a:t>
            </a:r>
            <a:r>
              <a:rPr lang="en-US" sz="1200" b="0" i="0" dirty="0">
                <a:solidFill>
                  <a:srgbClr val="333333"/>
                </a:solidFill>
                <a:effectLst/>
                <a:latin typeface="Courier New" panose="02070309020205020404" pitchFamily="49" charset="0"/>
              </a:rPr>
              <a:t>, </a:t>
            </a:r>
            <a:r>
              <a:rPr lang="en-US" sz="1200" b="1" i="0" dirty="0">
                <a:solidFill>
                  <a:srgbClr val="0000DD"/>
                </a:solidFill>
                <a:effectLst/>
                <a:latin typeface="Courier New" panose="02070309020205020404" pitchFamily="49" charset="0"/>
              </a:rPr>
              <a:t>0</a:t>
            </a:r>
            <a:r>
              <a:rPr lang="en-US" sz="1200" b="0" i="0" dirty="0">
                <a:solidFill>
                  <a:srgbClr val="333333"/>
                </a:solidFill>
                <a:effectLst/>
                <a:latin typeface="Courier New" panose="02070309020205020404" pitchFamily="49" charset="0"/>
              </a:rPr>
              <a:t>], [</a:t>
            </a:r>
            <a:r>
              <a:rPr lang="en-US" sz="1200" b="1" i="0" dirty="0">
                <a:solidFill>
                  <a:srgbClr val="0000DD"/>
                </a:solidFill>
                <a:effectLst/>
                <a:latin typeface="Courier New" panose="02070309020205020404" pitchFamily="49" charset="0"/>
              </a:rPr>
              <a:t>400</a:t>
            </a:r>
            <a:r>
              <a:rPr lang="en-US" sz="1200" b="0" i="0" dirty="0">
                <a:solidFill>
                  <a:srgbClr val="333333"/>
                </a:solidFill>
                <a:effectLst/>
                <a:latin typeface="Courier New" panose="02070309020205020404" pitchFamily="49" charset="0"/>
              </a:rPr>
              <a:t>, </a:t>
            </a:r>
            <a:r>
              <a:rPr lang="en-US" sz="1200" b="1" i="0" dirty="0">
                <a:solidFill>
                  <a:srgbClr val="0000DD"/>
                </a:solidFill>
                <a:effectLst/>
                <a:latin typeface="Courier New" panose="02070309020205020404" pitchFamily="49" charset="0"/>
              </a:rPr>
              <a:t>0</a:t>
            </a:r>
            <a:r>
              <a:rPr lang="en-US" sz="1200" b="0" i="0" dirty="0">
                <a:solidFill>
                  <a:srgbClr val="333333"/>
                </a:solidFill>
                <a:effectLst/>
                <a:latin typeface="Courier New" panose="02070309020205020404" pitchFamily="49" charset="0"/>
              </a:rPr>
              <a:t>], [</a:t>
            </a:r>
            <a:r>
              <a:rPr lang="en-US" sz="1200" b="1" i="0" dirty="0">
                <a:solidFill>
                  <a:srgbClr val="0000DD"/>
                </a:solidFill>
                <a:effectLst/>
                <a:latin typeface="Courier New" panose="02070309020205020404" pitchFamily="49" charset="0"/>
              </a:rPr>
              <a:t>0</a:t>
            </a:r>
            <a:r>
              <a:rPr lang="en-US" sz="1200" b="0" i="0" dirty="0">
                <a:solidFill>
                  <a:srgbClr val="333333"/>
                </a:solidFill>
                <a:effectLst/>
                <a:latin typeface="Courier New" panose="02070309020205020404" pitchFamily="49" charset="0"/>
              </a:rPr>
              <a:t>, </a:t>
            </a:r>
            <a:r>
              <a:rPr lang="en-US" sz="1200" b="1" i="0" dirty="0">
                <a:solidFill>
                  <a:srgbClr val="0000DD"/>
                </a:solidFill>
                <a:effectLst/>
                <a:latin typeface="Courier New" panose="02070309020205020404" pitchFamily="49" charset="0"/>
              </a:rPr>
              <a:t>500</a:t>
            </a:r>
            <a:r>
              <a:rPr lang="en-US" sz="1200" b="0" i="0" dirty="0">
                <a:solidFill>
                  <a:srgbClr val="333333"/>
                </a:solidFill>
                <a:effectLst/>
                <a:latin typeface="Courier New" panose="02070309020205020404" pitchFamily="49" charset="0"/>
              </a:rPr>
              <a:t>], [</a:t>
            </a:r>
            <a:r>
              <a:rPr lang="en-US" sz="1200" b="1" i="0" dirty="0">
                <a:solidFill>
                  <a:srgbClr val="0000DD"/>
                </a:solidFill>
                <a:effectLst/>
                <a:latin typeface="Courier New" panose="02070309020205020404" pitchFamily="49" charset="0"/>
              </a:rPr>
              <a:t>400</a:t>
            </a:r>
            <a:r>
              <a:rPr lang="en-US" sz="1200" b="0" i="0" dirty="0">
                <a:solidFill>
                  <a:srgbClr val="333333"/>
                </a:solidFill>
                <a:effectLst/>
                <a:latin typeface="Courier New" panose="02070309020205020404" pitchFamily="49" charset="0"/>
              </a:rPr>
              <a:t>, </a:t>
            </a:r>
            <a:r>
              <a:rPr lang="en-US" sz="1200" b="1" i="0" dirty="0">
                <a:solidFill>
                  <a:srgbClr val="0000DD"/>
                </a:solidFill>
                <a:effectLst/>
                <a:latin typeface="Courier New" panose="02070309020205020404" pitchFamily="49" charset="0"/>
              </a:rPr>
              <a:t>500</a:t>
            </a:r>
            <a:r>
              <a:rPr lang="en-US" sz="1200" b="0" i="0" dirty="0">
                <a:solidFill>
                  <a:srgbClr val="333333"/>
                </a:solidFill>
                <a:effectLst/>
                <a:latin typeface="Courier New" panose="02070309020205020404" pitchFamily="49" charset="0"/>
              </a:rPr>
              <a:t>]])</a:t>
            </a:r>
          </a:p>
          <a:p>
            <a:pPr marL="0" marR="0" indent="0" algn="l">
              <a:lnSpc>
                <a:spcPct val="56435"/>
              </a:lnSpc>
              <a:spcBef>
                <a:spcPts val="200"/>
              </a:spcBef>
              <a:buNone/>
            </a:pPr>
            <a:r>
              <a:rPr lang="en-US" sz="1200" b="0" i="0" dirty="0" err="1">
                <a:solidFill>
                  <a:srgbClr val="333333"/>
                </a:solidFill>
                <a:effectLst/>
                <a:latin typeface="Courier New" panose="02070309020205020404" pitchFamily="49" charset="0"/>
              </a:rPr>
              <a:t>matriks_perspektif</a:t>
            </a:r>
            <a:r>
              <a:rPr lang="en-US" sz="1200" b="0" i="0" dirty="0">
                <a:solidFill>
                  <a:srgbClr val="333333"/>
                </a:solidFill>
                <a:effectLst/>
                <a:latin typeface="Courier New" panose="02070309020205020404" pitchFamily="49" charset="0"/>
              </a:rPr>
              <a:t> = cv2.getPerspectiveTransform(</a:t>
            </a:r>
            <a:r>
              <a:rPr lang="en-US" sz="1200" b="0" i="0" dirty="0" err="1">
                <a:solidFill>
                  <a:srgbClr val="333333"/>
                </a:solidFill>
                <a:effectLst/>
                <a:latin typeface="Courier New" panose="02070309020205020404" pitchFamily="49" charset="0"/>
              </a:rPr>
              <a:t>titik_asal</a:t>
            </a:r>
            <a:r>
              <a:rPr lang="en-US" sz="1200" b="0" i="0" dirty="0">
                <a:solidFill>
                  <a:srgbClr val="333333"/>
                </a:solidFill>
                <a:effectLst/>
                <a:latin typeface="Courier New" panose="02070309020205020404" pitchFamily="49" charset="0"/>
              </a:rPr>
              <a:t>, </a:t>
            </a:r>
            <a:r>
              <a:rPr lang="en-US" sz="1200" b="0" i="0" dirty="0" err="1">
                <a:solidFill>
                  <a:srgbClr val="333333"/>
                </a:solidFill>
                <a:effectLst/>
                <a:latin typeface="Courier New" panose="02070309020205020404" pitchFamily="49" charset="0"/>
              </a:rPr>
              <a:t>titik_tujuan</a:t>
            </a:r>
            <a:r>
              <a:rPr lang="en-US" sz="1200" b="0" i="0" dirty="0">
                <a:solidFill>
                  <a:srgbClr val="333333"/>
                </a:solidFill>
                <a:effectLst/>
                <a:latin typeface="Courier New" panose="02070309020205020404" pitchFamily="49" charset="0"/>
              </a:rPr>
              <a:t>)</a:t>
            </a:r>
          </a:p>
          <a:p>
            <a:pPr marL="0" marR="0" indent="0" algn="l">
              <a:lnSpc>
                <a:spcPct val="56435"/>
              </a:lnSpc>
              <a:spcBef>
                <a:spcPts val="200"/>
              </a:spcBef>
              <a:buNone/>
            </a:pPr>
            <a:r>
              <a:rPr lang="en-US" sz="1200" b="0" i="0" dirty="0" err="1">
                <a:solidFill>
                  <a:srgbClr val="333333"/>
                </a:solidFill>
                <a:effectLst/>
                <a:latin typeface="Courier New" panose="02070309020205020404" pitchFamily="49" charset="0"/>
              </a:rPr>
              <a:t>citra_terkoreksi</a:t>
            </a:r>
            <a:r>
              <a:rPr lang="en-US" sz="1200" b="0" i="0" dirty="0">
                <a:solidFill>
                  <a:srgbClr val="333333"/>
                </a:solidFill>
                <a:effectLst/>
                <a:latin typeface="Courier New" panose="02070309020205020404" pitchFamily="49" charset="0"/>
              </a:rPr>
              <a:t> = cv2.warpPerspective(</a:t>
            </a:r>
            <a:r>
              <a:rPr lang="en-US" sz="1200" b="0" i="0" dirty="0" err="1">
                <a:solidFill>
                  <a:srgbClr val="333333"/>
                </a:solidFill>
                <a:effectLst/>
                <a:latin typeface="Courier New" panose="02070309020205020404" pitchFamily="49" charset="0"/>
              </a:rPr>
              <a:t>citra_gray</a:t>
            </a:r>
            <a:r>
              <a:rPr lang="en-US" sz="1200" b="0" i="0" dirty="0">
                <a:solidFill>
                  <a:srgbClr val="333333"/>
                </a:solidFill>
                <a:effectLst/>
                <a:latin typeface="Courier New" panose="02070309020205020404" pitchFamily="49" charset="0"/>
              </a:rPr>
              <a:t>, </a:t>
            </a:r>
            <a:r>
              <a:rPr lang="en-US" sz="1200" b="0" i="0" dirty="0" err="1">
                <a:solidFill>
                  <a:srgbClr val="333333"/>
                </a:solidFill>
                <a:effectLst/>
                <a:latin typeface="Courier New" panose="02070309020205020404" pitchFamily="49" charset="0"/>
              </a:rPr>
              <a:t>matriks_perspektif</a:t>
            </a:r>
            <a:r>
              <a:rPr lang="en-US" sz="1200" b="0" i="0" dirty="0">
                <a:solidFill>
                  <a:srgbClr val="333333"/>
                </a:solidFill>
                <a:effectLst/>
                <a:latin typeface="Courier New" panose="02070309020205020404" pitchFamily="49" charset="0"/>
              </a:rPr>
              <a:t>, (</a:t>
            </a:r>
            <a:r>
              <a:rPr lang="en-US" sz="1200" b="1" i="0" dirty="0">
                <a:solidFill>
                  <a:srgbClr val="0000DD"/>
                </a:solidFill>
                <a:effectLst/>
                <a:latin typeface="Courier New" panose="02070309020205020404" pitchFamily="49" charset="0"/>
              </a:rPr>
              <a:t>400</a:t>
            </a:r>
            <a:r>
              <a:rPr lang="en-US" sz="1200" b="0" i="0" dirty="0">
                <a:solidFill>
                  <a:srgbClr val="333333"/>
                </a:solidFill>
                <a:effectLst/>
                <a:latin typeface="Courier New" panose="02070309020205020404" pitchFamily="49" charset="0"/>
              </a:rPr>
              <a:t>, </a:t>
            </a:r>
            <a:r>
              <a:rPr lang="en-US" sz="1200" b="1" i="0" dirty="0">
                <a:solidFill>
                  <a:srgbClr val="0000DD"/>
                </a:solidFill>
                <a:effectLst/>
                <a:latin typeface="Courier New" panose="02070309020205020404" pitchFamily="49" charset="0"/>
              </a:rPr>
              <a:t>500</a:t>
            </a:r>
            <a:r>
              <a:rPr lang="en-US" sz="1200" b="0" i="0" dirty="0">
                <a:solidFill>
                  <a:srgbClr val="333333"/>
                </a:solidFill>
                <a:effectLst/>
                <a:latin typeface="Courier New" panose="02070309020205020404" pitchFamily="49" charset="0"/>
              </a:rPr>
              <a:t>))</a:t>
            </a:r>
          </a:p>
          <a:p>
            <a:pPr marL="0" marR="0" indent="0" algn="l">
              <a:lnSpc>
                <a:spcPct val="56435"/>
              </a:lnSpc>
              <a:spcBef>
                <a:spcPts val="200"/>
              </a:spcBef>
              <a:buNone/>
            </a:pPr>
            <a:endParaRPr lang="en-US" sz="1050" dirty="0"/>
          </a:p>
        </p:txBody>
      </p:sp>
      <mc:AlternateContent xmlns:mc="http://schemas.openxmlformats.org/markup-compatibility/2006">
        <mc:Choice xmlns:a14="http://schemas.microsoft.com/office/drawing/2010/main" Requires="a14">
          <p:sp>
            <p:nvSpPr>
              <p:cNvPr id="4" name="Text Placeholder 2">
                <a:extLst>
                  <a:ext uri="{FF2B5EF4-FFF2-40B4-BE49-F238E27FC236}">
                    <a16:creationId xmlns:a16="http://schemas.microsoft.com/office/drawing/2014/main" id="{D435F085-ED7A-D258-22C0-73AEDEB39216}"/>
                  </a:ext>
                </a:extLst>
              </p:cNvPr>
              <p:cNvSpPr txBox="1">
                <a:spLocks/>
              </p:cNvSpPr>
              <p:nvPr/>
            </p:nvSpPr>
            <p:spPr>
              <a:xfrm>
                <a:off x="363161" y="982041"/>
                <a:ext cx="8321408" cy="40963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spc="0">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spc="0">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spc="0">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spc="0">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spc="0">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spc="0">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spc="0">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spc="0">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spc="0">
                    <a:solidFill>
                      <a:schemeClr val="dk1"/>
                    </a:solidFill>
                    <a:latin typeface="Hanken Grotesk"/>
                    <a:ea typeface="Hanken Grotesk"/>
                    <a:cs typeface="Hanken Grotesk"/>
                    <a:sym typeface="Hanken Grotesk"/>
                  </a:defRPr>
                </a:lvl9pPr>
              </a:lstStyle>
              <a:p>
                <a:pPr marL="177800" indent="0">
                  <a:buNone/>
                </a:pPr>
                <a:r>
                  <a:rPr lang="en-US" dirty="0"/>
                  <a:t>Shift an image (translate it) by 50 pixels to the right </a:t>
                </a:r>
                <a14:m>
                  <m:oMath xmlns:m="http://schemas.openxmlformats.org/officeDocument/2006/math">
                    <m:r>
                      <a:rPr lang="en-US" i="1" dirty="0" smtClean="0">
                        <a:latin typeface="Cambria Math" panose="02040503050406030204" pitchFamily="18" charset="0"/>
                      </a:rPr>
                      <m:t>(</m:t>
                    </m:r>
                    <m:r>
                      <m:rPr>
                        <m:lit/>
                      </m:rPr>
                      <a:rPr lang="en-US" i="1" dirty="0">
                        <a:latin typeface="Cambria Math" panose="02040503050406030204" pitchFamily="18" charset="0"/>
                      </a:rPr>
                      <m:t>(</m:t>
                    </m:r>
                    <m:sSub>
                      <m:sSubPr>
                        <m:ctrlPr>
                          <a:rPr lang="en-US" i="1">
                            <a:solidFill>
                              <a:srgbClr val="333333"/>
                            </a:solidFill>
                            <a:latin typeface="Cambria Math" panose="02040503050406030204" pitchFamily="18" charset="0"/>
                          </a:rPr>
                        </m:ctrlPr>
                      </m:sSubPr>
                      <m:e>
                        <m:r>
                          <a:rPr lang="en-US" i="1">
                            <a:solidFill>
                              <a:srgbClr val="333333"/>
                            </a:solidFill>
                            <a:latin typeface="Cambria Math" panose="02040503050406030204" pitchFamily="18" charset="0"/>
                          </a:rPr>
                          <m:t>𝑡</m:t>
                        </m:r>
                      </m:e>
                      <m:sub>
                        <m:r>
                          <a:rPr lang="en-US" b="0" i="1" smtClean="0">
                            <a:solidFill>
                              <a:srgbClr val="333333"/>
                            </a:solidFill>
                            <a:latin typeface="Cambria Math" panose="02040503050406030204" pitchFamily="18" charset="0"/>
                          </a:rPr>
                          <m:t>𝑥</m:t>
                        </m:r>
                      </m:sub>
                    </m:sSub>
                    <m:r>
                      <a:rPr lang="en-US" i="1" dirty="0">
                        <a:latin typeface="Cambria Math" panose="02040503050406030204" pitchFamily="18" charset="0"/>
                      </a:rPr>
                      <m:t>=50</m:t>
                    </m:r>
                    <m:r>
                      <m:rPr>
                        <m:lit/>
                      </m:rPr>
                      <a:rPr lang="en-US" i="1" dirty="0">
                        <a:latin typeface="Cambria Math" panose="02040503050406030204" pitchFamily="18" charset="0"/>
                      </a:rPr>
                      <m:t>)</m:t>
                    </m:r>
                    <m:r>
                      <a:rPr lang="en-US" i="1" dirty="0">
                        <a:latin typeface="Cambria Math" panose="02040503050406030204" pitchFamily="18" charset="0"/>
                      </a:rPr>
                      <m:t>) </m:t>
                    </m:r>
                  </m:oMath>
                </a14:m>
                <a:r>
                  <a:rPr lang="en-US" dirty="0"/>
                  <a:t>and </a:t>
                </a:r>
                <a14:m>
                  <m:oMath xmlns:m="http://schemas.openxmlformats.org/officeDocument/2006/math">
                    <m:r>
                      <a:rPr lang="en-US" i="1" dirty="0" smtClean="0">
                        <a:latin typeface="Cambria Math" panose="02040503050406030204" pitchFamily="18" charset="0"/>
                      </a:rPr>
                      <m:t>30</m:t>
                    </m:r>
                  </m:oMath>
                </a14:m>
                <a:r>
                  <a:rPr lang="en-US" dirty="0"/>
                  <a:t> pixels down </a:t>
                </a:r>
                <a14:m>
                  <m:oMath xmlns:m="http://schemas.openxmlformats.org/officeDocument/2006/math">
                    <m:r>
                      <a:rPr lang="en-US" i="1" dirty="0" smtClean="0">
                        <a:latin typeface="Cambria Math" panose="02040503050406030204" pitchFamily="18" charset="0"/>
                      </a:rPr>
                      <m:t>(</m:t>
                    </m:r>
                    <m:r>
                      <m:rPr>
                        <m:lit/>
                      </m:rPr>
                      <a:rPr lang="en-US" i="1" dirty="0">
                        <a:latin typeface="Cambria Math" panose="02040503050406030204" pitchFamily="18" charset="0"/>
                      </a:rPr>
                      <m:t>(</m:t>
                    </m:r>
                    <m:sSub>
                      <m:sSubPr>
                        <m:ctrlPr>
                          <a:rPr lang="en-US" i="1">
                            <a:solidFill>
                              <a:srgbClr val="333333"/>
                            </a:solidFill>
                            <a:latin typeface="Cambria Math" panose="02040503050406030204" pitchFamily="18" charset="0"/>
                          </a:rPr>
                        </m:ctrlPr>
                      </m:sSubPr>
                      <m:e>
                        <m:r>
                          <a:rPr lang="en-US" i="1">
                            <a:solidFill>
                              <a:srgbClr val="333333"/>
                            </a:solidFill>
                            <a:latin typeface="Cambria Math" panose="02040503050406030204" pitchFamily="18" charset="0"/>
                          </a:rPr>
                          <m:t>𝑡</m:t>
                        </m:r>
                      </m:e>
                      <m:sub>
                        <m:r>
                          <a:rPr lang="en-US" i="1">
                            <a:solidFill>
                              <a:srgbClr val="333333"/>
                            </a:solidFill>
                            <a:latin typeface="Cambria Math" panose="02040503050406030204" pitchFamily="18" charset="0"/>
                          </a:rPr>
                          <m:t>𝑦</m:t>
                        </m:r>
                      </m:sub>
                    </m:sSub>
                    <m:r>
                      <a:rPr lang="en-US" i="1" dirty="0">
                        <a:latin typeface="Cambria Math" panose="02040503050406030204" pitchFamily="18" charset="0"/>
                      </a:rPr>
                      <m:t>=30</m:t>
                    </m:r>
                    <m:r>
                      <m:rPr>
                        <m:lit/>
                      </m:rPr>
                      <a:rPr lang="en-US" i="1" dirty="0">
                        <a:latin typeface="Cambria Math" panose="02040503050406030204" pitchFamily="18" charset="0"/>
                      </a:rPr>
                      <m:t>)</m:t>
                    </m:r>
                    <m:r>
                      <a:rPr lang="en-US" i="1" dirty="0">
                        <a:latin typeface="Cambria Math" panose="02040503050406030204" pitchFamily="18" charset="0"/>
                      </a:rPr>
                      <m:t>)</m:t>
                    </m:r>
                  </m:oMath>
                </a14:m>
                <a:endParaRPr lang="en-US" dirty="0"/>
              </a:p>
            </p:txBody>
          </p:sp>
        </mc:Choice>
        <mc:Fallback>
          <p:sp>
            <p:nvSpPr>
              <p:cNvPr id="4" name="Text Placeholder 2">
                <a:extLst>
                  <a:ext uri="{FF2B5EF4-FFF2-40B4-BE49-F238E27FC236}">
                    <a16:creationId xmlns:a16="http://schemas.microsoft.com/office/drawing/2014/main" id="{D435F085-ED7A-D258-22C0-73AEDEB39216}"/>
                  </a:ext>
                </a:extLst>
              </p:cNvPr>
              <p:cNvSpPr txBox="1">
                <a:spLocks noRot="1" noChangeAspect="1" noMove="1" noResize="1" noEditPoints="1" noAdjustHandles="1" noChangeArrowheads="1" noChangeShapeType="1" noTextEdit="1"/>
              </p:cNvSpPr>
              <p:nvPr/>
            </p:nvSpPr>
            <p:spPr>
              <a:xfrm>
                <a:off x="363161" y="982041"/>
                <a:ext cx="8321408" cy="409631"/>
              </a:xfrm>
              <a:prstGeom prst="rect">
                <a:avLst/>
              </a:prstGeom>
              <a:blipFill>
                <a:blip r:embed="rId3"/>
                <a:stretch>
                  <a:fillRect b="-8955"/>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36715566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15509-57D3-331E-0748-27F4074793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7EC1EA-5D2A-3D88-DDB8-F0D353F4A798}"/>
              </a:ext>
            </a:extLst>
          </p:cNvPr>
          <p:cNvSpPr>
            <a:spLocks noGrp="1"/>
          </p:cNvSpPr>
          <p:nvPr>
            <p:ph type="title"/>
          </p:nvPr>
        </p:nvSpPr>
        <p:spPr/>
        <p:txBody>
          <a:bodyPr/>
          <a:lstStyle/>
          <a:p>
            <a:r>
              <a:rPr lang="en-US" dirty="0"/>
              <a:t>Interpretation in Image</a:t>
            </a:r>
          </a:p>
        </p:txBody>
      </p:sp>
      <p:pic>
        <p:nvPicPr>
          <p:cNvPr id="8" name="Picture 7">
            <a:extLst>
              <a:ext uri="{FF2B5EF4-FFF2-40B4-BE49-F238E27FC236}">
                <a16:creationId xmlns:a16="http://schemas.microsoft.com/office/drawing/2014/main" id="{3D9B0FC3-5275-2A86-BB8F-A61B35225312}"/>
              </a:ext>
            </a:extLst>
          </p:cNvPr>
          <p:cNvPicPr>
            <a:picLocks noChangeAspect="1"/>
          </p:cNvPicPr>
          <p:nvPr/>
        </p:nvPicPr>
        <p:blipFill>
          <a:blip r:embed="rId3"/>
          <a:stretch>
            <a:fillRect/>
          </a:stretch>
        </p:blipFill>
        <p:spPr>
          <a:xfrm>
            <a:off x="552543" y="1017725"/>
            <a:ext cx="7597325" cy="4038869"/>
          </a:xfrm>
          <a:prstGeom prst="rect">
            <a:avLst/>
          </a:prstGeom>
        </p:spPr>
      </p:pic>
    </p:spTree>
    <p:extLst>
      <p:ext uri="{BB962C8B-B14F-4D97-AF65-F5344CB8AC3E}">
        <p14:creationId xmlns:p14="http://schemas.microsoft.com/office/powerpoint/2010/main" val="22556432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8B299-13E7-F6F5-04D5-2A9C5080EBE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C297BE9-782E-1780-B139-CE787199DF68}"/>
              </a:ext>
            </a:extLst>
          </p:cNvPr>
          <p:cNvPicPr>
            <a:picLocks noChangeAspect="1"/>
          </p:cNvPicPr>
          <p:nvPr/>
        </p:nvPicPr>
        <p:blipFill>
          <a:blip r:embed="rId3"/>
          <a:stretch>
            <a:fillRect/>
          </a:stretch>
        </p:blipFill>
        <p:spPr>
          <a:xfrm>
            <a:off x="826674" y="814820"/>
            <a:ext cx="7597326" cy="4204676"/>
          </a:xfrm>
          <a:prstGeom prst="rect">
            <a:avLst/>
          </a:prstGeom>
        </p:spPr>
      </p:pic>
      <p:sp>
        <p:nvSpPr>
          <p:cNvPr id="2" name="Title 1">
            <a:extLst>
              <a:ext uri="{FF2B5EF4-FFF2-40B4-BE49-F238E27FC236}">
                <a16:creationId xmlns:a16="http://schemas.microsoft.com/office/drawing/2014/main" id="{C9BE640A-5CAC-2562-D7F1-A3774C8CC529}"/>
              </a:ext>
            </a:extLst>
          </p:cNvPr>
          <p:cNvSpPr>
            <a:spLocks noGrp="1"/>
          </p:cNvSpPr>
          <p:nvPr>
            <p:ph type="title"/>
          </p:nvPr>
        </p:nvSpPr>
        <p:spPr/>
        <p:txBody>
          <a:bodyPr/>
          <a:lstStyle/>
          <a:p>
            <a:r>
              <a:rPr lang="en-US" dirty="0"/>
              <a:t>Interpretation in Image</a:t>
            </a:r>
          </a:p>
        </p:txBody>
      </p:sp>
    </p:spTree>
    <p:extLst>
      <p:ext uri="{BB962C8B-B14F-4D97-AF65-F5344CB8AC3E}">
        <p14:creationId xmlns:p14="http://schemas.microsoft.com/office/powerpoint/2010/main" val="36319809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FDAE2-154F-3035-FDAB-529D5A43B2CB}"/>
              </a:ext>
            </a:extLst>
          </p:cNvPr>
          <p:cNvSpPr>
            <a:spLocks noGrp="1"/>
          </p:cNvSpPr>
          <p:nvPr>
            <p:ph type="title"/>
          </p:nvPr>
        </p:nvSpPr>
        <p:spPr/>
        <p:txBody>
          <a:bodyPr/>
          <a:lstStyle/>
          <a:p>
            <a:r>
              <a:rPr lang="en-US" dirty="0"/>
              <a:t>IMAGE RESTORATION</a:t>
            </a:r>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157E4DC4-7BA8-F449-234C-D18FD08CAB47}"/>
                  </a:ext>
                </a:extLst>
              </p:cNvPr>
              <p:cNvSpPr>
                <a:spLocks noGrp="1"/>
              </p:cNvSpPr>
              <p:nvPr>
                <p:ph type="body" idx="1"/>
              </p:nvPr>
            </p:nvSpPr>
            <p:spPr/>
            <p:txBody>
              <a:bodyPr/>
              <a:lstStyle/>
              <a:p>
                <a:r>
                  <a:rPr lang="en-US" dirty="0"/>
                  <a:t>Image restoration is the process of recovering an image that has undergone degradation—such as that caused by noise, motion blur, or lens defocus—to bring it as close as possible to its original state. </a:t>
                </a:r>
              </a:p>
              <a:p>
                <a:r>
                  <a:rPr lang="en-US" dirty="0"/>
                  <a:t>Unlike image enhancement (such as contrast adjustment), which is subjective and aims to improve visual appeal, restoration is objective and relies on mathematical models of the degradation process.</a:t>
                </a:r>
              </a:p>
              <a:p>
                <a:r>
                  <a:rPr lang="en-US" dirty="0"/>
                  <a:t>General image degradation model: </a:t>
                </a:r>
                <a14:m>
                  <m:oMath xmlns:m="http://schemas.openxmlformats.org/officeDocument/2006/math">
                    <m:r>
                      <a:rPr lang="es-ES" i="1" dirty="0" smtClean="0">
                        <a:latin typeface="Cambria Math" panose="02040503050406030204" pitchFamily="18" charset="0"/>
                      </a:rPr>
                      <m:t>𝑔</m:t>
                    </m:r>
                    <m:r>
                      <a:rPr lang="es-ES" i="1" dirty="0" smtClean="0">
                        <a:latin typeface="Cambria Math" panose="02040503050406030204" pitchFamily="18" charset="0"/>
                      </a:rPr>
                      <m:t>(</m:t>
                    </m:r>
                    <m:r>
                      <a:rPr lang="es-ES" i="1" dirty="0" err="1">
                        <a:latin typeface="Cambria Math" panose="02040503050406030204" pitchFamily="18" charset="0"/>
                      </a:rPr>
                      <m:t>𝑥</m:t>
                    </m:r>
                    <m:r>
                      <a:rPr lang="es-ES" i="1" dirty="0" err="1">
                        <a:latin typeface="Cambria Math" panose="02040503050406030204" pitchFamily="18" charset="0"/>
                      </a:rPr>
                      <m:t>,</m:t>
                    </m:r>
                    <m:r>
                      <a:rPr lang="es-ES" i="1" dirty="0" err="1">
                        <a:latin typeface="Cambria Math" panose="02040503050406030204" pitchFamily="18" charset="0"/>
                      </a:rPr>
                      <m:t>𝑦</m:t>
                    </m:r>
                    <m:r>
                      <a:rPr lang="es-ES" i="1" dirty="0">
                        <a:latin typeface="Cambria Math" panose="02040503050406030204" pitchFamily="18" charset="0"/>
                      </a:rPr>
                      <m:t>) = </m:t>
                    </m:r>
                    <m:r>
                      <a:rPr lang="es-ES" i="1" dirty="0">
                        <a:latin typeface="Cambria Math" panose="02040503050406030204" pitchFamily="18" charset="0"/>
                      </a:rPr>
                      <m:t>ℎ</m:t>
                    </m:r>
                    <m:r>
                      <a:rPr lang="es-ES" i="1" dirty="0">
                        <a:latin typeface="Cambria Math" panose="02040503050406030204" pitchFamily="18" charset="0"/>
                      </a:rPr>
                      <m:t>(</m:t>
                    </m:r>
                    <m:r>
                      <a:rPr lang="es-ES" i="1" dirty="0" err="1">
                        <a:latin typeface="Cambria Math" panose="02040503050406030204" pitchFamily="18" charset="0"/>
                      </a:rPr>
                      <m:t>𝑥</m:t>
                    </m:r>
                    <m:r>
                      <a:rPr lang="es-ES" i="1" dirty="0" err="1">
                        <a:latin typeface="Cambria Math" panose="02040503050406030204" pitchFamily="18" charset="0"/>
                      </a:rPr>
                      <m:t>,</m:t>
                    </m:r>
                    <m:r>
                      <a:rPr lang="es-ES" i="1" dirty="0" err="1">
                        <a:latin typeface="Cambria Math" panose="02040503050406030204" pitchFamily="18" charset="0"/>
                      </a:rPr>
                      <m:t>𝑦</m:t>
                    </m:r>
                    <m:r>
                      <a:rPr lang="es-ES" i="1" dirty="0">
                        <a:latin typeface="Cambria Math" panose="02040503050406030204" pitchFamily="18" charset="0"/>
                      </a:rPr>
                      <m:t>) ∗ </m:t>
                    </m:r>
                    <m:r>
                      <a:rPr lang="es-ES" i="1" dirty="0">
                        <a:latin typeface="Cambria Math" panose="02040503050406030204" pitchFamily="18" charset="0"/>
                      </a:rPr>
                      <m:t>𝑓</m:t>
                    </m:r>
                    <m:r>
                      <a:rPr lang="es-ES" i="1" dirty="0">
                        <a:latin typeface="Cambria Math" panose="02040503050406030204" pitchFamily="18" charset="0"/>
                      </a:rPr>
                      <m:t>(</m:t>
                    </m:r>
                    <m:r>
                      <a:rPr lang="es-ES" i="1" dirty="0" err="1">
                        <a:latin typeface="Cambria Math" panose="02040503050406030204" pitchFamily="18" charset="0"/>
                      </a:rPr>
                      <m:t>𝑥</m:t>
                    </m:r>
                    <m:r>
                      <a:rPr lang="es-ES" i="1" dirty="0" err="1">
                        <a:latin typeface="Cambria Math" panose="02040503050406030204" pitchFamily="18" charset="0"/>
                      </a:rPr>
                      <m:t>,</m:t>
                    </m:r>
                    <m:r>
                      <a:rPr lang="es-ES" i="1" dirty="0" err="1">
                        <a:latin typeface="Cambria Math" panose="02040503050406030204" pitchFamily="18" charset="0"/>
                      </a:rPr>
                      <m:t>𝑦</m:t>
                    </m:r>
                    <m:r>
                      <a:rPr lang="es-ES" i="1" dirty="0">
                        <a:latin typeface="Cambria Math" panose="02040503050406030204" pitchFamily="18" charset="0"/>
                      </a:rPr>
                      <m:t>) + </m:t>
                    </m:r>
                    <m:r>
                      <a:rPr lang="es-ES" i="1" dirty="0">
                        <a:latin typeface="Cambria Math" panose="02040503050406030204" pitchFamily="18" charset="0"/>
                      </a:rPr>
                      <m:t>𝜂</m:t>
                    </m:r>
                    <m:r>
                      <a:rPr lang="es-ES" i="1" dirty="0">
                        <a:latin typeface="Cambria Math" panose="02040503050406030204" pitchFamily="18" charset="0"/>
                      </a:rPr>
                      <m:t>(</m:t>
                    </m:r>
                    <m:r>
                      <a:rPr lang="es-ES" i="1" dirty="0" err="1">
                        <a:latin typeface="Cambria Math" panose="02040503050406030204" pitchFamily="18" charset="0"/>
                      </a:rPr>
                      <m:t>𝑥</m:t>
                    </m:r>
                    <m:r>
                      <a:rPr lang="es-ES" i="1" dirty="0" err="1">
                        <a:latin typeface="Cambria Math" panose="02040503050406030204" pitchFamily="18" charset="0"/>
                      </a:rPr>
                      <m:t>,</m:t>
                    </m:r>
                    <m:r>
                      <a:rPr lang="es-ES" i="1" dirty="0" err="1">
                        <a:latin typeface="Cambria Math" panose="02040503050406030204" pitchFamily="18" charset="0"/>
                      </a:rPr>
                      <m:t>𝑦</m:t>
                    </m:r>
                    <m:r>
                      <a:rPr lang="es-ES" i="1" dirty="0">
                        <a:latin typeface="Cambria Math" panose="02040503050406030204" pitchFamily="18" charset="0"/>
                      </a:rPr>
                      <m:t>)</m:t>
                    </m:r>
                  </m:oMath>
                </a14:m>
                <a:endParaRPr lang="en-US" dirty="0"/>
              </a:p>
              <a:p>
                <a:pPr marL="177800" indent="0">
                  <a:buNone/>
                </a:pPr>
                <a:r>
                  <a:rPr lang="en-US" dirty="0"/>
                  <a:t>With</a:t>
                </a:r>
              </a:p>
              <a:p>
                <a14:m>
                  <m:oMath xmlns:m="http://schemas.openxmlformats.org/officeDocument/2006/math">
                    <m:r>
                      <a:rPr lang="en-US" i="1" dirty="0" smtClean="0">
                        <a:latin typeface="Cambria Math" panose="02040503050406030204" pitchFamily="18" charset="0"/>
                      </a:rPr>
                      <m:t>𝑓</m:t>
                    </m:r>
                    <m:r>
                      <a:rPr lang="en-US" i="1" dirty="0" smtClean="0">
                        <a:latin typeface="Cambria Math" panose="02040503050406030204" pitchFamily="18" charset="0"/>
                      </a:rPr>
                      <m:t>(</m:t>
                    </m:r>
                    <m:r>
                      <a:rPr lang="en-US" i="1" dirty="0" err="1">
                        <a:latin typeface="Cambria Math" panose="02040503050406030204" pitchFamily="18" charset="0"/>
                      </a:rPr>
                      <m:t>𝑥</m:t>
                    </m:r>
                    <m:r>
                      <a:rPr lang="en-US" i="1" dirty="0" err="1">
                        <a:latin typeface="Cambria Math" panose="02040503050406030204" pitchFamily="18" charset="0"/>
                      </a:rPr>
                      <m:t>,</m:t>
                    </m:r>
                    <m:r>
                      <a:rPr lang="en-US" i="1" dirty="0" err="1">
                        <a:latin typeface="Cambria Math" panose="02040503050406030204" pitchFamily="18" charset="0"/>
                      </a:rPr>
                      <m:t>𝑦</m:t>
                    </m:r>
                  </m:oMath>
                </a14:m>
                <a:r>
                  <a:rPr lang="en-US" dirty="0"/>
                  <a:t>) = original image (the one to be restored) </a:t>
                </a:r>
              </a:p>
              <a:p>
                <a14:m>
                  <m:oMath xmlns:m="http://schemas.openxmlformats.org/officeDocument/2006/math">
                    <m:r>
                      <a:rPr lang="en-US" i="1" dirty="0" smtClean="0">
                        <a:latin typeface="Cambria Math" panose="02040503050406030204" pitchFamily="18" charset="0"/>
                      </a:rPr>
                      <m:t>ℎ</m:t>
                    </m:r>
                    <m:r>
                      <a:rPr lang="en-US" i="1" dirty="0" smtClean="0">
                        <a:latin typeface="Cambria Math" panose="02040503050406030204" pitchFamily="18" charset="0"/>
                      </a:rPr>
                      <m:t>(</m:t>
                    </m:r>
                    <m:r>
                      <a:rPr lang="en-US" i="1" dirty="0" err="1">
                        <a:latin typeface="Cambria Math" panose="02040503050406030204" pitchFamily="18" charset="0"/>
                      </a:rPr>
                      <m:t>𝑥</m:t>
                    </m:r>
                    <m:r>
                      <a:rPr lang="en-US" i="1" dirty="0" err="1">
                        <a:latin typeface="Cambria Math" panose="02040503050406030204" pitchFamily="18" charset="0"/>
                      </a:rPr>
                      <m:t>,</m:t>
                    </m:r>
                    <m:r>
                      <a:rPr lang="en-US" i="1" dirty="0" err="1">
                        <a:latin typeface="Cambria Math" panose="02040503050406030204" pitchFamily="18" charset="0"/>
                      </a:rPr>
                      <m:t>𝑦</m:t>
                    </m:r>
                    <m:r>
                      <a:rPr lang="en-US" i="1" dirty="0">
                        <a:latin typeface="Cambria Math" panose="02040503050406030204" pitchFamily="18" charset="0"/>
                      </a:rPr>
                      <m:t>) </m:t>
                    </m:r>
                  </m:oMath>
                </a14:m>
                <a:r>
                  <a:rPr lang="en-US" dirty="0"/>
                  <a:t>= degradation function (e.g., blur kernel), applied via convolution (*)</a:t>
                </a:r>
              </a:p>
              <a:p>
                <a14:m>
                  <m:oMath xmlns:m="http://schemas.openxmlformats.org/officeDocument/2006/math">
                    <m:r>
                      <a:rPr lang="en-US" i="1" dirty="0" smtClean="0">
                        <a:latin typeface="Cambria Math" panose="02040503050406030204" pitchFamily="18" charset="0"/>
                      </a:rPr>
                      <m:t>𝜂</m:t>
                    </m:r>
                    <m:r>
                      <a:rPr lang="en-US" i="1" dirty="0" smtClean="0">
                        <a:latin typeface="Cambria Math" panose="02040503050406030204" pitchFamily="18" charset="0"/>
                      </a:rPr>
                      <m:t>(</m:t>
                    </m:r>
                    <m:r>
                      <a:rPr lang="en-US" i="1" dirty="0" err="1">
                        <a:latin typeface="Cambria Math" panose="02040503050406030204" pitchFamily="18" charset="0"/>
                      </a:rPr>
                      <m:t>𝑥</m:t>
                    </m:r>
                    <m:r>
                      <a:rPr lang="en-US" i="1" dirty="0" err="1">
                        <a:latin typeface="Cambria Math" panose="02040503050406030204" pitchFamily="18" charset="0"/>
                      </a:rPr>
                      <m:t>,</m:t>
                    </m:r>
                    <m:r>
                      <a:rPr lang="en-US" i="1" dirty="0" err="1">
                        <a:latin typeface="Cambria Math" panose="02040503050406030204" pitchFamily="18" charset="0"/>
                      </a:rPr>
                      <m:t>𝑦</m:t>
                    </m:r>
                    <m:r>
                      <a:rPr lang="en-US" i="1" dirty="0">
                        <a:latin typeface="Cambria Math" panose="02040503050406030204" pitchFamily="18" charset="0"/>
                      </a:rPr>
                      <m:t>) </m:t>
                    </m:r>
                  </m:oMath>
                </a14:m>
                <a:r>
                  <a:rPr lang="en-US" dirty="0"/>
                  <a:t>= Additive Noise: Electronic interference in the camera sensor or transmission interference that produces speckles (such as Salt &amp; Pepper noise or Gaussian noise).</a:t>
                </a:r>
              </a:p>
              <a:p>
                <a14:m>
                  <m:oMath xmlns:m="http://schemas.openxmlformats.org/officeDocument/2006/math">
                    <m:r>
                      <a:rPr lang="en-US" i="1" dirty="0" smtClean="0">
                        <a:latin typeface="Cambria Math" panose="02040503050406030204" pitchFamily="18" charset="0"/>
                      </a:rPr>
                      <m:t>𝑔</m:t>
                    </m:r>
                    <m:r>
                      <a:rPr lang="en-US" i="1" dirty="0" smtClean="0">
                        <a:latin typeface="Cambria Math" panose="02040503050406030204" pitchFamily="18" charset="0"/>
                      </a:rPr>
                      <m:t>(</m:t>
                    </m:r>
                    <m:r>
                      <a:rPr lang="en-US" i="1" dirty="0" err="1">
                        <a:latin typeface="Cambria Math" panose="02040503050406030204" pitchFamily="18" charset="0"/>
                      </a:rPr>
                      <m:t>𝑥</m:t>
                    </m:r>
                    <m:r>
                      <a:rPr lang="en-US" i="1" dirty="0" err="1">
                        <a:latin typeface="Cambria Math" panose="02040503050406030204" pitchFamily="18" charset="0"/>
                      </a:rPr>
                      <m:t>,</m:t>
                    </m:r>
                    <m:r>
                      <a:rPr lang="en-US" i="1" dirty="0" err="1">
                        <a:latin typeface="Cambria Math" panose="02040503050406030204" pitchFamily="18" charset="0"/>
                      </a:rPr>
                      <m:t>𝑦</m:t>
                    </m:r>
                    <m:r>
                      <a:rPr lang="en-US" i="1" dirty="0">
                        <a:latin typeface="Cambria Math" panose="02040503050406030204" pitchFamily="18" charset="0"/>
                      </a:rPr>
                      <m:t>) </m:t>
                    </m:r>
                  </m:oMath>
                </a14:m>
                <a:r>
                  <a:rPr lang="en-US" dirty="0"/>
                  <a:t>= degraded image (the one we have)</a:t>
                </a:r>
              </a:p>
            </p:txBody>
          </p:sp>
        </mc:Choice>
        <mc:Fallback>
          <p:sp>
            <p:nvSpPr>
              <p:cNvPr id="3" name="Text Placeholder 2">
                <a:extLst>
                  <a:ext uri="{FF2B5EF4-FFF2-40B4-BE49-F238E27FC236}">
                    <a16:creationId xmlns:a16="http://schemas.microsoft.com/office/drawing/2014/main" id="{157E4DC4-7BA8-F449-234C-D18FD08CAB47}"/>
                  </a:ext>
                </a:extLst>
              </p:cNvPr>
              <p:cNvSpPr>
                <a:spLocks noGrp="1" noRot="1" noChangeAspect="1" noMove="1" noResize="1" noEditPoints="1" noAdjustHandles="1" noChangeArrowheads="1" noChangeShapeType="1" noTextEdit="1"/>
              </p:cNvSpPr>
              <p:nvPr>
                <p:ph type="body" idx="1"/>
              </p:nvPr>
            </p:nvSpPr>
            <p:spPr>
              <a:blipFill>
                <a:blip r:embed="rId2"/>
                <a:stretch>
                  <a:fillRect r="-237" b="-4331"/>
                </a:stretch>
              </a:blipFill>
            </p:spPr>
            <p:txBody>
              <a:bodyPr/>
              <a:lstStyle/>
              <a:p>
                <a:r>
                  <a:rPr lang="en-US">
                    <a:noFill/>
                  </a:rPr>
                  <a:t> </a:t>
                </a:r>
              </a:p>
            </p:txBody>
          </p:sp>
        </mc:Fallback>
      </mc:AlternateContent>
    </p:spTree>
    <p:extLst>
      <p:ext uri="{BB962C8B-B14F-4D97-AF65-F5344CB8AC3E}">
        <p14:creationId xmlns:p14="http://schemas.microsoft.com/office/powerpoint/2010/main" val="14564999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136C2-D2B5-06EC-0351-E9889039E4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1D136D-9D7D-3975-1485-F7D0ED7CC6ED}"/>
              </a:ext>
            </a:extLst>
          </p:cNvPr>
          <p:cNvSpPr>
            <a:spLocks noGrp="1"/>
          </p:cNvSpPr>
          <p:nvPr>
            <p:ph type="title"/>
          </p:nvPr>
        </p:nvSpPr>
        <p:spPr/>
        <p:txBody>
          <a:bodyPr/>
          <a:lstStyle/>
          <a:p>
            <a:r>
              <a:rPr lang="en-US" dirty="0"/>
              <a:t>IMAGE RESTORATION</a:t>
            </a:r>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16EFB65F-0606-7B3A-AA98-7ACF295E3D60}"/>
                  </a:ext>
                </a:extLst>
              </p:cNvPr>
              <p:cNvSpPr>
                <a:spLocks noGrp="1"/>
              </p:cNvSpPr>
              <p:nvPr>
                <p:ph type="body" idx="1"/>
              </p:nvPr>
            </p:nvSpPr>
            <p:spPr/>
            <p:txBody>
              <a:bodyPr/>
              <a:lstStyle/>
              <a:p>
                <a:r>
                  <a:rPr lang="en-US" dirty="0"/>
                  <a:t>Here are some of the primary methods used in Python to restore the image:</a:t>
                </a:r>
              </a:p>
              <a:p>
                <a:pPr lvl="1"/>
                <a:r>
                  <a:rPr lang="en-US" dirty="0"/>
                  <a:t>Inverse Filtering (Filter Invers)</a:t>
                </a:r>
              </a:p>
              <a:p>
                <a:pPr marL="609600" lvl="1" indent="0">
                  <a:buNone/>
                </a:pPr>
                <a:r>
                  <a:rPr lang="en-US" dirty="0"/>
                  <a:t>	 Original Image Estimation Formula: </a:t>
                </a:r>
                <a14:m>
                  <m:oMath xmlns:m="http://schemas.openxmlformats.org/officeDocument/2006/math">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𝐹</m:t>
                        </m:r>
                      </m:e>
                    </m:acc>
                    <m:r>
                      <a:rPr lang="en-US" i="1" dirty="0" smtClean="0">
                        <a:latin typeface="Cambria Math" panose="02040503050406030204" pitchFamily="18" charset="0"/>
                      </a:rPr>
                      <m:t> </m:t>
                    </m:r>
                    <m:d>
                      <m:dPr>
                        <m:ctrlPr>
                          <a:rPr lang="en-US" i="1" dirty="0" err="1" smtClean="0">
                            <a:latin typeface="Cambria Math" panose="02040503050406030204" pitchFamily="18" charset="0"/>
                          </a:rPr>
                        </m:ctrlPr>
                      </m:dPr>
                      <m:e>
                        <m:r>
                          <a:rPr lang="en-US" i="1" dirty="0" err="1" smtClean="0">
                            <a:latin typeface="Cambria Math" panose="02040503050406030204" pitchFamily="18" charset="0"/>
                          </a:rPr>
                          <m:t>𝑢</m:t>
                        </m:r>
                        <m:r>
                          <a:rPr lang="en-US" i="1" dirty="0" err="1" smtClean="0">
                            <a:latin typeface="Cambria Math" panose="02040503050406030204" pitchFamily="18" charset="0"/>
                          </a:rPr>
                          <m:t>,</m:t>
                        </m:r>
                        <m:r>
                          <a:rPr lang="en-US" i="1" dirty="0" err="1" smtClean="0">
                            <a:latin typeface="Cambria Math" panose="02040503050406030204" pitchFamily="18" charset="0"/>
                          </a:rPr>
                          <m:t>𝑣</m:t>
                        </m:r>
                      </m:e>
                    </m:d>
                    <m:r>
                      <a:rPr lang="en-US" b="0" i="1" dirty="0" smtClean="0">
                        <a:latin typeface="Cambria Math" panose="02040503050406030204" pitchFamily="18" charset="0"/>
                      </a:rPr>
                      <m:t>=</m:t>
                    </m:r>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𝐺</m:t>
                        </m:r>
                        <m:r>
                          <a:rPr lang="en-US" b="0" i="1" dirty="0" smtClean="0">
                            <a:latin typeface="Cambria Math" panose="02040503050406030204" pitchFamily="18" charset="0"/>
                          </a:rPr>
                          <m:t>(</m:t>
                        </m:r>
                        <m:r>
                          <a:rPr lang="en-US" b="0" i="1" dirty="0" smtClean="0">
                            <a:latin typeface="Cambria Math" panose="02040503050406030204" pitchFamily="18" charset="0"/>
                          </a:rPr>
                          <m:t>𝑢</m:t>
                        </m:r>
                        <m:r>
                          <a:rPr lang="en-US" b="0" i="1" dirty="0" smtClean="0">
                            <a:latin typeface="Cambria Math" panose="02040503050406030204" pitchFamily="18" charset="0"/>
                          </a:rPr>
                          <m:t>,</m:t>
                        </m:r>
                        <m:r>
                          <a:rPr lang="en-US" b="0" i="1" dirty="0" smtClean="0">
                            <a:latin typeface="Cambria Math" panose="02040503050406030204" pitchFamily="18" charset="0"/>
                          </a:rPr>
                          <m:t>𝑣</m:t>
                        </m:r>
                        <m:r>
                          <a:rPr lang="en-US" b="0" i="1" dirty="0" smtClean="0">
                            <a:latin typeface="Cambria Math" panose="02040503050406030204" pitchFamily="18" charset="0"/>
                          </a:rPr>
                          <m:t>)</m:t>
                        </m:r>
                      </m:num>
                      <m:den>
                        <m:r>
                          <a:rPr lang="en-US" b="0" i="1" dirty="0" smtClean="0">
                            <a:latin typeface="Cambria Math" panose="02040503050406030204" pitchFamily="18" charset="0"/>
                          </a:rPr>
                          <m:t>𝐻</m:t>
                        </m:r>
                        <m:r>
                          <a:rPr lang="en-US" b="0" i="1" dirty="0" smtClean="0">
                            <a:latin typeface="Cambria Math" panose="02040503050406030204" pitchFamily="18" charset="0"/>
                          </a:rPr>
                          <m:t>(</m:t>
                        </m:r>
                        <m:r>
                          <a:rPr lang="en-US" b="0" i="1" dirty="0" smtClean="0">
                            <a:latin typeface="Cambria Math" panose="02040503050406030204" pitchFamily="18" charset="0"/>
                          </a:rPr>
                          <m:t>𝑢</m:t>
                        </m:r>
                        <m:r>
                          <a:rPr lang="en-US" b="0" i="1" dirty="0" smtClean="0">
                            <a:latin typeface="Cambria Math" panose="02040503050406030204" pitchFamily="18" charset="0"/>
                          </a:rPr>
                          <m:t>,</m:t>
                        </m:r>
                        <m:r>
                          <a:rPr lang="en-US" b="0" i="1" dirty="0" smtClean="0">
                            <a:latin typeface="Cambria Math" panose="02040503050406030204" pitchFamily="18" charset="0"/>
                          </a:rPr>
                          <m:t>𝑣</m:t>
                        </m:r>
                        <m:r>
                          <a:rPr lang="en-US" b="0" i="1" dirty="0" smtClean="0">
                            <a:latin typeface="Cambria Math" panose="02040503050406030204" pitchFamily="18" charset="0"/>
                          </a:rPr>
                          <m:t>)</m:t>
                        </m:r>
                      </m:den>
                    </m:f>
                  </m:oMath>
                </a14:m>
                <a:endParaRPr lang="en-US" dirty="0"/>
              </a:p>
              <a:p>
                <a:pPr lvl="1" indent="0">
                  <a:buNone/>
                </a:pPr>
                <a:r>
                  <a:rPr lang="en-US" dirty="0"/>
                  <a:t>Where F̂ is the estimate of the original image, G is the Fourier transform of the degraded image, and H is the Fourier transform of the degradation function.</a:t>
                </a:r>
              </a:p>
              <a:p>
                <a:pPr lvl="1" indent="0">
                  <a:buNone/>
                </a:pPr>
                <a:endParaRPr lang="en-US" dirty="0"/>
              </a:p>
              <a:p>
                <a:pPr lvl="1"/>
                <a:r>
                  <a:rPr lang="en-US" dirty="0"/>
                  <a:t>Wiener Filtering (Filter Wiener) </a:t>
                </a:r>
                <a14:m>
                  <m:oMath xmlns:m="http://schemas.openxmlformats.org/officeDocument/2006/math">
                    <m:acc>
                      <m:accPr>
                        <m:chr m:val="̂"/>
                        <m:ctrlPr>
                          <a:rPr lang="en-US" i="1" dirty="0">
                            <a:latin typeface="Cambria Math" panose="02040503050406030204" pitchFamily="18" charset="0"/>
                          </a:rPr>
                        </m:ctrlPr>
                      </m:accPr>
                      <m:e>
                        <m:r>
                          <a:rPr lang="en-US" i="1" dirty="0">
                            <a:latin typeface="Cambria Math" panose="02040503050406030204" pitchFamily="18" charset="0"/>
                          </a:rPr>
                          <m:t>𝐹</m:t>
                        </m:r>
                      </m:e>
                    </m:acc>
                    <m:r>
                      <a:rPr lang="en-US" i="1" dirty="0">
                        <a:latin typeface="Cambria Math" panose="02040503050406030204" pitchFamily="18" charset="0"/>
                      </a:rPr>
                      <m:t> </m:t>
                    </m:r>
                    <m:d>
                      <m:dPr>
                        <m:ctrlPr>
                          <a:rPr lang="en-US" i="1" dirty="0" err="1">
                            <a:latin typeface="Cambria Math" panose="02040503050406030204" pitchFamily="18" charset="0"/>
                          </a:rPr>
                        </m:ctrlPr>
                      </m:dPr>
                      <m:e>
                        <m:r>
                          <a:rPr lang="en-US" i="1" dirty="0" err="1">
                            <a:latin typeface="Cambria Math" panose="02040503050406030204" pitchFamily="18" charset="0"/>
                          </a:rPr>
                          <m:t>𝑢</m:t>
                        </m:r>
                        <m:r>
                          <a:rPr lang="en-US" i="1" dirty="0" err="1">
                            <a:latin typeface="Cambria Math" panose="02040503050406030204" pitchFamily="18" charset="0"/>
                          </a:rPr>
                          <m:t>,</m:t>
                        </m:r>
                        <m:r>
                          <a:rPr lang="en-US" i="1" dirty="0" err="1">
                            <a:latin typeface="Cambria Math" panose="02040503050406030204" pitchFamily="18" charset="0"/>
                          </a:rPr>
                          <m:t>𝑣</m:t>
                        </m:r>
                      </m:e>
                    </m:d>
                    <m:r>
                      <a:rPr lang="en-US" i="1" dirty="0">
                        <a:latin typeface="Cambria Math" panose="02040503050406030204" pitchFamily="18" charset="0"/>
                      </a:rPr>
                      <m:t>=</m:t>
                    </m:r>
                    <m:d>
                      <m:dPr>
                        <m:begChr m:val="["/>
                        <m:endChr m:val="]"/>
                        <m:ctrlPr>
                          <a:rPr lang="en-US" i="1" dirty="0" smtClean="0">
                            <a:latin typeface="Cambria Math" panose="02040503050406030204" pitchFamily="18" charset="0"/>
                          </a:rPr>
                        </m:ctrlPr>
                      </m:dPr>
                      <m:e>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1</m:t>
                            </m:r>
                          </m:num>
                          <m:den>
                            <m:r>
                              <a:rPr lang="en-US" b="0" i="1" dirty="0" smtClean="0">
                                <a:latin typeface="Cambria Math" panose="02040503050406030204" pitchFamily="18" charset="0"/>
                              </a:rPr>
                              <m:t>𝐻</m:t>
                            </m:r>
                            <m:d>
                              <m:dPr>
                                <m:ctrlPr>
                                  <a:rPr lang="en-US" b="0" i="1" dirty="0" smtClean="0">
                                    <a:latin typeface="Cambria Math" panose="02040503050406030204" pitchFamily="18" charset="0"/>
                                  </a:rPr>
                                </m:ctrlPr>
                              </m:dPr>
                              <m:e>
                                <m:r>
                                  <a:rPr lang="en-US" b="0" i="1" dirty="0" smtClean="0">
                                    <a:latin typeface="Cambria Math" panose="02040503050406030204" pitchFamily="18" charset="0"/>
                                  </a:rPr>
                                  <m:t>𝑢</m:t>
                                </m:r>
                                <m:r>
                                  <a:rPr lang="en-US" b="0" i="1" dirty="0" smtClean="0">
                                    <a:latin typeface="Cambria Math" panose="02040503050406030204" pitchFamily="18" charset="0"/>
                                  </a:rPr>
                                  <m:t>,</m:t>
                                </m:r>
                                <m:r>
                                  <a:rPr lang="en-US" b="0" i="1" dirty="0" smtClean="0">
                                    <a:latin typeface="Cambria Math" panose="02040503050406030204" pitchFamily="18" charset="0"/>
                                  </a:rPr>
                                  <m:t>𝑣</m:t>
                                </m:r>
                              </m:e>
                            </m:d>
                          </m:den>
                        </m:f>
                        <m:r>
                          <a:rPr lang="en-US" b="0" i="1" dirty="0" smtClean="0">
                            <a:latin typeface="Cambria Math" panose="02040503050406030204" pitchFamily="18" charset="0"/>
                          </a:rPr>
                          <m:t> </m:t>
                        </m:r>
                        <m:f>
                          <m:fPr>
                            <m:ctrlPr>
                              <a:rPr lang="en-US" b="0" i="1" dirty="0" smtClean="0">
                                <a:latin typeface="Cambria Math" panose="02040503050406030204" pitchFamily="18" charset="0"/>
                              </a:rPr>
                            </m:ctrlPr>
                          </m:fPr>
                          <m:num>
                            <m:sSup>
                              <m:sSupPr>
                                <m:ctrlPr>
                                  <a:rPr lang="en-US" b="0" i="1" dirty="0" smtClean="0">
                                    <a:latin typeface="Cambria Math" panose="02040503050406030204" pitchFamily="18" charset="0"/>
                                  </a:rPr>
                                </m:ctrlPr>
                              </m:sSupPr>
                              <m:e>
                                <m:d>
                                  <m:dPr>
                                    <m:begChr m:val="|"/>
                                    <m:endChr m:val="|"/>
                                    <m:ctrlPr>
                                      <a:rPr lang="en-US" b="0" i="1" dirty="0" smtClean="0">
                                        <a:latin typeface="Cambria Math" panose="02040503050406030204" pitchFamily="18" charset="0"/>
                                      </a:rPr>
                                    </m:ctrlPr>
                                  </m:dPr>
                                  <m:e>
                                    <m:r>
                                      <a:rPr lang="en-US" b="0" i="1" dirty="0" smtClean="0">
                                        <a:latin typeface="Cambria Math" panose="02040503050406030204" pitchFamily="18" charset="0"/>
                                      </a:rPr>
                                      <m:t>𝐻</m:t>
                                    </m:r>
                                    <m:d>
                                      <m:dPr>
                                        <m:ctrlPr>
                                          <a:rPr lang="en-US" b="0" i="1" dirty="0" smtClean="0">
                                            <a:latin typeface="Cambria Math" panose="02040503050406030204" pitchFamily="18" charset="0"/>
                                          </a:rPr>
                                        </m:ctrlPr>
                                      </m:dPr>
                                      <m:e>
                                        <m:r>
                                          <a:rPr lang="en-US" b="0" i="1" dirty="0" smtClean="0">
                                            <a:latin typeface="Cambria Math" panose="02040503050406030204" pitchFamily="18" charset="0"/>
                                          </a:rPr>
                                          <m:t>𝑢</m:t>
                                        </m:r>
                                        <m:r>
                                          <a:rPr lang="en-US" b="0" i="1" dirty="0" smtClean="0">
                                            <a:latin typeface="Cambria Math" panose="02040503050406030204" pitchFamily="18" charset="0"/>
                                          </a:rPr>
                                          <m:t>,</m:t>
                                        </m:r>
                                        <m:r>
                                          <a:rPr lang="en-US" b="0" i="1" dirty="0" smtClean="0">
                                            <a:latin typeface="Cambria Math" panose="02040503050406030204" pitchFamily="18" charset="0"/>
                                          </a:rPr>
                                          <m:t>𝑣</m:t>
                                        </m:r>
                                      </m:e>
                                    </m:d>
                                  </m:e>
                                </m:d>
                              </m:e>
                              <m:sup>
                                <m:r>
                                  <a:rPr lang="en-US" b="0" i="1" dirty="0" smtClean="0">
                                    <a:latin typeface="Cambria Math" panose="02040503050406030204" pitchFamily="18" charset="0"/>
                                  </a:rPr>
                                  <m:t>2</m:t>
                                </m:r>
                              </m:sup>
                            </m:sSup>
                          </m:num>
                          <m:den>
                            <m:sSup>
                              <m:sSupPr>
                                <m:ctrlPr>
                                  <a:rPr lang="en-US" i="1" dirty="0">
                                    <a:latin typeface="Cambria Math" panose="02040503050406030204" pitchFamily="18" charset="0"/>
                                  </a:rPr>
                                </m:ctrlPr>
                              </m:sSupPr>
                              <m:e>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𝐻</m:t>
                                    </m:r>
                                    <m:d>
                                      <m:dPr>
                                        <m:ctrlPr>
                                          <a:rPr lang="en-US" i="1" dirty="0">
                                            <a:latin typeface="Cambria Math" panose="02040503050406030204" pitchFamily="18" charset="0"/>
                                          </a:rPr>
                                        </m:ctrlPr>
                                      </m:dPr>
                                      <m:e>
                                        <m:r>
                                          <a:rPr lang="en-US" i="1" dirty="0">
                                            <a:latin typeface="Cambria Math" panose="02040503050406030204" pitchFamily="18" charset="0"/>
                                          </a:rPr>
                                          <m:t>𝑢</m:t>
                                        </m:r>
                                        <m:r>
                                          <a:rPr lang="en-US" i="1" dirty="0">
                                            <a:latin typeface="Cambria Math" panose="02040503050406030204" pitchFamily="18" charset="0"/>
                                          </a:rPr>
                                          <m:t>,</m:t>
                                        </m:r>
                                        <m:r>
                                          <a:rPr lang="en-US" i="1" dirty="0">
                                            <a:latin typeface="Cambria Math" panose="02040503050406030204" pitchFamily="18" charset="0"/>
                                          </a:rPr>
                                          <m:t>𝑣</m:t>
                                        </m:r>
                                      </m:e>
                                    </m:d>
                                  </m:e>
                                </m:d>
                              </m:e>
                              <m:sup>
                                <m:r>
                                  <a:rPr lang="en-US" i="1" dirty="0">
                                    <a:latin typeface="Cambria Math" panose="02040503050406030204" pitchFamily="18" charset="0"/>
                                  </a:rPr>
                                  <m:t>2</m:t>
                                </m:r>
                              </m:sup>
                            </m:sSup>
                            <m:r>
                              <a:rPr lang="en-US" b="0" i="1" dirty="0" smtClean="0">
                                <a:latin typeface="Cambria Math" panose="02040503050406030204" pitchFamily="18" charset="0"/>
                              </a:rPr>
                              <m:t>+</m:t>
                            </m:r>
                            <m:r>
                              <a:rPr lang="en-US" b="0" i="1" dirty="0" smtClean="0">
                                <a:latin typeface="Cambria Math" panose="02040503050406030204" pitchFamily="18" charset="0"/>
                              </a:rPr>
                              <m:t>𝐾</m:t>
                            </m:r>
                          </m:den>
                        </m:f>
                      </m:e>
                    </m:d>
                    <m:r>
                      <a:rPr lang="en-US" b="0" i="1" dirty="0" smtClean="0">
                        <a:latin typeface="Cambria Math" panose="02040503050406030204" pitchFamily="18" charset="0"/>
                      </a:rPr>
                      <m:t>𝐺</m:t>
                    </m:r>
                    <m:r>
                      <a:rPr lang="en-US" b="0" i="1" dirty="0" smtClean="0">
                        <a:latin typeface="Cambria Math" panose="02040503050406030204" pitchFamily="18" charset="0"/>
                      </a:rPr>
                      <m:t>(</m:t>
                    </m:r>
                    <m:r>
                      <a:rPr lang="en-US" b="0" i="1" dirty="0" smtClean="0">
                        <a:latin typeface="Cambria Math" panose="02040503050406030204" pitchFamily="18" charset="0"/>
                      </a:rPr>
                      <m:t>𝑢</m:t>
                    </m:r>
                    <m:r>
                      <a:rPr lang="en-US" b="0" i="1" dirty="0" smtClean="0">
                        <a:latin typeface="Cambria Math" panose="02040503050406030204" pitchFamily="18" charset="0"/>
                      </a:rPr>
                      <m:t>,</m:t>
                    </m:r>
                    <m:r>
                      <a:rPr lang="en-US" b="0" i="1" dirty="0" smtClean="0">
                        <a:latin typeface="Cambria Math" panose="02040503050406030204" pitchFamily="18" charset="0"/>
                      </a:rPr>
                      <m:t>𝑣</m:t>
                    </m:r>
                    <m:r>
                      <a:rPr lang="en-US" b="0" i="1" dirty="0" smtClean="0">
                        <a:latin typeface="Cambria Math" panose="02040503050406030204" pitchFamily="18" charset="0"/>
                      </a:rPr>
                      <m:t>)</m:t>
                    </m:r>
                  </m:oMath>
                </a14:m>
                <a:endParaRPr lang="en-US" dirty="0"/>
              </a:p>
              <a:p>
                <a:pPr lvl="1">
                  <a:buNone/>
                </a:pPr>
                <a:r>
                  <a:rPr lang="en-US" dirty="0"/>
                  <a:t>	 Where K is a constant approximating the ratio of noise power to original image power.</a:t>
                </a:r>
              </a:p>
            </p:txBody>
          </p:sp>
        </mc:Choice>
        <mc:Fallback>
          <p:sp>
            <p:nvSpPr>
              <p:cNvPr id="3" name="Text Placeholder 2">
                <a:extLst>
                  <a:ext uri="{FF2B5EF4-FFF2-40B4-BE49-F238E27FC236}">
                    <a16:creationId xmlns:a16="http://schemas.microsoft.com/office/drawing/2014/main" id="{16EFB65F-0606-7B3A-AA98-7ACF295E3D60}"/>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4520243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7D97D-B1E8-A180-0121-558195F956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65C15A-AF08-E81B-6589-8856774AC7F1}"/>
              </a:ext>
            </a:extLst>
          </p:cNvPr>
          <p:cNvSpPr>
            <a:spLocks noGrp="1"/>
          </p:cNvSpPr>
          <p:nvPr>
            <p:ph type="title"/>
          </p:nvPr>
        </p:nvSpPr>
        <p:spPr/>
        <p:txBody>
          <a:bodyPr/>
          <a:lstStyle/>
          <a:p>
            <a:r>
              <a:rPr lang="en-US" dirty="0"/>
              <a:t>Example to matrix</a:t>
            </a:r>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C74442FF-47F0-9414-AAB4-0F0B803DA096}"/>
                  </a:ext>
                </a:extLst>
              </p:cNvPr>
              <p:cNvSpPr>
                <a:spLocks noGrp="1"/>
              </p:cNvSpPr>
              <p:nvPr>
                <p:ph type="body" idx="1"/>
              </p:nvPr>
            </p:nvSpPr>
            <p:spPr>
              <a:xfrm>
                <a:off x="385464" y="1116737"/>
                <a:ext cx="8321408" cy="3233100"/>
              </a:xfrm>
            </p:spPr>
            <p:txBody>
              <a:bodyPr/>
              <a:lstStyle/>
              <a:p>
                <a:r>
                  <a:rPr lang="en-US" dirty="0"/>
                  <a:t>Given a 4×4 image matrix degraded by salt-and-pepper noise:</a:t>
                </a:r>
                <a:r>
                  <a:rPr lang="en-US" b="0" i="0" dirty="0">
                    <a:solidFill>
                      <a:srgbClr val="333333"/>
                    </a:solidFill>
                    <a:effectLst/>
                    <a:latin typeface="Courier New" panose="02070309020205020404" pitchFamily="49" charset="0"/>
                  </a:rPr>
                  <a:t>: </a:t>
                </a:r>
              </a:p>
              <a:p>
                <a:pPr marL="177800" indent="0">
                  <a:buNone/>
                </a:pPr>
                <a14:m>
                  <m:oMathPara xmlns:m="http://schemas.openxmlformats.org/officeDocument/2006/math">
                    <m:oMath>
                      <m:r>
                        <a:rPr lang="en-US" b="0" i="1" smtClean="0">
                          <a:solidFill>
                            <a:srgbClr val="333333"/>
                          </a:solidFill>
                          <a:effectLst/>
                          <a:latin typeface="Cambria Math" panose="02040503050406030204" pitchFamily="18" charset="0"/>
                        </a:rPr>
                        <m:t>𝐼</m:t>
                      </m:r>
                      <m:r>
                        <a:rPr lang="en-US" b="0" i="1" smtClean="0">
                          <a:solidFill>
                            <a:srgbClr val="333333"/>
                          </a:solidFill>
                          <a:effectLst/>
                          <a:latin typeface="Cambria Math" panose="02040503050406030204" pitchFamily="18" charset="0"/>
                        </a:rPr>
                        <m:t>=</m:t>
                      </m:r>
                      <m:d>
                        <m:dPr>
                          <m:begChr m:val="["/>
                          <m:endChr m:val="]"/>
                          <m:ctrlPr>
                            <a:rPr lang="en-US" b="0" i="1" smtClean="0">
                              <a:solidFill>
                                <a:srgbClr val="333333"/>
                              </a:solidFill>
                              <a:effectLst/>
                              <a:latin typeface="Cambria Math" panose="02040503050406030204" pitchFamily="18" charset="0"/>
                            </a:rPr>
                          </m:ctrlPr>
                        </m:dPr>
                        <m:e>
                          <m:m>
                            <m:mPr>
                              <m:mcs>
                                <m:mc>
                                  <m:mcPr>
                                    <m:count m:val="4"/>
                                    <m:mcJc m:val="center"/>
                                  </m:mcPr>
                                </m:mc>
                              </m:mcs>
                              <m:ctrlPr>
                                <a:rPr lang="en-US" b="0" i="1" smtClean="0">
                                  <a:solidFill>
                                    <a:srgbClr val="333333"/>
                                  </a:solidFill>
                                  <a:effectLst/>
                                  <a:latin typeface="Cambria Math" panose="02040503050406030204" pitchFamily="18" charset="0"/>
                                </a:rPr>
                              </m:ctrlPr>
                            </m:mPr>
                            <m:mr>
                              <m:e>
                                <m:r>
                                  <m:rPr>
                                    <m:brk m:alnAt="7"/>
                                  </m:rPr>
                                  <a:rPr lang="en-US" b="0" i="1" smtClean="0">
                                    <a:solidFill>
                                      <a:srgbClr val="333333"/>
                                    </a:solidFill>
                                    <a:effectLst/>
                                    <a:latin typeface="Cambria Math" panose="02040503050406030204" pitchFamily="18" charset="0"/>
                                  </a:rPr>
                                  <m:t>5</m:t>
                                </m:r>
                                <m:r>
                                  <m:rPr>
                                    <m:brk m:alnAt="7"/>
                                  </m:rPr>
                                  <a:rPr lang="en-US" b="0" i="1" smtClean="0">
                                    <a:solidFill>
                                      <a:srgbClr val="333333"/>
                                    </a:solidFill>
                                    <a:effectLst/>
                                    <a:latin typeface="Cambria Math" panose="02040503050406030204" pitchFamily="18" charset="0"/>
                                  </a:rPr>
                                  <m:t>0</m:t>
                                </m:r>
                              </m:e>
                              <m:e>
                                <m:r>
                                  <a:rPr lang="en-US" b="0" i="1" smtClean="0">
                                    <a:solidFill>
                                      <a:srgbClr val="333333"/>
                                    </a:solidFill>
                                    <a:effectLst/>
                                    <a:latin typeface="Cambria Math" panose="02040503050406030204" pitchFamily="18" charset="0"/>
                                  </a:rPr>
                                  <m:t>52</m:t>
                                </m:r>
                              </m:e>
                              <m:e>
                                <m:r>
                                  <a:rPr lang="en-US" b="0" i="1" smtClean="0">
                                    <a:solidFill>
                                      <a:srgbClr val="333333"/>
                                    </a:solidFill>
                                    <a:effectLst/>
                                    <a:latin typeface="Cambria Math" panose="02040503050406030204" pitchFamily="18" charset="0"/>
                                  </a:rPr>
                                  <m:t>255</m:t>
                                </m:r>
                              </m:e>
                              <m:e>
                                <m:r>
                                  <a:rPr lang="en-US" b="0" i="1" smtClean="0">
                                    <a:solidFill>
                                      <a:srgbClr val="333333"/>
                                    </a:solidFill>
                                    <a:effectLst/>
                                    <a:latin typeface="Cambria Math" panose="02040503050406030204" pitchFamily="18" charset="0"/>
                                  </a:rPr>
                                  <m:t>48</m:t>
                                </m:r>
                              </m:e>
                            </m:mr>
                            <m:mr>
                              <m:e>
                                <m:r>
                                  <a:rPr lang="en-US" b="0" i="1" smtClean="0">
                                    <a:solidFill>
                                      <a:srgbClr val="333333"/>
                                    </a:solidFill>
                                    <a:effectLst/>
                                    <a:latin typeface="Cambria Math" panose="02040503050406030204" pitchFamily="18" charset="0"/>
                                  </a:rPr>
                                  <m:t>51</m:t>
                                </m:r>
                              </m:e>
                              <m:e>
                                <m:r>
                                  <a:rPr lang="en-US" b="0" i="1" smtClean="0">
                                    <a:solidFill>
                                      <a:srgbClr val="333333"/>
                                    </a:solidFill>
                                    <a:effectLst/>
                                    <a:latin typeface="Cambria Math" panose="02040503050406030204" pitchFamily="18" charset="0"/>
                                  </a:rPr>
                                  <m:t>0</m:t>
                                </m:r>
                              </m:e>
                              <m:e>
                                <m:r>
                                  <a:rPr lang="en-US" b="0" i="1" smtClean="0">
                                    <a:solidFill>
                                      <a:srgbClr val="333333"/>
                                    </a:solidFill>
                                    <a:effectLst/>
                                    <a:latin typeface="Cambria Math" panose="02040503050406030204" pitchFamily="18" charset="0"/>
                                  </a:rPr>
                                  <m:t>50</m:t>
                                </m:r>
                              </m:e>
                              <m:e>
                                <m:r>
                                  <a:rPr lang="en-US" b="0" i="1" smtClean="0">
                                    <a:solidFill>
                                      <a:srgbClr val="333333"/>
                                    </a:solidFill>
                                    <a:effectLst/>
                                    <a:latin typeface="Cambria Math" panose="02040503050406030204" pitchFamily="18" charset="0"/>
                                  </a:rPr>
                                  <m:t>49</m:t>
                                </m:r>
                              </m:e>
                            </m:mr>
                            <m:mr>
                              <m:e>
                                <m:r>
                                  <a:rPr lang="en-US" b="0" i="1" smtClean="0">
                                    <a:solidFill>
                                      <a:srgbClr val="333333"/>
                                    </a:solidFill>
                                    <a:effectLst/>
                                    <a:latin typeface="Cambria Math" panose="02040503050406030204" pitchFamily="18" charset="0"/>
                                  </a:rPr>
                                  <m:t>255</m:t>
                                </m:r>
                              </m:e>
                              <m:e>
                                <m:r>
                                  <a:rPr lang="en-US" b="0" i="1" smtClean="0">
                                    <a:solidFill>
                                      <a:srgbClr val="333333"/>
                                    </a:solidFill>
                                    <a:effectLst/>
                                    <a:latin typeface="Cambria Math" panose="02040503050406030204" pitchFamily="18" charset="0"/>
                                  </a:rPr>
                                  <m:t>50</m:t>
                                </m:r>
                              </m:e>
                              <m:e>
                                <m:r>
                                  <a:rPr lang="en-US" b="0" i="1" smtClean="0">
                                    <a:solidFill>
                                      <a:srgbClr val="333333"/>
                                    </a:solidFill>
                                    <a:effectLst/>
                                    <a:latin typeface="Cambria Math" panose="02040503050406030204" pitchFamily="18" charset="0"/>
                                  </a:rPr>
                                  <m:t>51</m:t>
                                </m:r>
                              </m:e>
                              <m:e>
                                <m:r>
                                  <a:rPr lang="en-US" b="0" i="1" smtClean="0">
                                    <a:solidFill>
                                      <a:srgbClr val="333333"/>
                                    </a:solidFill>
                                    <a:effectLst/>
                                    <a:latin typeface="Cambria Math" panose="02040503050406030204" pitchFamily="18" charset="0"/>
                                  </a:rPr>
                                  <m:t>0</m:t>
                                </m:r>
                              </m:e>
                            </m:mr>
                            <m:mr>
                              <m:e>
                                <m:r>
                                  <a:rPr lang="en-US" b="0" i="1" smtClean="0">
                                    <a:solidFill>
                                      <a:srgbClr val="333333"/>
                                    </a:solidFill>
                                    <a:effectLst/>
                                    <a:latin typeface="Cambria Math" panose="02040503050406030204" pitchFamily="18" charset="0"/>
                                  </a:rPr>
                                  <m:t>49</m:t>
                                </m:r>
                              </m:e>
                              <m:e>
                                <m:r>
                                  <a:rPr lang="en-US" b="0" i="1" smtClean="0">
                                    <a:solidFill>
                                      <a:srgbClr val="333333"/>
                                    </a:solidFill>
                                    <a:effectLst/>
                                    <a:latin typeface="Cambria Math" panose="02040503050406030204" pitchFamily="18" charset="0"/>
                                  </a:rPr>
                                  <m:t>48</m:t>
                                </m:r>
                              </m:e>
                              <m:e>
                                <m:r>
                                  <a:rPr lang="en-US" b="0" i="1" smtClean="0">
                                    <a:solidFill>
                                      <a:srgbClr val="333333"/>
                                    </a:solidFill>
                                    <a:effectLst/>
                                    <a:latin typeface="Cambria Math" panose="02040503050406030204" pitchFamily="18" charset="0"/>
                                  </a:rPr>
                                  <m:t>52</m:t>
                                </m:r>
                              </m:e>
                              <m:e>
                                <m:r>
                                  <a:rPr lang="en-US" b="0" i="1" smtClean="0">
                                    <a:solidFill>
                                      <a:srgbClr val="333333"/>
                                    </a:solidFill>
                                    <a:effectLst/>
                                    <a:latin typeface="Cambria Math" panose="02040503050406030204" pitchFamily="18" charset="0"/>
                                  </a:rPr>
                                  <m:t>50</m:t>
                                </m:r>
                              </m:e>
                            </m:mr>
                          </m:m>
                        </m:e>
                      </m:d>
                    </m:oMath>
                  </m:oMathPara>
                </a14:m>
                <a:endParaRPr lang="en-US" b="0" i="0" dirty="0">
                  <a:solidFill>
                    <a:srgbClr val="333333"/>
                  </a:solidFill>
                  <a:effectLst/>
                  <a:latin typeface="Courier New" panose="02070309020205020404" pitchFamily="49" charset="0"/>
                </a:endParaRPr>
              </a:p>
              <a:p>
                <a:pPr marL="177800" indent="0">
                  <a:buNone/>
                </a:pPr>
                <a:endParaRPr lang="en-US" b="0" i="0" dirty="0">
                  <a:solidFill>
                    <a:srgbClr val="333333"/>
                  </a:solidFill>
                  <a:effectLst/>
                  <a:latin typeface="Courier New" panose="02070309020205020404" pitchFamily="49" charset="0"/>
                </a:endParaRPr>
              </a:p>
              <a:p>
                <a:r>
                  <a:rPr lang="en-US" dirty="0">
                    <a:solidFill>
                      <a:srgbClr val="333333"/>
                    </a:solidFill>
                    <a:latin typeface="Hanken Grotesk" panose="020B0604020202020204" charset="0"/>
                  </a:rPr>
                  <a:t>A simple recovery step using a 3×3 median filter. </a:t>
                </a:r>
                <a:r>
                  <a:rPr lang="en-US" dirty="0"/>
                  <a:t>For the position (1,1) with a value of 0 (noise), take the surrounding 3×3 window: </a:t>
                </a:r>
                <a14:m>
                  <m:oMath xmlns:m="http://schemas.openxmlformats.org/officeDocument/2006/math">
                    <m:m>
                      <m:mPr>
                        <m:mcs>
                          <m:mc>
                            <m:mcPr>
                              <m:count m:val="3"/>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5</m:t>
                          </m:r>
                          <m:r>
                            <m:rPr>
                              <m:brk m:alnAt="7"/>
                            </m:rPr>
                            <a:rPr lang="en-US" b="0" i="1" smtClean="0">
                              <a:latin typeface="Cambria Math" panose="02040503050406030204" pitchFamily="18" charset="0"/>
                            </a:rPr>
                            <m:t>0</m:t>
                          </m:r>
                        </m:e>
                        <m:e>
                          <m:r>
                            <a:rPr lang="en-US" b="0" i="1" smtClean="0">
                              <a:latin typeface="Cambria Math" panose="02040503050406030204" pitchFamily="18" charset="0"/>
                            </a:rPr>
                            <m:t>52</m:t>
                          </m:r>
                        </m:e>
                        <m:e>
                          <m:r>
                            <a:rPr lang="en-US" b="0" i="1" smtClean="0">
                              <a:latin typeface="Cambria Math" panose="02040503050406030204" pitchFamily="18" charset="0"/>
                            </a:rPr>
                            <m:t>255</m:t>
                          </m:r>
                        </m:e>
                      </m:mr>
                      <m:mr>
                        <m:e>
                          <m:r>
                            <a:rPr lang="en-US" b="0" i="1" smtClean="0">
                              <a:latin typeface="Cambria Math" panose="02040503050406030204" pitchFamily="18" charset="0"/>
                            </a:rPr>
                            <m:t>51</m:t>
                          </m:r>
                        </m:e>
                        <m:e>
                          <m:r>
                            <a:rPr lang="en-US" b="0" i="1" smtClean="0">
                              <a:latin typeface="Cambria Math" panose="02040503050406030204" pitchFamily="18" charset="0"/>
                            </a:rPr>
                            <m:t>0</m:t>
                          </m:r>
                        </m:e>
                        <m:e>
                          <m:r>
                            <a:rPr lang="en-US" b="0" i="1" smtClean="0">
                              <a:latin typeface="Cambria Math" panose="02040503050406030204" pitchFamily="18" charset="0"/>
                            </a:rPr>
                            <m:t>50</m:t>
                          </m:r>
                        </m:e>
                      </m:mr>
                      <m:mr>
                        <m:e>
                          <m:r>
                            <a:rPr lang="en-US" b="0" i="1" smtClean="0">
                              <a:latin typeface="Cambria Math" panose="02040503050406030204" pitchFamily="18" charset="0"/>
                            </a:rPr>
                            <m:t>255</m:t>
                          </m:r>
                        </m:e>
                        <m:e>
                          <m:r>
                            <a:rPr lang="en-US" b="0" i="1" smtClean="0">
                              <a:latin typeface="Cambria Math" panose="02040503050406030204" pitchFamily="18" charset="0"/>
                            </a:rPr>
                            <m:t>50</m:t>
                          </m:r>
                        </m:e>
                        <m:e>
                          <m:r>
                            <a:rPr lang="en-US" b="0" i="1" smtClean="0">
                              <a:latin typeface="Cambria Math" panose="02040503050406030204" pitchFamily="18" charset="0"/>
                            </a:rPr>
                            <m:t>51</m:t>
                          </m:r>
                        </m:e>
                      </m:mr>
                    </m:m>
                  </m:oMath>
                </a14:m>
                <a:endParaRPr lang="en-US" dirty="0">
                  <a:solidFill>
                    <a:srgbClr val="333333"/>
                  </a:solidFill>
                  <a:latin typeface="Hanken Grotesk" panose="020B0604020202020204" charset="0"/>
                </a:endParaRPr>
              </a:p>
              <a:p>
                <a:r>
                  <a:rPr lang="sv-SE" dirty="0">
                    <a:solidFill>
                      <a:srgbClr val="333333"/>
                    </a:solidFill>
                    <a:latin typeface="Hanken Grotesk" panose="020B0604020202020204" charset="0"/>
                  </a:rPr>
                  <a:t>Sort: 0, 50, 50, 50, 51, 51, 52, 255, 255 → median = 51</a:t>
                </a:r>
              </a:p>
              <a:p>
                <a:r>
                  <a:rPr lang="en-US" dirty="0">
                    <a:solidFill>
                      <a:srgbClr val="333333"/>
                    </a:solidFill>
                    <a:latin typeface="Hanken Grotesk" panose="020B0604020202020204" charset="0"/>
                  </a:rPr>
                  <a:t>The value of 0 (noise) is restored to 51—close to the actual value of neighboring pixels (around 50)—rather than the extreme value of 0, which represents an artifact.</a:t>
                </a:r>
                <a14:m>
                  <m:oMath xmlns:m="http://schemas.openxmlformats.org/officeDocument/2006/math">
                    <m:r>
                      <a:rPr lang="en-US" b="0" i="0" smtClean="0">
                        <a:solidFill>
                          <a:srgbClr val="333333"/>
                        </a:solidFill>
                        <a:latin typeface="Cambria Math" panose="02040503050406030204" pitchFamily="18" charset="0"/>
                      </a:rPr>
                      <m:t> </m:t>
                    </m:r>
                    <m:r>
                      <a:rPr lang="en-US" b="0" i="1" smtClean="0">
                        <a:solidFill>
                          <a:srgbClr val="333333"/>
                        </a:solidFill>
                        <a:latin typeface="Cambria Math" panose="02040503050406030204" pitchFamily="18" charset="0"/>
                      </a:rPr>
                      <m:t> </m:t>
                    </m:r>
                    <m:r>
                      <a:rPr lang="en-US" b="0" i="1" smtClean="0">
                        <a:solidFill>
                          <a:srgbClr val="333333"/>
                        </a:solidFill>
                        <a:latin typeface="Cambria Math" panose="02040503050406030204" pitchFamily="18" charset="0"/>
                      </a:rPr>
                      <m:t>𝑆</m:t>
                    </m:r>
                    <m:r>
                      <a:rPr lang="en-US" b="0" i="1" smtClean="0">
                        <a:solidFill>
                          <a:srgbClr val="333333"/>
                        </a:solidFill>
                        <a:latin typeface="Cambria Math" panose="02040503050406030204" pitchFamily="18" charset="0"/>
                      </a:rPr>
                      <m:t>=</m:t>
                    </m:r>
                    <m:d>
                      <m:dPr>
                        <m:begChr m:val="["/>
                        <m:endChr m:val="]"/>
                        <m:ctrlPr>
                          <a:rPr lang="en-US" i="1">
                            <a:solidFill>
                              <a:srgbClr val="333333"/>
                            </a:solidFill>
                            <a:latin typeface="Cambria Math" panose="02040503050406030204" pitchFamily="18" charset="0"/>
                          </a:rPr>
                        </m:ctrlPr>
                      </m:dPr>
                      <m:e>
                        <m:m>
                          <m:mPr>
                            <m:mcs>
                              <m:mc>
                                <m:mcPr>
                                  <m:count m:val="4"/>
                                  <m:mcJc m:val="center"/>
                                </m:mcPr>
                              </m:mc>
                            </m:mcs>
                            <m:ctrlPr>
                              <a:rPr lang="en-US" i="1">
                                <a:solidFill>
                                  <a:srgbClr val="333333"/>
                                </a:solidFill>
                                <a:latin typeface="Cambria Math" panose="02040503050406030204" pitchFamily="18" charset="0"/>
                              </a:rPr>
                            </m:ctrlPr>
                          </m:mPr>
                          <m:mr>
                            <m:e>
                              <m:r>
                                <m:rPr>
                                  <m:brk m:alnAt="7"/>
                                </m:rPr>
                                <a:rPr lang="en-US" i="1">
                                  <a:solidFill>
                                    <a:srgbClr val="333333"/>
                                  </a:solidFill>
                                  <a:latin typeface="Cambria Math" panose="02040503050406030204" pitchFamily="18" charset="0"/>
                                </a:rPr>
                                <m:t>5</m:t>
                              </m:r>
                              <m:r>
                                <m:rPr>
                                  <m:brk m:alnAt="7"/>
                                </m:rPr>
                                <a:rPr lang="en-US" i="1">
                                  <a:solidFill>
                                    <a:srgbClr val="333333"/>
                                  </a:solidFill>
                                  <a:latin typeface="Cambria Math" panose="02040503050406030204" pitchFamily="18" charset="0"/>
                                </a:rPr>
                                <m:t>0</m:t>
                              </m:r>
                            </m:e>
                            <m:e>
                              <m:r>
                                <a:rPr lang="en-US" i="1">
                                  <a:solidFill>
                                    <a:srgbClr val="333333"/>
                                  </a:solidFill>
                                  <a:latin typeface="Cambria Math" panose="02040503050406030204" pitchFamily="18" charset="0"/>
                                </a:rPr>
                                <m:t>52</m:t>
                              </m:r>
                            </m:e>
                            <m:e>
                              <m:r>
                                <a:rPr lang="en-US" i="1">
                                  <a:solidFill>
                                    <a:srgbClr val="333333"/>
                                  </a:solidFill>
                                  <a:latin typeface="Cambria Math" panose="02040503050406030204" pitchFamily="18" charset="0"/>
                                </a:rPr>
                                <m:t>255</m:t>
                              </m:r>
                            </m:e>
                            <m:e>
                              <m:r>
                                <a:rPr lang="en-US" i="1">
                                  <a:solidFill>
                                    <a:srgbClr val="333333"/>
                                  </a:solidFill>
                                  <a:latin typeface="Cambria Math" panose="02040503050406030204" pitchFamily="18" charset="0"/>
                                </a:rPr>
                                <m:t>48</m:t>
                              </m:r>
                            </m:e>
                          </m:mr>
                          <m:mr>
                            <m:e>
                              <m:r>
                                <a:rPr lang="en-US" i="1">
                                  <a:solidFill>
                                    <a:srgbClr val="333333"/>
                                  </a:solidFill>
                                  <a:latin typeface="Cambria Math" panose="02040503050406030204" pitchFamily="18" charset="0"/>
                                </a:rPr>
                                <m:t>51</m:t>
                              </m:r>
                            </m:e>
                            <m:e>
                              <m:r>
                                <a:rPr lang="en-US" b="0" i="1" smtClean="0">
                                  <a:solidFill>
                                    <a:srgbClr val="333333"/>
                                  </a:solidFill>
                                  <a:latin typeface="Cambria Math" panose="02040503050406030204" pitchFamily="18" charset="0"/>
                                </a:rPr>
                                <m:t>51</m:t>
                              </m:r>
                            </m:e>
                            <m:e>
                              <m:r>
                                <a:rPr lang="en-US" i="1">
                                  <a:solidFill>
                                    <a:srgbClr val="333333"/>
                                  </a:solidFill>
                                  <a:latin typeface="Cambria Math" panose="02040503050406030204" pitchFamily="18" charset="0"/>
                                </a:rPr>
                                <m:t>50</m:t>
                              </m:r>
                            </m:e>
                            <m:e>
                              <m:r>
                                <a:rPr lang="en-US" i="1">
                                  <a:solidFill>
                                    <a:srgbClr val="333333"/>
                                  </a:solidFill>
                                  <a:latin typeface="Cambria Math" panose="02040503050406030204" pitchFamily="18" charset="0"/>
                                </a:rPr>
                                <m:t>49</m:t>
                              </m:r>
                            </m:e>
                          </m:mr>
                          <m:mr>
                            <m:e>
                              <m:r>
                                <a:rPr lang="en-US" i="1">
                                  <a:solidFill>
                                    <a:srgbClr val="333333"/>
                                  </a:solidFill>
                                  <a:latin typeface="Cambria Math" panose="02040503050406030204" pitchFamily="18" charset="0"/>
                                </a:rPr>
                                <m:t>255</m:t>
                              </m:r>
                            </m:e>
                            <m:e>
                              <m:r>
                                <a:rPr lang="en-US" i="1">
                                  <a:solidFill>
                                    <a:srgbClr val="333333"/>
                                  </a:solidFill>
                                  <a:latin typeface="Cambria Math" panose="02040503050406030204" pitchFamily="18" charset="0"/>
                                </a:rPr>
                                <m:t>50</m:t>
                              </m:r>
                            </m:e>
                            <m:e>
                              <m:r>
                                <a:rPr lang="en-US" i="1">
                                  <a:solidFill>
                                    <a:srgbClr val="333333"/>
                                  </a:solidFill>
                                  <a:latin typeface="Cambria Math" panose="02040503050406030204" pitchFamily="18" charset="0"/>
                                </a:rPr>
                                <m:t>51</m:t>
                              </m:r>
                            </m:e>
                            <m:e>
                              <m:r>
                                <a:rPr lang="en-US" i="1">
                                  <a:solidFill>
                                    <a:srgbClr val="333333"/>
                                  </a:solidFill>
                                  <a:latin typeface="Cambria Math" panose="02040503050406030204" pitchFamily="18" charset="0"/>
                                </a:rPr>
                                <m:t>0</m:t>
                              </m:r>
                            </m:e>
                          </m:mr>
                          <m:mr>
                            <m:e>
                              <m:r>
                                <a:rPr lang="en-US" i="1">
                                  <a:solidFill>
                                    <a:srgbClr val="333333"/>
                                  </a:solidFill>
                                  <a:latin typeface="Cambria Math" panose="02040503050406030204" pitchFamily="18" charset="0"/>
                                </a:rPr>
                                <m:t>49</m:t>
                              </m:r>
                            </m:e>
                            <m:e>
                              <m:r>
                                <a:rPr lang="en-US" i="1">
                                  <a:solidFill>
                                    <a:srgbClr val="333333"/>
                                  </a:solidFill>
                                  <a:latin typeface="Cambria Math" panose="02040503050406030204" pitchFamily="18" charset="0"/>
                                </a:rPr>
                                <m:t>48</m:t>
                              </m:r>
                            </m:e>
                            <m:e>
                              <m:r>
                                <a:rPr lang="en-US" i="1">
                                  <a:solidFill>
                                    <a:srgbClr val="333333"/>
                                  </a:solidFill>
                                  <a:latin typeface="Cambria Math" panose="02040503050406030204" pitchFamily="18" charset="0"/>
                                </a:rPr>
                                <m:t>52</m:t>
                              </m:r>
                            </m:e>
                            <m:e>
                              <m:r>
                                <a:rPr lang="en-US" i="1">
                                  <a:solidFill>
                                    <a:srgbClr val="333333"/>
                                  </a:solidFill>
                                  <a:latin typeface="Cambria Math" panose="02040503050406030204" pitchFamily="18" charset="0"/>
                                </a:rPr>
                                <m:t>50</m:t>
                              </m:r>
                            </m:e>
                          </m:mr>
                        </m:m>
                      </m:e>
                    </m:d>
                  </m:oMath>
                </a14:m>
                <a:endParaRPr lang="en-US" dirty="0">
                  <a:solidFill>
                    <a:srgbClr val="333333"/>
                  </a:solidFill>
                  <a:latin typeface="Hanken Grotesk" panose="020B0604020202020204" charset="0"/>
                </a:endParaRPr>
              </a:p>
            </p:txBody>
          </p:sp>
        </mc:Choice>
        <mc:Fallback>
          <p:sp>
            <p:nvSpPr>
              <p:cNvPr id="3" name="Text Placeholder 2">
                <a:extLst>
                  <a:ext uri="{FF2B5EF4-FFF2-40B4-BE49-F238E27FC236}">
                    <a16:creationId xmlns:a16="http://schemas.microsoft.com/office/drawing/2014/main" id="{C74442FF-47F0-9414-AAB4-0F0B803DA096}"/>
                  </a:ext>
                </a:extLst>
              </p:cNvPr>
              <p:cNvSpPr>
                <a:spLocks noGrp="1" noRot="1" noChangeAspect="1" noMove="1" noResize="1" noEditPoints="1" noAdjustHandles="1" noChangeArrowheads="1" noChangeShapeType="1" noTextEdit="1"/>
              </p:cNvSpPr>
              <p:nvPr>
                <p:ph type="body" idx="1"/>
              </p:nvPr>
            </p:nvSpPr>
            <p:spPr>
              <a:xfrm>
                <a:off x="385464" y="1116737"/>
                <a:ext cx="8321408" cy="3233100"/>
              </a:xfrm>
              <a:blipFill>
                <a:blip r:embed="rId3"/>
                <a:stretch>
                  <a:fillRect b="-16761"/>
                </a:stretch>
              </a:blipFill>
            </p:spPr>
            <p:txBody>
              <a:bodyPr/>
              <a:lstStyle/>
              <a:p>
                <a:r>
                  <a:rPr lang="en-US">
                    <a:noFill/>
                  </a:rPr>
                  <a:t> </a:t>
                </a:r>
              </a:p>
            </p:txBody>
          </p:sp>
        </mc:Fallback>
      </mc:AlternateContent>
    </p:spTree>
    <p:extLst>
      <p:ext uri="{BB962C8B-B14F-4D97-AF65-F5344CB8AC3E}">
        <p14:creationId xmlns:p14="http://schemas.microsoft.com/office/powerpoint/2010/main" val="35747163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3EC231-36E6-F112-19F6-D13B35FD4D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3A723C-C7AB-E15F-4A95-C0561C15FD3C}"/>
              </a:ext>
            </a:extLst>
          </p:cNvPr>
          <p:cNvSpPr>
            <a:spLocks noGrp="1"/>
          </p:cNvSpPr>
          <p:nvPr>
            <p:ph type="title"/>
          </p:nvPr>
        </p:nvSpPr>
        <p:spPr>
          <a:xfrm>
            <a:off x="720000" y="235382"/>
            <a:ext cx="7704000" cy="572700"/>
          </a:xfrm>
        </p:spPr>
        <p:txBody>
          <a:bodyPr/>
          <a:lstStyle/>
          <a:p>
            <a:r>
              <a:rPr lang="en-US" dirty="0"/>
              <a:t>Interpretation in Image</a:t>
            </a:r>
          </a:p>
        </p:txBody>
      </p:sp>
      <p:pic>
        <p:nvPicPr>
          <p:cNvPr id="7" name="Picture 6">
            <a:extLst>
              <a:ext uri="{FF2B5EF4-FFF2-40B4-BE49-F238E27FC236}">
                <a16:creationId xmlns:a16="http://schemas.microsoft.com/office/drawing/2014/main" id="{B995567B-6A03-90AF-9DDF-FC4D8CCB01C0}"/>
              </a:ext>
            </a:extLst>
          </p:cNvPr>
          <p:cNvPicPr>
            <a:picLocks noChangeAspect="1"/>
          </p:cNvPicPr>
          <p:nvPr/>
        </p:nvPicPr>
        <p:blipFill>
          <a:blip r:embed="rId3"/>
          <a:srcRect t="4332"/>
          <a:stretch>
            <a:fillRect/>
          </a:stretch>
        </p:blipFill>
        <p:spPr>
          <a:xfrm>
            <a:off x="2100889" y="1203954"/>
            <a:ext cx="5600202" cy="3939546"/>
          </a:xfrm>
          <a:prstGeom prst="rect">
            <a:avLst/>
          </a:prstGeom>
        </p:spPr>
      </p:pic>
      <p:sp>
        <p:nvSpPr>
          <p:cNvPr id="9" name="Text Placeholder 2">
            <a:extLst>
              <a:ext uri="{FF2B5EF4-FFF2-40B4-BE49-F238E27FC236}">
                <a16:creationId xmlns:a16="http://schemas.microsoft.com/office/drawing/2014/main" id="{05F04433-0D09-1F73-DD24-215946617BF0}"/>
              </a:ext>
            </a:extLst>
          </p:cNvPr>
          <p:cNvSpPr>
            <a:spLocks noGrp="1"/>
          </p:cNvSpPr>
          <p:nvPr>
            <p:ph type="body" idx="1"/>
          </p:nvPr>
        </p:nvSpPr>
        <p:spPr>
          <a:xfrm>
            <a:off x="602168" y="820924"/>
            <a:ext cx="7821832" cy="529183"/>
          </a:xfrm>
          <a:ln>
            <a:noFill/>
          </a:ln>
        </p:spPr>
        <p:txBody>
          <a:bodyPr/>
          <a:lstStyle/>
          <a:p>
            <a:pPr marL="0" marR="0" indent="0" algn="l">
              <a:lnSpc>
                <a:spcPct val="56435"/>
              </a:lnSpc>
              <a:spcBef>
                <a:spcPts val="200"/>
              </a:spcBef>
              <a:buNone/>
            </a:pPr>
            <a:r>
              <a:rPr lang="en-US" sz="1200" b="0" i="0" dirty="0">
                <a:solidFill>
                  <a:srgbClr val="888888"/>
                </a:solidFill>
                <a:effectLst/>
                <a:latin typeface="Courier New" panose="02070309020205020404" pitchFamily="49" charset="0"/>
              </a:rPr>
              <a:t># --- </a:t>
            </a:r>
            <a:r>
              <a:rPr lang="en-US" sz="1200" b="0" i="0" dirty="0" err="1">
                <a:solidFill>
                  <a:srgbClr val="888888"/>
                </a:solidFill>
                <a:effectLst/>
                <a:latin typeface="Courier New" panose="02070309020205020404" pitchFamily="49" charset="0"/>
              </a:rPr>
              <a:t>Restorasi</a:t>
            </a:r>
            <a:r>
              <a:rPr lang="en-US" sz="1200" b="0" i="0" dirty="0">
                <a:solidFill>
                  <a:srgbClr val="888888"/>
                </a:solidFill>
                <a:effectLst/>
                <a:latin typeface="Courier New" panose="02070309020205020404" pitchFamily="49" charset="0"/>
              </a:rPr>
              <a:t> </a:t>
            </a:r>
            <a:r>
              <a:rPr lang="en-US" sz="1200" b="0" i="0" dirty="0" err="1">
                <a:solidFill>
                  <a:srgbClr val="888888"/>
                </a:solidFill>
                <a:effectLst/>
                <a:latin typeface="Courier New" panose="02070309020205020404" pitchFamily="49" charset="0"/>
              </a:rPr>
              <a:t>dari</a:t>
            </a:r>
            <a:r>
              <a:rPr lang="en-US" sz="1200" b="0" i="0" dirty="0">
                <a:solidFill>
                  <a:srgbClr val="888888"/>
                </a:solidFill>
                <a:effectLst/>
                <a:latin typeface="Courier New" panose="02070309020205020404" pitchFamily="49" charset="0"/>
              </a:rPr>
              <a:t> noise salt-and-pepper (median filter) ---</a:t>
            </a:r>
            <a:endParaRPr lang="en-US" sz="1200" b="0" i="0" dirty="0">
              <a:solidFill>
                <a:srgbClr val="333333"/>
              </a:solidFill>
              <a:effectLst/>
              <a:latin typeface="Courier New" panose="02070309020205020404" pitchFamily="49" charset="0"/>
            </a:endParaRPr>
          </a:p>
          <a:p>
            <a:pPr marL="0" marR="0" indent="0" algn="l">
              <a:lnSpc>
                <a:spcPct val="56435"/>
              </a:lnSpc>
              <a:spcBef>
                <a:spcPts val="200"/>
              </a:spcBef>
              <a:buNone/>
            </a:pPr>
            <a:r>
              <a:rPr lang="en-US" sz="1200" b="0" i="0" dirty="0" err="1">
                <a:solidFill>
                  <a:srgbClr val="333333"/>
                </a:solidFill>
                <a:effectLst/>
                <a:latin typeface="Courier New" panose="02070309020205020404" pitchFamily="49" charset="0"/>
              </a:rPr>
              <a:t>citra_pulih_noise</a:t>
            </a:r>
            <a:r>
              <a:rPr lang="en-US" sz="1200" b="0" i="0" dirty="0">
                <a:solidFill>
                  <a:srgbClr val="333333"/>
                </a:solidFill>
                <a:effectLst/>
                <a:latin typeface="Courier New" panose="02070309020205020404" pitchFamily="49" charset="0"/>
              </a:rPr>
              <a:t> = cv2.medianBlur(</a:t>
            </a:r>
            <a:r>
              <a:rPr lang="en-US" sz="1200" b="0" i="0" dirty="0" err="1">
                <a:solidFill>
                  <a:srgbClr val="333333"/>
                </a:solidFill>
                <a:effectLst/>
                <a:latin typeface="Courier New" panose="02070309020205020404" pitchFamily="49" charset="0"/>
              </a:rPr>
              <a:t>citra_gray</a:t>
            </a:r>
            <a:r>
              <a:rPr lang="en-US" sz="1200" b="0" i="0" dirty="0">
                <a:solidFill>
                  <a:srgbClr val="333333"/>
                </a:solidFill>
                <a:effectLst/>
                <a:latin typeface="Courier New" panose="02070309020205020404" pitchFamily="49" charset="0"/>
              </a:rPr>
              <a:t>, </a:t>
            </a:r>
            <a:r>
              <a:rPr lang="en-US" sz="1200" b="0" i="0" dirty="0" err="1">
                <a:solidFill>
                  <a:srgbClr val="333333"/>
                </a:solidFill>
                <a:effectLst/>
                <a:latin typeface="Courier New" panose="02070309020205020404" pitchFamily="49" charset="0"/>
              </a:rPr>
              <a:t>ksize</a:t>
            </a:r>
            <a:r>
              <a:rPr lang="en-US" sz="1200" b="0" i="0" dirty="0">
                <a:solidFill>
                  <a:srgbClr val="333333"/>
                </a:solidFill>
                <a:effectLst/>
                <a:latin typeface="Courier New" panose="02070309020205020404" pitchFamily="49" charset="0"/>
              </a:rPr>
              <a:t>=</a:t>
            </a:r>
            <a:r>
              <a:rPr lang="en-US" sz="1200" b="1" i="0" dirty="0">
                <a:solidFill>
                  <a:srgbClr val="0000DD"/>
                </a:solidFill>
                <a:effectLst/>
                <a:latin typeface="Courier New" panose="02070309020205020404" pitchFamily="49" charset="0"/>
              </a:rPr>
              <a:t>3</a:t>
            </a:r>
            <a:r>
              <a:rPr lang="en-US" sz="1200" b="0" i="0" dirty="0">
                <a:solidFill>
                  <a:srgbClr val="333333"/>
                </a:solidFill>
                <a:effectLst/>
                <a:latin typeface="Courier New" panose="02070309020205020404" pitchFamily="49" charset="0"/>
              </a:rPr>
              <a:t>)</a:t>
            </a:r>
          </a:p>
          <a:p>
            <a:pPr marL="0" marR="0" indent="0" algn="l">
              <a:lnSpc>
                <a:spcPct val="56435"/>
              </a:lnSpc>
              <a:spcBef>
                <a:spcPts val="200"/>
              </a:spcBef>
              <a:buNone/>
            </a:pPr>
            <a:endParaRPr lang="en-US" sz="1200" b="0" i="0" dirty="0">
              <a:solidFill>
                <a:srgbClr val="333333"/>
              </a:solidFill>
              <a:effectLst/>
              <a:latin typeface="Courier New" panose="02070309020205020404" pitchFamily="49" charset="0"/>
            </a:endParaRPr>
          </a:p>
          <a:p>
            <a:pPr marL="0" marR="0" indent="0" algn="l">
              <a:lnSpc>
                <a:spcPct val="56435"/>
              </a:lnSpc>
              <a:spcBef>
                <a:spcPts val="200"/>
              </a:spcBef>
              <a:buNone/>
            </a:pPr>
            <a:endParaRPr lang="en-US" sz="1050" dirty="0"/>
          </a:p>
        </p:txBody>
      </p:sp>
    </p:spTree>
    <p:extLst>
      <p:ext uri="{BB962C8B-B14F-4D97-AF65-F5344CB8AC3E}">
        <p14:creationId xmlns:p14="http://schemas.microsoft.com/office/powerpoint/2010/main" val="37122467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8BF71-63C4-0BD8-C72A-E22D1FEDE6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66DFD0-D176-FDFD-E8AA-AFE21593F306}"/>
              </a:ext>
            </a:extLst>
          </p:cNvPr>
          <p:cNvSpPr>
            <a:spLocks noGrp="1"/>
          </p:cNvSpPr>
          <p:nvPr>
            <p:ph type="title"/>
          </p:nvPr>
        </p:nvSpPr>
        <p:spPr>
          <a:xfrm>
            <a:off x="699086" y="177396"/>
            <a:ext cx="7704000" cy="572700"/>
          </a:xfrm>
        </p:spPr>
        <p:txBody>
          <a:bodyPr/>
          <a:lstStyle/>
          <a:p>
            <a:r>
              <a:rPr lang="en-US" dirty="0"/>
              <a:t>Interpretation in Image</a:t>
            </a:r>
          </a:p>
        </p:txBody>
      </p:sp>
      <p:pic>
        <p:nvPicPr>
          <p:cNvPr id="4" name="Picture 3">
            <a:extLst>
              <a:ext uri="{FF2B5EF4-FFF2-40B4-BE49-F238E27FC236}">
                <a16:creationId xmlns:a16="http://schemas.microsoft.com/office/drawing/2014/main" id="{1AF86622-CD74-B9E6-5896-63E4DBB53CCF}"/>
              </a:ext>
            </a:extLst>
          </p:cNvPr>
          <p:cNvPicPr>
            <a:picLocks noChangeAspect="1"/>
          </p:cNvPicPr>
          <p:nvPr/>
        </p:nvPicPr>
        <p:blipFill>
          <a:blip r:embed="rId3"/>
          <a:srcRect t="4429"/>
          <a:stretch>
            <a:fillRect/>
          </a:stretch>
        </p:blipFill>
        <p:spPr>
          <a:xfrm>
            <a:off x="3552956" y="679139"/>
            <a:ext cx="5591044" cy="3929102"/>
          </a:xfrm>
          <a:prstGeom prst="rect">
            <a:avLst/>
          </a:prstGeom>
        </p:spPr>
      </p:pic>
      <p:sp>
        <p:nvSpPr>
          <p:cNvPr id="3" name="Text Placeholder 2">
            <a:extLst>
              <a:ext uri="{FF2B5EF4-FFF2-40B4-BE49-F238E27FC236}">
                <a16:creationId xmlns:a16="http://schemas.microsoft.com/office/drawing/2014/main" id="{9C1EC1F6-0B01-A715-8AD2-8E6408F00CB8}"/>
              </a:ext>
            </a:extLst>
          </p:cNvPr>
          <p:cNvSpPr>
            <a:spLocks noGrp="1"/>
          </p:cNvSpPr>
          <p:nvPr>
            <p:ph type="body" idx="1"/>
          </p:nvPr>
        </p:nvSpPr>
        <p:spPr>
          <a:xfrm>
            <a:off x="234266" y="755291"/>
            <a:ext cx="3318690" cy="529183"/>
          </a:xfrm>
          <a:ln>
            <a:noFill/>
          </a:ln>
        </p:spPr>
        <p:txBody>
          <a:bodyPr/>
          <a:lstStyle/>
          <a:p>
            <a:pPr marL="0" marR="0" lvl="0" indent="0" algn="l" defTabSz="914400" rtl="0" eaLnBrk="1" fontAlgn="auto" latinLnBrk="0" hangingPunct="1">
              <a:lnSpc>
                <a:spcPct val="56435"/>
              </a:lnSpc>
              <a:spcBef>
                <a:spcPts val="300"/>
              </a:spcBef>
              <a:spcAft>
                <a:spcPts val="0"/>
              </a:spcAft>
              <a:buClr>
                <a:srgbClr val="333333"/>
              </a:buClr>
              <a:buSzPts val="800"/>
              <a:buFont typeface="Hanken Grotesk"/>
              <a:buNone/>
              <a:tabLst/>
              <a:defRPr/>
            </a:pPr>
            <a:r>
              <a:rPr kumimoji="0" lang="en-US" sz="1200" b="0" i="0" u="none" strike="noStrike" kern="0" cap="none" spc="0" normalizeH="0" baseline="0" noProof="0" dirty="0">
                <a:ln>
                  <a:noFill/>
                </a:ln>
                <a:solidFill>
                  <a:srgbClr val="888888"/>
                </a:solidFill>
                <a:effectLst/>
                <a:uLnTx/>
                <a:uFillTx/>
                <a:latin typeface="Courier New" panose="02070309020205020404" pitchFamily="49" charset="0"/>
                <a:sym typeface="Hanken Grotesk"/>
              </a:rPr>
              <a:t># ---</a:t>
            </a:r>
            <a:r>
              <a:rPr kumimoji="0" lang="en-US" sz="1200" b="0" i="0" u="none" strike="noStrike" kern="0" cap="none" spc="0" normalizeH="0" baseline="0" noProof="0" dirty="0" err="1">
                <a:ln>
                  <a:noFill/>
                </a:ln>
                <a:solidFill>
                  <a:srgbClr val="888888"/>
                </a:solidFill>
                <a:effectLst/>
                <a:uLnTx/>
                <a:uFillTx/>
                <a:latin typeface="Courier New" panose="02070309020205020404" pitchFamily="49" charset="0"/>
                <a:sym typeface="Hanken Grotesk"/>
              </a:rPr>
              <a:t>Restorasi</a:t>
            </a:r>
            <a:r>
              <a:rPr kumimoji="0" lang="en-US" sz="1200" b="0" i="0" u="none" strike="noStrike" kern="0" cap="none" spc="0" normalizeH="0" baseline="0" noProof="0" dirty="0">
                <a:ln>
                  <a:noFill/>
                </a:ln>
                <a:solidFill>
                  <a:srgbClr val="888888"/>
                </a:solidFill>
                <a:effectLst/>
                <a:uLnTx/>
                <a:uFillTx/>
                <a:latin typeface="Courier New" panose="02070309020205020404" pitchFamily="49" charset="0"/>
                <a:sym typeface="Hanken Grotesk"/>
              </a:rPr>
              <a:t> </a:t>
            </a:r>
            <a:r>
              <a:rPr kumimoji="0" lang="en-US" sz="1200" b="0" i="0" u="none" strike="noStrike" kern="0" cap="none" spc="0" normalizeH="0" baseline="0" noProof="0" dirty="0" err="1">
                <a:ln>
                  <a:noFill/>
                </a:ln>
                <a:solidFill>
                  <a:srgbClr val="888888"/>
                </a:solidFill>
                <a:effectLst/>
                <a:uLnTx/>
                <a:uFillTx/>
                <a:latin typeface="Courier New" panose="02070309020205020404" pitchFamily="49" charset="0"/>
                <a:sym typeface="Hanken Grotesk"/>
              </a:rPr>
              <a:t>dari</a:t>
            </a:r>
            <a:r>
              <a:rPr kumimoji="0" lang="en-US" sz="1200" b="0" i="0" u="none" strike="noStrike" kern="0" cap="none" spc="0" normalizeH="0" baseline="0" noProof="0" dirty="0">
                <a:ln>
                  <a:noFill/>
                </a:ln>
                <a:solidFill>
                  <a:srgbClr val="888888"/>
                </a:solidFill>
                <a:effectLst/>
                <a:uLnTx/>
                <a:uFillTx/>
                <a:latin typeface="Courier New" panose="02070309020205020404" pitchFamily="49" charset="0"/>
                <a:sym typeface="Hanken Grotesk"/>
              </a:rPr>
              <a:t> noise Gaussian (Wiener filter, </a:t>
            </a:r>
            <a:r>
              <a:rPr kumimoji="0" lang="en-US" sz="1200" b="0" i="0" u="none" strike="noStrike" kern="0" cap="none" spc="0" normalizeH="0" baseline="0" noProof="0" dirty="0" err="1">
                <a:ln>
                  <a:noFill/>
                </a:ln>
                <a:solidFill>
                  <a:srgbClr val="888888"/>
                </a:solidFill>
                <a:effectLst/>
                <a:uLnTx/>
                <a:uFillTx/>
                <a:latin typeface="Courier New" panose="02070309020205020404" pitchFamily="49" charset="0"/>
                <a:sym typeface="Hanken Grotesk"/>
              </a:rPr>
              <a:t>pendekatan</a:t>
            </a:r>
            <a:r>
              <a:rPr kumimoji="0" lang="en-US" sz="1200" b="0" i="0" u="none" strike="noStrike" kern="0" cap="none" spc="0" normalizeH="0" baseline="0" noProof="0" dirty="0">
                <a:ln>
                  <a:noFill/>
                </a:ln>
                <a:solidFill>
                  <a:srgbClr val="888888"/>
                </a:solidFill>
                <a:effectLst/>
                <a:uLnTx/>
                <a:uFillTx/>
                <a:latin typeface="Courier New" panose="02070309020205020404" pitchFamily="49" charset="0"/>
                <a:sym typeface="Hanken Grotesk"/>
              </a:rPr>
              <a:t> </a:t>
            </a:r>
            <a:r>
              <a:rPr kumimoji="0" lang="en-US" sz="1200" b="0" i="0" u="none" strike="noStrike" kern="0" cap="none" spc="0" normalizeH="0" baseline="0" noProof="0" dirty="0" err="1">
                <a:ln>
                  <a:noFill/>
                </a:ln>
                <a:solidFill>
                  <a:srgbClr val="888888"/>
                </a:solidFill>
                <a:effectLst/>
                <a:uLnTx/>
                <a:uFillTx/>
                <a:latin typeface="Courier New" panose="02070309020205020404" pitchFamily="49" charset="0"/>
                <a:sym typeface="Hanken Grotesk"/>
              </a:rPr>
              <a:t>statistik</a:t>
            </a:r>
            <a:r>
              <a:rPr kumimoji="0" lang="en-US" sz="1200" b="0" i="0" u="none" strike="noStrike" kern="0" cap="none" spc="0" normalizeH="0" baseline="0" noProof="0" dirty="0">
                <a:ln>
                  <a:noFill/>
                </a:ln>
                <a:solidFill>
                  <a:srgbClr val="888888"/>
                </a:solidFill>
                <a:effectLst/>
                <a:uLnTx/>
                <a:uFillTx/>
                <a:latin typeface="Courier New" panose="02070309020205020404" pitchFamily="49" charset="0"/>
                <a:sym typeface="Hanken Grotesk"/>
              </a:rPr>
              <a:t>) ---</a:t>
            </a:r>
            <a:endParaRPr kumimoji="0" lang="en-US" sz="1200" b="0" i="0" u="none" strike="noStrike" kern="0" cap="none" spc="0" normalizeH="0" baseline="0" noProof="0" dirty="0">
              <a:ln>
                <a:noFill/>
              </a:ln>
              <a:solidFill>
                <a:srgbClr val="333333"/>
              </a:solidFill>
              <a:effectLst/>
              <a:uLnTx/>
              <a:uFillTx/>
              <a:latin typeface="Courier New" panose="02070309020205020404" pitchFamily="49" charset="0"/>
              <a:sym typeface="Hanken Grotesk"/>
            </a:endParaRPr>
          </a:p>
          <a:p>
            <a:pPr marL="0" marR="0" lvl="0" indent="0" algn="l" defTabSz="914400" rtl="0" eaLnBrk="1" fontAlgn="auto" latinLnBrk="0" hangingPunct="1">
              <a:lnSpc>
                <a:spcPct val="56435"/>
              </a:lnSpc>
              <a:spcBef>
                <a:spcPts val="300"/>
              </a:spcBef>
              <a:spcAft>
                <a:spcPts val="0"/>
              </a:spcAft>
              <a:buClr>
                <a:srgbClr val="333333"/>
              </a:buClr>
              <a:buSzPts val="800"/>
              <a:buFont typeface="Hanken Grotesk"/>
              <a:buNone/>
              <a:tabLst/>
              <a:defRPr/>
            </a:pPr>
            <a:r>
              <a:rPr kumimoji="0" lang="en-US" sz="1200" b="0" i="0" u="none" strike="noStrike" kern="0" cap="none" spc="0" normalizeH="0" baseline="0" noProof="0" dirty="0" err="1">
                <a:ln>
                  <a:noFill/>
                </a:ln>
                <a:solidFill>
                  <a:srgbClr val="333333"/>
                </a:solidFill>
                <a:effectLst/>
                <a:uLnTx/>
                <a:uFillTx/>
                <a:latin typeface="Courier New" panose="02070309020205020404" pitchFamily="49" charset="0"/>
                <a:sym typeface="Hanken Grotesk"/>
              </a:rPr>
              <a:t>citra_pulih_wiener</a:t>
            </a:r>
            <a:r>
              <a:rPr kumimoji="0" lang="en-US" sz="1200" b="0" i="0" u="none" strike="noStrike" kern="0" cap="none" spc="0" normalizeH="0" baseline="0" noProof="0" dirty="0">
                <a:ln>
                  <a:noFill/>
                </a:ln>
                <a:solidFill>
                  <a:srgbClr val="333333"/>
                </a:solidFill>
                <a:effectLst/>
                <a:uLnTx/>
                <a:uFillTx/>
                <a:latin typeface="Courier New" panose="02070309020205020404" pitchFamily="49" charset="0"/>
                <a:sym typeface="Hanken Grotesk"/>
              </a:rPr>
              <a:t> = wiener(</a:t>
            </a:r>
            <a:r>
              <a:rPr kumimoji="0" lang="en-US" sz="1200" b="0" i="0" u="none" strike="noStrike" kern="0" cap="none" spc="0" normalizeH="0" baseline="0" noProof="0" dirty="0" err="1">
                <a:ln>
                  <a:noFill/>
                </a:ln>
                <a:solidFill>
                  <a:srgbClr val="333333"/>
                </a:solidFill>
                <a:effectLst/>
                <a:uLnTx/>
                <a:uFillTx/>
                <a:latin typeface="Courier New" panose="02070309020205020404" pitchFamily="49" charset="0"/>
                <a:sym typeface="Hanken Grotesk"/>
              </a:rPr>
              <a:t>citra_gray.astype</a:t>
            </a:r>
            <a:r>
              <a:rPr kumimoji="0" lang="en-US" sz="1200" b="0" i="0" u="none" strike="noStrike" kern="0" cap="none" spc="0" normalizeH="0" baseline="0" noProof="0" dirty="0">
                <a:ln>
                  <a:noFill/>
                </a:ln>
                <a:solidFill>
                  <a:srgbClr val="333333"/>
                </a:solidFill>
                <a:effectLst/>
                <a:uLnTx/>
                <a:uFillTx/>
                <a:latin typeface="Courier New" panose="02070309020205020404" pitchFamily="49" charset="0"/>
                <a:sym typeface="Hanken Grotesk"/>
              </a:rPr>
              <a:t>(</a:t>
            </a:r>
            <a:r>
              <a:rPr kumimoji="0" lang="en-US" sz="1200" b="0" i="0" u="none" strike="noStrike" kern="0" cap="none" spc="0" normalizeH="0" baseline="0" noProof="0" dirty="0">
                <a:ln>
                  <a:noFill/>
                </a:ln>
                <a:solidFill>
                  <a:srgbClr val="007020"/>
                </a:solidFill>
                <a:effectLst/>
                <a:uLnTx/>
                <a:uFillTx/>
                <a:latin typeface="Courier New" panose="02070309020205020404" pitchFamily="49" charset="0"/>
                <a:sym typeface="Hanken Grotesk"/>
              </a:rPr>
              <a:t>float</a:t>
            </a:r>
            <a:r>
              <a:rPr kumimoji="0" lang="en-US" sz="1200" b="0" i="0" u="none" strike="noStrike" kern="0" cap="none" spc="0" normalizeH="0" baseline="0" noProof="0" dirty="0">
                <a:ln>
                  <a:noFill/>
                </a:ln>
                <a:solidFill>
                  <a:srgbClr val="333333"/>
                </a:solidFill>
                <a:effectLst/>
                <a:uLnTx/>
                <a:uFillTx/>
                <a:latin typeface="Courier New" panose="02070309020205020404" pitchFamily="49" charset="0"/>
                <a:sym typeface="Hanken Grotesk"/>
              </a:rPr>
              <a:t>), </a:t>
            </a:r>
            <a:r>
              <a:rPr kumimoji="0" lang="en-US" sz="1200" b="0" i="0" u="none" strike="noStrike" kern="0" cap="none" spc="0" normalizeH="0" baseline="0" noProof="0" dirty="0" err="1">
                <a:ln>
                  <a:noFill/>
                </a:ln>
                <a:solidFill>
                  <a:srgbClr val="333333"/>
                </a:solidFill>
                <a:effectLst/>
                <a:uLnTx/>
                <a:uFillTx/>
                <a:latin typeface="Courier New" panose="02070309020205020404" pitchFamily="49" charset="0"/>
                <a:sym typeface="Hanken Grotesk"/>
              </a:rPr>
              <a:t>mysize</a:t>
            </a:r>
            <a:r>
              <a:rPr kumimoji="0" lang="en-US" sz="1200" b="0" i="0" u="none" strike="noStrike" kern="0" cap="none" spc="0" normalizeH="0" baseline="0" noProof="0" dirty="0">
                <a:ln>
                  <a:noFill/>
                </a:ln>
                <a:solidFill>
                  <a:srgbClr val="333333"/>
                </a:solidFill>
                <a:effectLst/>
                <a:uLnTx/>
                <a:uFillTx/>
                <a:latin typeface="Courier New" panose="02070309020205020404" pitchFamily="49" charset="0"/>
                <a:sym typeface="Hanken Grotesk"/>
              </a:rPr>
              <a:t>=</a:t>
            </a:r>
            <a:r>
              <a:rPr kumimoji="0" lang="en-US" sz="1200" b="1" i="0" u="none" strike="noStrike" kern="0" cap="none" spc="0" normalizeH="0" baseline="0" noProof="0" dirty="0">
                <a:ln>
                  <a:noFill/>
                </a:ln>
                <a:solidFill>
                  <a:srgbClr val="0000DD"/>
                </a:solidFill>
                <a:effectLst/>
                <a:uLnTx/>
                <a:uFillTx/>
                <a:latin typeface="Courier New" panose="02070309020205020404" pitchFamily="49" charset="0"/>
                <a:sym typeface="Hanken Grotesk"/>
              </a:rPr>
              <a:t>5</a:t>
            </a:r>
            <a:r>
              <a:rPr kumimoji="0" lang="en-US" sz="1200" b="0" i="0" u="none" strike="noStrike" kern="0" cap="none" spc="0" normalizeH="0" baseline="0" noProof="0" dirty="0">
                <a:ln>
                  <a:noFill/>
                </a:ln>
                <a:solidFill>
                  <a:srgbClr val="333333"/>
                </a:solidFill>
                <a:effectLst/>
                <a:uLnTx/>
                <a:uFillTx/>
                <a:latin typeface="Courier New" panose="02070309020205020404" pitchFamily="49" charset="0"/>
                <a:sym typeface="Hanken Grotesk"/>
              </a:rPr>
              <a:t>)</a:t>
            </a:r>
          </a:p>
          <a:p>
            <a:pPr marL="0" marR="0" lvl="0" indent="0" algn="l" defTabSz="914400" rtl="0" eaLnBrk="1" fontAlgn="auto" latinLnBrk="0" hangingPunct="1">
              <a:lnSpc>
                <a:spcPct val="56435"/>
              </a:lnSpc>
              <a:spcBef>
                <a:spcPts val="300"/>
              </a:spcBef>
              <a:spcAft>
                <a:spcPts val="0"/>
              </a:spcAft>
              <a:buClr>
                <a:srgbClr val="333333"/>
              </a:buClr>
              <a:buSzPts val="800"/>
              <a:buFont typeface="Hanken Grotesk"/>
              <a:buNone/>
              <a:tabLst/>
              <a:defRPr/>
            </a:pPr>
            <a:r>
              <a:rPr kumimoji="0" lang="en-US" sz="1200" b="0" i="0" u="none" strike="noStrike" kern="0" cap="none" spc="0" normalizeH="0" baseline="0" noProof="0" dirty="0" err="1">
                <a:ln>
                  <a:noFill/>
                </a:ln>
                <a:solidFill>
                  <a:srgbClr val="333333"/>
                </a:solidFill>
                <a:effectLst/>
                <a:uLnTx/>
                <a:uFillTx/>
                <a:latin typeface="Courier New" panose="02070309020205020404" pitchFamily="49" charset="0"/>
                <a:sym typeface="Hanken Grotesk"/>
              </a:rPr>
              <a:t>citra_pulih_wiener</a:t>
            </a:r>
            <a:r>
              <a:rPr kumimoji="0" lang="en-US" sz="1200" b="0" i="0" u="none" strike="noStrike" kern="0" cap="none" spc="0" normalizeH="0" baseline="0" noProof="0" dirty="0">
                <a:ln>
                  <a:noFill/>
                </a:ln>
                <a:solidFill>
                  <a:srgbClr val="333333"/>
                </a:solidFill>
                <a:effectLst/>
                <a:uLnTx/>
                <a:uFillTx/>
                <a:latin typeface="Courier New" panose="02070309020205020404" pitchFamily="49" charset="0"/>
                <a:sym typeface="Hanken Grotesk"/>
              </a:rPr>
              <a:t> = </a:t>
            </a:r>
            <a:r>
              <a:rPr kumimoji="0" lang="en-US" sz="1200" b="0" i="0" u="none" strike="noStrike" kern="0" cap="none" spc="0" normalizeH="0" baseline="0" noProof="0" dirty="0" err="1">
                <a:ln>
                  <a:noFill/>
                </a:ln>
                <a:solidFill>
                  <a:srgbClr val="333333"/>
                </a:solidFill>
                <a:effectLst/>
                <a:uLnTx/>
                <a:uFillTx/>
                <a:latin typeface="Courier New" panose="02070309020205020404" pitchFamily="49" charset="0"/>
                <a:sym typeface="Hanken Grotesk"/>
              </a:rPr>
              <a:t>np.clip</a:t>
            </a:r>
            <a:r>
              <a:rPr kumimoji="0" lang="en-US" sz="1200" b="0" i="0" u="none" strike="noStrike" kern="0" cap="none" spc="0" normalizeH="0" baseline="0" noProof="0" dirty="0">
                <a:ln>
                  <a:noFill/>
                </a:ln>
                <a:solidFill>
                  <a:srgbClr val="333333"/>
                </a:solidFill>
                <a:effectLst/>
                <a:uLnTx/>
                <a:uFillTx/>
                <a:latin typeface="Courier New" panose="02070309020205020404" pitchFamily="49" charset="0"/>
                <a:sym typeface="Hanken Grotesk"/>
              </a:rPr>
              <a:t>(</a:t>
            </a:r>
            <a:r>
              <a:rPr kumimoji="0" lang="en-US" sz="1200" b="0" i="0" u="none" strike="noStrike" kern="0" cap="none" spc="0" normalizeH="0" baseline="0" noProof="0" dirty="0" err="1">
                <a:ln>
                  <a:noFill/>
                </a:ln>
                <a:solidFill>
                  <a:srgbClr val="333333"/>
                </a:solidFill>
                <a:effectLst/>
                <a:uLnTx/>
                <a:uFillTx/>
                <a:latin typeface="Courier New" panose="02070309020205020404" pitchFamily="49" charset="0"/>
                <a:sym typeface="Hanken Grotesk"/>
              </a:rPr>
              <a:t>citra_pulih_wiener</a:t>
            </a:r>
            <a:r>
              <a:rPr kumimoji="0" lang="en-US" sz="1200" b="0" i="0" u="none" strike="noStrike" kern="0" cap="none" spc="0" normalizeH="0" baseline="0" noProof="0" dirty="0">
                <a:ln>
                  <a:noFill/>
                </a:ln>
                <a:solidFill>
                  <a:srgbClr val="333333"/>
                </a:solidFill>
                <a:effectLst/>
                <a:uLnTx/>
                <a:uFillTx/>
                <a:latin typeface="Courier New" panose="02070309020205020404" pitchFamily="49" charset="0"/>
                <a:sym typeface="Hanken Grotesk"/>
              </a:rPr>
              <a:t>, </a:t>
            </a:r>
            <a:r>
              <a:rPr kumimoji="0" lang="en-US" sz="1200" b="1" i="0" u="none" strike="noStrike" kern="0" cap="none" spc="0" normalizeH="0" baseline="0" noProof="0" dirty="0">
                <a:ln>
                  <a:noFill/>
                </a:ln>
                <a:solidFill>
                  <a:srgbClr val="0000DD"/>
                </a:solidFill>
                <a:effectLst/>
                <a:uLnTx/>
                <a:uFillTx/>
                <a:latin typeface="Courier New" panose="02070309020205020404" pitchFamily="49" charset="0"/>
                <a:sym typeface="Hanken Grotesk"/>
              </a:rPr>
              <a:t>0</a:t>
            </a:r>
            <a:r>
              <a:rPr kumimoji="0" lang="en-US" sz="1200" b="0" i="0" u="none" strike="noStrike" kern="0" cap="none" spc="0" normalizeH="0" baseline="0" noProof="0" dirty="0">
                <a:ln>
                  <a:noFill/>
                </a:ln>
                <a:solidFill>
                  <a:srgbClr val="333333"/>
                </a:solidFill>
                <a:effectLst/>
                <a:uLnTx/>
                <a:uFillTx/>
                <a:latin typeface="Courier New" panose="02070309020205020404" pitchFamily="49" charset="0"/>
                <a:sym typeface="Hanken Grotesk"/>
              </a:rPr>
              <a:t>, </a:t>
            </a:r>
            <a:r>
              <a:rPr kumimoji="0" lang="en-US" sz="1200" b="1" i="0" u="none" strike="noStrike" kern="0" cap="none" spc="0" normalizeH="0" baseline="0" noProof="0" dirty="0">
                <a:ln>
                  <a:noFill/>
                </a:ln>
                <a:solidFill>
                  <a:srgbClr val="0000DD"/>
                </a:solidFill>
                <a:effectLst/>
                <a:uLnTx/>
                <a:uFillTx/>
                <a:latin typeface="Courier New" panose="02070309020205020404" pitchFamily="49" charset="0"/>
                <a:sym typeface="Hanken Grotesk"/>
              </a:rPr>
              <a:t>255</a:t>
            </a:r>
            <a:r>
              <a:rPr kumimoji="0" lang="en-US" sz="1200" b="0" i="0" u="none" strike="noStrike" kern="0" cap="none" spc="0" normalizeH="0" baseline="0" noProof="0" dirty="0">
                <a:ln>
                  <a:noFill/>
                </a:ln>
                <a:solidFill>
                  <a:srgbClr val="333333"/>
                </a:solidFill>
                <a:effectLst/>
                <a:uLnTx/>
                <a:uFillTx/>
                <a:latin typeface="Courier New" panose="02070309020205020404" pitchFamily="49" charset="0"/>
                <a:sym typeface="Hanken Grotesk"/>
              </a:rPr>
              <a:t>).</a:t>
            </a:r>
            <a:r>
              <a:rPr kumimoji="0" lang="en-US" sz="1200" b="0" i="0" u="none" strike="noStrike" kern="0" cap="none" spc="0" normalizeH="0" baseline="0" noProof="0" dirty="0" err="1">
                <a:ln>
                  <a:noFill/>
                </a:ln>
                <a:solidFill>
                  <a:srgbClr val="333333"/>
                </a:solidFill>
                <a:effectLst/>
                <a:uLnTx/>
                <a:uFillTx/>
                <a:latin typeface="Courier New" panose="02070309020205020404" pitchFamily="49" charset="0"/>
                <a:sym typeface="Hanken Grotesk"/>
              </a:rPr>
              <a:t>astype</a:t>
            </a:r>
            <a:r>
              <a:rPr kumimoji="0" lang="en-US" sz="1200" b="0" i="0" u="none" strike="noStrike" kern="0" cap="none" spc="0" normalizeH="0" baseline="0" noProof="0" dirty="0">
                <a:ln>
                  <a:noFill/>
                </a:ln>
                <a:solidFill>
                  <a:srgbClr val="333333"/>
                </a:solidFill>
                <a:effectLst/>
                <a:uLnTx/>
                <a:uFillTx/>
                <a:latin typeface="Courier New" panose="02070309020205020404" pitchFamily="49" charset="0"/>
                <a:sym typeface="Hanken Grotesk"/>
              </a:rPr>
              <a:t>(np.uint8)</a:t>
            </a:r>
          </a:p>
          <a:p>
            <a:pPr marL="0" marR="0" lvl="0" indent="0" algn="l" defTabSz="914400" rtl="0" eaLnBrk="1" fontAlgn="auto" latinLnBrk="0" hangingPunct="1">
              <a:lnSpc>
                <a:spcPct val="56435"/>
              </a:lnSpc>
              <a:spcBef>
                <a:spcPts val="300"/>
              </a:spcBef>
              <a:spcAft>
                <a:spcPts val="0"/>
              </a:spcAft>
              <a:buClr>
                <a:srgbClr val="333333"/>
              </a:buClr>
              <a:buSzPts val="800"/>
              <a:buFont typeface="Hanken Grotesk"/>
              <a:buNone/>
              <a:tabLst/>
              <a:defRPr/>
            </a:pPr>
            <a:endParaRPr kumimoji="0" lang="en-US" sz="1200" b="0" i="0" u="none" strike="noStrike" kern="0" cap="none" spc="0" normalizeH="0" baseline="0" noProof="0" dirty="0">
              <a:ln>
                <a:noFill/>
              </a:ln>
              <a:solidFill>
                <a:srgbClr val="333333"/>
              </a:solidFill>
              <a:effectLst/>
              <a:uLnTx/>
              <a:uFillTx/>
              <a:latin typeface="Courier New" panose="02070309020205020404" pitchFamily="49" charset="0"/>
              <a:sym typeface="Hanken Grotesk"/>
            </a:endParaRPr>
          </a:p>
          <a:p>
            <a:pPr marL="0" marR="0" lvl="0" indent="0" algn="l" defTabSz="914400" rtl="0" eaLnBrk="1" fontAlgn="auto" latinLnBrk="0" hangingPunct="1">
              <a:lnSpc>
                <a:spcPct val="56435"/>
              </a:lnSpc>
              <a:spcBef>
                <a:spcPts val="300"/>
              </a:spcBef>
              <a:spcAft>
                <a:spcPts val="0"/>
              </a:spcAft>
              <a:buClr>
                <a:srgbClr val="333333"/>
              </a:buClr>
              <a:buSzPts val="800"/>
              <a:buFont typeface="Hanken Grotesk"/>
              <a:buNone/>
              <a:tabLst/>
              <a:defRPr/>
            </a:pPr>
            <a:r>
              <a:rPr kumimoji="0" lang="en-US" sz="1200" b="0" i="0" u="none" strike="noStrike" kern="0" cap="none" spc="0" normalizeH="0" baseline="0" noProof="0" dirty="0">
                <a:ln>
                  <a:noFill/>
                </a:ln>
                <a:solidFill>
                  <a:srgbClr val="888888"/>
                </a:solidFill>
                <a:effectLst/>
                <a:uLnTx/>
                <a:uFillTx/>
                <a:latin typeface="Courier New" panose="02070309020205020404" pitchFamily="49" charset="0"/>
                <a:sym typeface="Hanken Grotesk"/>
              </a:rPr>
              <a:t># --- </a:t>
            </a:r>
            <a:r>
              <a:rPr kumimoji="0" lang="en-US" sz="1200" b="0" i="0" u="none" strike="noStrike" kern="0" cap="none" spc="0" normalizeH="0" baseline="0" noProof="0" dirty="0" err="1">
                <a:ln>
                  <a:noFill/>
                </a:ln>
                <a:solidFill>
                  <a:srgbClr val="888888"/>
                </a:solidFill>
                <a:effectLst/>
                <a:uLnTx/>
                <a:uFillTx/>
                <a:latin typeface="Courier New" panose="02070309020205020404" pitchFamily="49" charset="0"/>
                <a:sym typeface="Hanken Grotesk"/>
              </a:rPr>
              <a:t>Simulasi</a:t>
            </a:r>
            <a:r>
              <a:rPr kumimoji="0" lang="en-US" sz="1200" b="0" i="0" u="none" strike="noStrike" kern="0" cap="none" spc="0" normalizeH="0" baseline="0" noProof="0" dirty="0">
                <a:ln>
                  <a:noFill/>
                </a:ln>
                <a:solidFill>
                  <a:srgbClr val="888888"/>
                </a:solidFill>
                <a:effectLst/>
                <a:uLnTx/>
                <a:uFillTx/>
                <a:latin typeface="Courier New" panose="02070309020205020404" pitchFamily="49" charset="0"/>
                <a:sym typeface="Hanken Grotesk"/>
              </a:rPr>
              <a:t> </a:t>
            </a:r>
            <a:r>
              <a:rPr kumimoji="0" lang="en-US" sz="1200" b="0" i="0" u="none" strike="noStrike" kern="0" cap="none" spc="0" normalizeH="0" baseline="0" noProof="0" dirty="0" err="1">
                <a:ln>
                  <a:noFill/>
                </a:ln>
                <a:solidFill>
                  <a:srgbClr val="888888"/>
                </a:solidFill>
                <a:effectLst/>
                <a:uLnTx/>
                <a:uFillTx/>
                <a:latin typeface="Courier New" panose="02070309020205020404" pitchFamily="49" charset="0"/>
                <a:sym typeface="Hanken Grotesk"/>
              </a:rPr>
              <a:t>degradasi</a:t>
            </a:r>
            <a:r>
              <a:rPr kumimoji="0" lang="en-US" sz="1200" b="0" i="0" u="none" strike="noStrike" kern="0" cap="none" spc="0" normalizeH="0" baseline="0" noProof="0" dirty="0">
                <a:ln>
                  <a:noFill/>
                </a:ln>
                <a:solidFill>
                  <a:srgbClr val="888888"/>
                </a:solidFill>
                <a:effectLst/>
                <a:uLnTx/>
                <a:uFillTx/>
                <a:latin typeface="Courier New" panose="02070309020205020404" pitchFamily="49" charset="0"/>
                <a:sym typeface="Hanken Grotesk"/>
              </a:rPr>
              <a:t> motion blur, </a:t>
            </a:r>
            <a:r>
              <a:rPr kumimoji="0" lang="en-US" sz="1200" b="0" i="0" u="none" strike="noStrike" kern="0" cap="none" spc="0" normalizeH="0" baseline="0" noProof="0" dirty="0" err="1">
                <a:ln>
                  <a:noFill/>
                </a:ln>
                <a:solidFill>
                  <a:srgbClr val="888888"/>
                </a:solidFill>
                <a:effectLst/>
                <a:uLnTx/>
                <a:uFillTx/>
                <a:latin typeface="Courier New" panose="02070309020205020404" pitchFamily="49" charset="0"/>
                <a:sym typeface="Hanken Grotesk"/>
              </a:rPr>
              <a:t>lalu</a:t>
            </a:r>
            <a:r>
              <a:rPr kumimoji="0" lang="en-US" sz="1200" b="0" i="0" u="none" strike="noStrike" kern="0" cap="none" spc="0" normalizeH="0" baseline="0" noProof="0" dirty="0">
                <a:ln>
                  <a:noFill/>
                </a:ln>
                <a:solidFill>
                  <a:srgbClr val="888888"/>
                </a:solidFill>
                <a:effectLst/>
                <a:uLnTx/>
                <a:uFillTx/>
                <a:latin typeface="Courier New" panose="02070309020205020404" pitchFamily="49" charset="0"/>
                <a:sym typeface="Hanken Grotesk"/>
              </a:rPr>
              <a:t> </a:t>
            </a:r>
            <a:r>
              <a:rPr kumimoji="0" lang="en-US" sz="1200" b="0" i="0" u="none" strike="noStrike" kern="0" cap="none" spc="0" normalizeH="0" baseline="0" noProof="0" dirty="0" err="1">
                <a:ln>
                  <a:noFill/>
                </a:ln>
                <a:solidFill>
                  <a:srgbClr val="888888"/>
                </a:solidFill>
                <a:effectLst/>
                <a:uLnTx/>
                <a:uFillTx/>
                <a:latin typeface="Courier New" panose="02070309020205020404" pitchFamily="49" charset="0"/>
                <a:sym typeface="Hanken Grotesk"/>
              </a:rPr>
              <a:t>restorasi</a:t>
            </a:r>
            <a:r>
              <a:rPr kumimoji="0" lang="en-US" sz="1200" b="0" i="0" u="none" strike="noStrike" kern="0" cap="none" spc="0" normalizeH="0" baseline="0" noProof="0" dirty="0">
                <a:ln>
                  <a:noFill/>
                </a:ln>
                <a:solidFill>
                  <a:srgbClr val="888888"/>
                </a:solidFill>
                <a:effectLst/>
                <a:uLnTx/>
                <a:uFillTx/>
                <a:latin typeface="Courier New" panose="02070309020205020404" pitchFamily="49" charset="0"/>
                <a:sym typeface="Hanken Grotesk"/>
              </a:rPr>
              <a:t> </a:t>
            </a:r>
            <a:r>
              <a:rPr kumimoji="0" lang="en-US" sz="1200" b="0" i="0" u="none" strike="noStrike" kern="0" cap="none" spc="0" normalizeH="0" baseline="0" noProof="0" dirty="0" err="1">
                <a:ln>
                  <a:noFill/>
                </a:ln>
                <a:solidFill>
                  <a:srgbClr val="888888"/>
                </a:solidFill>
                <a:effectLst/>
                <a:uLnTx/>
                <a:uFillTx/>
                <a:latin typeface="Courier New" panose="02070309020205020404" pitchFamily="49" charset="0"/>
                <a:sym typeface="Hanken Grotesk"/>
              </a:rPr>
              <a:t>dengan</a:t>
            </a:r>
            <a:r>
              <a:rPr kumimoji="0" lang="en-US" sz="1200" b="0" i="0" u="none" strike="noStrike" kern="0" cap="none" spc="0" normalizeH="0" baseline="0" noProof="0" dirty="0">
                <a:ln>
                  <a:noFill/>
                </a:ln>
                <a:solidFill>
                  <a:srgbClr val="888888"/>
                </a:solidFill>
                <a:effectLst/>
                <a:uLnTx/>
                <a:uFillTx/>
                <a:latin typeface="Courier New" panose="02070309020205020404" pitchFamily="49" charset="0"/>
                <a:sym typeface="Hanken Grotesk"/>
              </a:rPr>
              <a:t> inverse filtering ---</a:t>
            </a:r>
            <a:endParaRPr kumimoji="0" lang="en-US" sz="1200" b="0" i="0" u="none" strike="noStrike" kern="0" cap="none" spc="0" normalizeH="0" baseline="0" noProof="0" dirty="0">
              <a:ln>
                <a:noFill/>
              </a:ln>
              <a:solidFill>
                <a:srgbClr val="333333"/>
              </a:solidFill>
              <a:effectLst/>
              <a:uLnTx/>
              <a:uFillTx/>
              <a:latin typeface="Courier New" panose="02070309020205020404" pitchFamily="49" charset="0"/>
              <a:sym typeface="Hanken Grotesk"/>
            </a:endParaRPr>
          </a:p>
          <a:p>
            <a:pPr marL="0" marR="0" lvl="0" indent="0" algn="l" defTabSz="914400" rtl="0" eaLnBrk="1" fontAlgn="auto" latinLnBrk="0" hangingPunct="1">
              <a:lnSpc>
                <a:spcPct val="56435"/>
              </a:lnSpc>
              <a:spcBef>
                <a:spcPts val="300"/>
              </a:spcBef>
              <a:spcAft>
                <a:spcPts val="0"/>
              </a:spcAft>
              <a:buClr>
                <a:srgbClr val="333333"/>
              </a:buClr>
              <a:buSzPts val="800"/>
              <a:buFont typeface="Hanken Grotesk"/>
              <a:buNone/>
              <a:tabLst/>
              <a:defRPr/>
            </a:pPr>
            <a:r>
              <a:rPr kumimoji="0" lang="en-US" sz="1200" b="1" i="0" u="none" strike="noStrike" kern="0" cap="none" spc="0" normalizeH="0" baseline="0" noProof="0" dirty="0">
                <a:ln>
                  <a:noFill/>
                </a:ln>
                <a:solidFill>
                  <a:srgbClr val="008800"/>
                </a:solidFill>
                <a:effectLst/>
                <a:uLnTx/>
                <a:uFillTx/>
                <a:latin typeface="Courier New" panose="02070309020205020404" pitchFamily="49" charset="0"/>
                <a:sym typeface="Hanken Grotesk"/>
              </a:rPr>
              <a:t>def</a:t>
            </a:r>
            <a:r>
              <a:rPr kumimoji="0" lang="en-US" sz="1200" b="0" i="0" u="none" strike="noStrike" kern="0" cap="none" spc="0" normalizeH="0" baseline="0" noProof="0" dirty="0">
                <a:ln>
                  <a:noFill/>
                </a:ln>
                <a:solidFill>
                  <a:srgbClr val="BBBBBB"/>
                </a:solidFill>
                <a:effectLst/>
                <a:uLnTx/>
                <a:uFillTx/>
                <a:latin typeface="Courier New" panose="02070309020205020404" pitchFamily="49" charset="0"/>
                <a:sym typeface="Hanken Grotesk"/>
              </a:rPr>
              <a:t> </a:t>
            </a:r>
            <a:r>
              <a:rPr kumimoji="0" lang="en-US" sz="1200" b="1" i="0" u="none" strike="noStrike" kern="0" cap="none" spc="0" normalizeH="0" baseline="0" noProof="0" dirty="0" err="1">
                <a:ln>
                  <a:noFill/>
                </a:ln>
                <a:solidFill>
                  <a:srgbClr val="0066BB"/>
                </a:solidFill>
                <a:effectLst/>
                <a:uLnTx/>
                <a:uFillTx/>
                <a:latin typeface="Courier New" panose="02070309020205020404" pitchFamily="49" charset="0"/>
                <a:sym typeface="Hanken Grotesk"/>
              </a:rPr>
              <a:t>buat_kernel_motion_blur</a:t>
            </a:r>
            <a:r>
              <a:rPr kumimoji="0" lang="en-US" sz="1200" b="0" i="0" u="none" strike="noStrike" kern="0" cap="none" spc="0" normalizeH="0" baseline="0" noProof="0" dirty="0">
                <a:ln>
                  <a:noFill/>
                </a:ln>
                <a:solidFill>
                  <a:srgbClr val="333333"/>
                </a:solidFill>
                <a:effectLst/>
                <a:uLnTx/>
                <a:uFillTx/>
                <a:latin typeface="Courier New" panose="02070309020205020404" pitchFamily="49" charset="0"/>
                <a:sym typeface="Hanken Grotesk"/>
              </a:rPr>
              <a:t>(</a:t>
            </a:r>
            <a:r>
              <a:rPr kumimoji="0" lang="en-US" sz="1200" b="0" i="0" u="none" strike="noStrike" kern="0" cap="none" spc="0" normalizeH="0" baseline="0" noProof="0" dirty="0" err="1">
                <a:ln>
                  <a:noFill/>
                </a:ln>
                <a:solidFill>
                  <a:srgbClr val="333333"/>
                </a:solidFill>
                <a:effectLst/>
                <a:uLnTx/>
                <a:uFillTx/>
                <a:latin typeface="Courier New" panose="02070309020205020404" pitchFamily="49" charset="0"/>
                <a:sym typeface="Hanken Grotesk"/>
              </a:rPr>
              <a:t>panjang</a:t>
            </a:r>
            <a:r>
              <a:rPr kumimoji="0" lang="en-US" sz="1200" b="0" i="0" u="none" strike="noStrike" kern="0" cap="none" spc="0" normalizeH="0" baseline="0" noProof="0" dirty="0">
                <a:ln>
                  <a:noFill/>
                </a:ln>
                <a:solidFill>
                  <a:srgbClr val="333333"/>
                </a:solidFill>
                <a:effectLst/>
                <a:uLnTx/>
                <a:uFillTx/>
                <a:latin typeface="Courier New" panose="02070309020205020404" pitchFamily="49" charset="0"/>
                <a:sym typeface="Hanken Grotesk"/>
              </a:rPr>
              <a:t>=</a:t>
            </a:r>
            <a:r>
              <a:rPr kumimoji="0" lang="en-US" sz="1200" b="1" i="0" u="none" strike="noStrike" kern="0" cap="none" spc="0" normalizeH="0" baseline="0" noProof="0" dirty="0">
                <a:ln>
                  <a:noFill/>
                </a:ln>
                <a:solidFill>
                  <a:srgbClr val="0000DD"/>
                </a:solidFill>
                <a:effectLst/>
                <a:uLnTx/>
                <a:uFillTx/>
                <a:latin typeface="Courier New" panose="02070309020205020404" pitchFamily="49" charset="0"/>
                <a:sym typeface="Hanken Grotesk"/>
              </a:rPr>
              <a:t>15</a:t>
            </a:r>
            <a:r>
              <a:rPr kumimoji="0" lang="en-US" sz="1200" b="0" i="0" u="none" strike="noStrike" kern="0" cap="none" spc="0" normalizeH="0" baseline="0" noProof="0" dirty="0">
                <a:ln>
                  <a:noFill/>
                </a:ln>
                <a:solidFill>
                  <a:srgbClr val="333333"/>
                </a:solidFill>
                <a:effectLst/>
                <a:uLnTx/>
                <a:uFillTx/>
                <a:latin typeface="Courier New" panose="02070309020205020404" pitchFamily="49" charset="0"/>
                <a:sym typeface="Hanken Grotesk"/>
              </a:rPr>
              <a:t>, </a:t>
            </a:r>
            <a:r>
              <a:rPr kumimoji="0" lang="en-US" sz="1200" b="0" i="0" u="none" strike="noStrike" kern="0" cap="none" spc="0" normalizeH="0" baseline="0" noProof="0" dirty="0" err="1">
                <a:ln>
                  <a:noFill/>
                </a:ln>
                <a:solidFill>
                  <a:srgbClr val="333333"/>
                </a:solidFill>
                <a:effectLst/>
                <a:uLnTx/>
                <a:uFillTx/>
                <a:latin typeface="Courier New" panose="02070309020205020404" pitchFamily="49" charset="0"/>
                <a:sym typeface="Hanken Grotesk"/>
              </a:rPr>
              <a:t>sudut</a:t>
            </a:r>
            <a:r>
              <a:rPr kumimoji="0" lang="en-US" sz="1200" b="0" i="0" u="none" strike="noStrike" kern="0" cap="none" spc="0" normalizeH="0" baseline="0" noProof="0" dirty="0">
                <a:ln>
                  <a:noFill/>
                </a:ln>
                <a:solidFill>
                  <a:srgbClr val="333333"/>
                </a:solidFill>
                <a:effectLst/>
                <a:uLnTx/>
                <a:uFillTx/>
                <a:latin typeface="Courier New" panose="02070309020205020404" pitchFamily="49" charset="0"/>
                <a:sym typeface="Hanken Grotesk"/>
              </a:rPr>
              <a:t>=</a:t>
            </a:r>
            <a:r>
              <a:rPr kumimoji="0" lang="en-US" sz="1200" b="1" i="0" u="none" strike="noStrike" kern="0" cap="none" spc="0" normalizeH="0" baseline="0" noProof="0" dirty="0">
                <a:ln>
                  <a:noFill/>
                </a:ln>
                <a:solidFill>
                  <a:srgbClr val="0000DD"/>
                </a:solidFill>
                <a:effectLst/>
                <a:uLnTx/>
                <a:uFillTx/>
                <a:latin typeface="Courier New" panose="02070309020205020404" pitchFamily="49" charset="0"/>
                <a:sym typeface="Hanken Grotesk"/>
              </a:rPr>
              <a:t>0</a:t>
            </a:r>
            <a:r>
              <a:rPr kumimoji="0" lang="en-US" sz="1200" b="0" i="0" u="none" strike="noStrike" kern="0" cap="none" spc="0" normalizeH="0" baseline="0" noProof="0" dirty="0">
                <a:ln>
                  <a:noFill/>
                </a:ln>
                <a:solidFill>
                  <a:srgbClr val="333333"/>
                </a:solidFill>
                <a:effectLst/>
                <a:uLnTx/>
                <a:uFillTx/>
                <a:latin typeface="Courier New" panose="02070309020205020404" pitchFamily="49" charset="0"/>
                <a:sym typeface="Hanken Grotesk"/>
              </a:rPr>
              <a:t>):</a:t>
            </a:r>
          </a:p>
          <a:p>
            <a:pPr marL="0" marR="0" lvl="0" indent="0" algn="l" defTabSz="914400" rtl="0" eaLnBrk="1" fontAlgn="auto" latinLnBrk="0" hangingPunct="1">
              <a:lnSpc>
                <a:spcPct val="56435"/>
              </a:lnSpc>
              <a:spcBef>
                <a:spcPts val="300"/>
              </a:spcBef>
              <a:spcAft>
                <a:spcPts val="0"/>
              </a:spcAft>
              <a:buClr>
                <a:srgbClr val="333333"/>
              </a:buClr>
              <a:buSzPts val="800"/>
              <a:buFont typeface="Hanken Grotesk"/>
              <a:buNone/>
              <a:tabLst/>
              <a:defRPr/>
            </a:pPr>
            <a:r>
              <a:rPr kumimoji="0" lang="en-US" sz="1200" b="0" i="0" u="none" strike="noStrike" kern="0" cap="none" spc="0" normalizeH="0" baseline="0" noProof="0" dirty="0">
                <a:ln>
                  <a:noFill/>
                </a:ln>
                <a:solidFill>
                  <a:srgbClr val="333333"/>
                </a:solidFill>
                <a:effectLst/>
                <a:uLnTx/>
                <a:uFillTx/>
                <a:latin typeface="Courier New" panose="02070309020205020404" pitchFamily="49" charset="0"/>
                <a:sym typeface="Hanken Grotesk"/>
              </a:rPr>
              <a:t>    kernel = </a:t>
            </a:r>
            <a:r>
              <a:rPr kumimoji="0" lang="en-US" sz="1200" b="0" i="0" u="none" strike="noStrike" kern="0" cap="none" spc="0" normalizeH="0" baseline="0" noProof="0" dirty="0" err="1">
                <a:ln>
                  <a:noFill/>
                </a:ln>
                <a:solidFill>
                  <a:srgbClr val="333333"/>
                </a:solidFill>
                <a:effectLst/>
                <a:uLnTx/>
                <a:uFillTx/>
                <a:latin typeface="Courier New" panose="02070309020205020404" pitchFamily="49" charset="0"/>
                <a:sym typeface="Hanken Grotesk"/>
              </a:rPr>
              <a:t>np.zeros</a:t>
            </a:r>
            <a:r>
              <a:rPr kumimoji="0" lang="en-US" sz="1200" b="0" i="0" u="none" strike="noStrike" kern="0" cap="none" spc="0" normalizeH="0" baseline="0" noProof="0" dirty="0">
                <a:ln>
                  <a:noFill/>
                </a:ln>
                <a:solidFill>
                  <a:srgbClr val="333333"/>
                </a:solidFill>
                <a:effectLst/>
                <a:uLnTx/>
                <a:uFillTx/>
                <a:latin typeface="Courier New" panose="02070309020205020404" pitchFamily="49" charset="0"/>
                <a:sym typeface="Hanken Grotesk"/>
              </a:rPr>
              <a:t>((</a:t>
            </a:r>
            <a:r>
              <a:rPr kumimoji="0" lang="en-US" sz="1200" b="0" i="0" u="none" strike="noStrike" kern="0" cap="none" spc="0" normalizeH="0" baseline="0" noProof="0" dirty="0" err="1">
                <a:ln>
                  <a:noFill/>
                </a:ln>
                <a:solidFill>
                  <a:srgbClr val="333333"/>
                </a:solidFill>
                <a:effectLst/>
                <a:uLnTx/>
                <a:uFillTx/>
                <a:latin typeface="Courier New" panose="02070309020205020404" pitchFamily="49" charset="0"/>
                <a:sym typeface="Hanken Grotesk"/>
              </a:rPr>
              <a:t>panjang</a:t>
            </a:r>
            <a:r>
              <a:rPr kumimoji="0" lang="en-US" sz="1200" b="0" i="0" u="none" strike="noStrike" kern="0" cap="none" spc="0" normalizeH="0" baseline="0" noProof="0" dirty="0">
                <a:ln>
                  <a:noFill/>
                </a:ln>
                <a:solidFill>
                  <a:srgbClr val="333333"/>
                </a:solidFill>
                <a:effectLst/>
                <a:uLnTx/>
                <a:uFillTx/>
                <a:latin typeface="Courier New" panose="02070309020205020404" pitchFamily="49" charset="0"/>
                <a:sym typeface="Hanken Grotesk"/>
              </a:rPr>
              <a:t>, </a:t>
            </a:r>
            <a:r>
              <a:rPr kumimoji="0" lang="en-US" sz="1200" b="0" i="0" u="none" strike="noStrike" kern="0" cap="none" spc="0" normalizeH="0" baseline="0" noProof="0" dirty="0" err="1">
                <a:ln>
                  <a:noFill/>
                </a:ln>
                <a:solidFill>
                  <a:srgbClr val="333333"/>
                </a:solidFill>
                <a:effectLst/>
                <a:uLnTx/>
                <a:uFillTx/>
                <a:latin typeface="Courier New" panose="02070309020205020404" pitchFamily="49" charset="0"/>
                <a:sym typeface="Hanken Grotesk"/>
              </a:rPr>
              <a:t>panjang</a:t>
            </a:r>
            <a:r>
              <a:rPr kumimoji="0" lang="en-US" sz="1200" b="0" i="0" u="none" strike="noStrike" kern="0" cap="none" spc="0" normalizeH="0" baseline="0" noProof="0" dirty="0">
                <a:ln>
                  <a:noFill/>
                </a:ln>
                <a:solidFill>
                  <a:srgbClr val="333333"/>
                </a:solidFill>
                <a:effectLst/>
                <a:uLnTx/>
                <a:uFillTx/>
                <a:latin typeface="Courier New" panose="02070309020205020404" pitchFamily="49" charset="0"/>
                <a:sym typeface="Hanken Grotesk"/>
              </a:rPr>
              <a:t>))</a:t>
            </a:r>
          </a:p>
          <a:p>
            <a:pPr marL="0" marR="0" lvl="0" indent="0" algn="l" defTabSz="914400" rtl="0" eaLnBrk="1" fontAlgn="auto" latinLnBrk="0" hangingPunct="1">
              <a:lnSpc>
                <a:spcPct val="56435"/>
              </a:lnSpc>
              <a:spcBef>
                <a:spcPts val="300"/>
              </a:spcBef>
              <a:spcAft>
                <a:spcPts val="0"/>
              </a:spcAft>
              <a:buClr>
                <a:srgbClr val="333333"/>
              </a:buClr>
              <a:buSzPts val="800"/>
              <a:buFont typeface="Hanken Grotesk"/>
              <a:buNone/>
              <a:tabLst/>
              <a:defRPr/>
            </a:pPr>
            <a:r>
              <a:rPr kumimoji="0" lang="en-US" sz="1200" b="0" i="0" u="none" strike="noStrike" kern="0" cap="none" spc="0" normalizeH="0" baseline="0" noProof="0" dirty="0">
                <a:ln>
                  <a:noFill/>
                </a:ln>
                <a:solidFill>
                  <a:srgbClr val="333333"/>
                </a:solidFill>
                <a:effectLst/>
                <a:uLnTx/>
                <a:uFillTx/>
                <a:latin typeface="Courier New" panose="02070309020205020404" pitchFamily="49" charset="0"/>
                <a:sym typeface="Hanken Grotesk"/>
              </a:rPr>
              <a:t>    kernel[</a:t>
            </a:r>
            <a:r>
              <a:rPr kumimoji="0" lang="en-US" sz="1200" b="0" i="0" u="none" strike="noStrike" kern="0" cap="none" spc="0" normalizeH="0" baseline="0" noProof="0" dirty="0">
                <a:ln>
                  <a:noFill/>
                </a:ln>
                <a:solidFill>
                  <a:srgbClr val="007020"/>
                </a:solidFill>
                <a:effectLst/>
                <a:uLnTx/>
                <a:uFillTx/>
                <a:latin typeface="Courier New" panose="02070309020205020404" pitchFamily="49" charset="0"/>
                <a:sym typeface="Hanken Grotesk"/>
              </a:rPr>
              <a:t>int</a:t>
            </a:r>
            <a:r>
              <a:rPr kumimoji="0" lang="en-US" sz="1200" b="0" i="0" u="none" strike="noStrike" kern="0" cap="none" spc="0" normalizeH="0" baseline="0" noProof="0" dirty="0">
                <a:ln>
                  <a:noFill/>
                </a:ln>
                <a:solidFill>
                  <a:srgbClr val="333333"/>
                </a:solidFill>
                <a:effectLst/>
                <a:uLnTx/>
                <a:uFillTx/>
                <a:latin typeface="Courier New" panose="02070309020205020404" pitchFamily="49" charset="0"/>
                <a:sym typeface="Hanken Grotesk"/>
              </a:rPr>
              <a:t>((panjang-</a:t>
            </a:r>
            <a:r>
              <a:rPr kumimoji="0" lang="en-US" sz="1200" b="1" i="0" u="none" strike="noStrike" kern="0" cap="none" spc="0" normalizeH="0" baseline="0" noProof="0" dirty="0">
                <a:ln>
                  <a:noFill/>
                </a:ln>
                <a:solidFill>
                  <a:srgbClr val="0000DD"/>
                </a:solidFill>
                <a:effectLst/>
                <a:uLnTx/>
                <a:uFillTx/>
                <a:latin typeface="Courier New" panose="02070309020205020404" pitchFamily="49" charset="0"/>
                <a:sym typeface="Hanken Grotesk"/>
              </a:rPr>
              <a:t>1</a:t>
            </a:r>
            <a:r>
              <a:rPr kumimoji="0" lang="en-US" sz="1200" b="0" i="0" u="none" strike="noStrike" kern="0" cap="none" spc="0" normalizeH="0" baseline="0" noProof="0" dirty="0">
                <a:ln>
                  <a:noFill/>
                </a:ln>
                <a:solidFill>
                  <a:srgbClr val="333333"/>
                </a:solidFill>
                <a:effectLst/>
                <a:uLnTx/>
                <a:uFillTx/>
                <a:latin typeface="Courier New" panose="02070309020205020404" pitchFamily="49" charset="0"/>
                <a:sym typeface="Hanken Grotesk"/>
              </a:rPr>
              <a:t>)/</a:t>
            </a:r>
            <a:r>
              <a:rPr kumimoji="0" lang="en-US" sz="1200" b="1" i="0" u="none" strike="noStrike" kern="0" cap="none" spc="0" normalizeH="0" baseline="0" noProof="0" dirty="0">
                <a:ln>
                  <a:noFill/>
                </a:ln>
                <a:solidFill>
                  <a:srgbClr val="0000DD"/>
                </a:solidFill>
                <a:effectLst/>
                <a:uLnTx/>
                <a:uFillTx/>
                <a:latin typeface="Courier New" panose="02070309020205020404" pitchFamily="49" charset="0"/>
                <a:sym typeface="Hanken Grotesk"/>
              </a:rPr>
              <a:t>2</a:t>
            </a:r>
            <a:r>
              <a:rPr kumimoji="0" lang="en-US" sz="1200" b="0" i="0" u="none" strike="noStrike" kern="0" cap="none" spc="0" normalizeH="0" baseline="0" noProof="0" dirty="0">
                <a:ln>
                  <a:noFill/>
                </a:ln>
                <a:solidFill>
                  <a:srgbClr val="333333"/>
                </a:solidFill>
                <a:effectLst/>
                <a:uLnTx/>
                <a:uFillTx/>
                <a:latin typeface="Courier New" panose="02070309020205020404" pitchFamily="49" charset="0"/>
                <a:sym typeface="Hanken Grotesk"/>
              </a:rPr>
              <a:t>), :] = </a:t>
            </a:r>
            <a:r>
              <a:rPr kumimoji="0" lang="en-US" sz="1200" b="0" i="0" u="none" strike="noStrike" kern="0" cap="none" spc="0" normalizeH="0" baseline="0" noProof="0" dirty="0" err="1">
                <a:ln>
                  <a:noFill/>
                </a:ln>
                <a:solidFill>
                  <a:srgbClr val="333333"/>
                </a:solidFill>
                <a:effectLst/>
                <a:uLnTx/>
                <a:uFillTx/>
                <a:latin typeface="Courier New" panose="02070309020205020404" pitchFamily="49" charset="0"/>
                <a:sym typeface="Hanken Grotesk"/>
              </a:rPr>
              <a:t>np.ones</a:t>
            </a:r>
            <a:r>
              <a:rPr kumimoji="0" lang="en-US" sz="1200" b="0" i="0" u="none" strike="noStrike" kern="0" cap="none" spc="0" normalizeH="0" baseline="0" noProof="0" dirty="0">
                <a:ln>
                  <a:noFill/>
                </a:ln>
                <a:solidFill>
                  <a:srgbClr val="333333"/>
                </a:solidFill>
                <a:effectLst/>
                <a:uLnTx/>
                <a:uFillTx/>
                <a:latin typeface="Courier New" panose="02070309020205020404" pitchFamily="49" charset="0"/>
                <a:sym typeface="Hanken Grotesk"/>
              </a:rPr>
              <a:t>(</a:t>
            </a:r>
            <a:r>
              <a:rPr kumimoji="0" lang="en-US" sz="1200" b="0" i="0" u="none" strike="noStrike" kern="0" cap="none" spc="0" normalizeH="0" baseline="0" noProof="0" dirty="0" err="1">
                <a:ln>
                  <a:noFill/>
                </a:ln>
                <a:solidFill>
                  <a:srgbClr val="333333"/>
                </a:solidFill>
                <a:effectLst/>
                <a:uLnTx/>
                <a:uFillTx/>
                <a:latin typeface="Courier New" panose="02070309020205020404" pitchFamily="49" charset="0"/>
                <a:sym typeface="Hanken Grotesk"/>
              </a:rPr>
              <a:t>panjang</a:t>
            </a:r>
            <a:r>
              <a:rPr kumimoji="0" lang="en-US" sz="1200" b="0" i="0" u="none" strike="noStrike" kern="0" cap="none" spc="0" normalizeH="0" baseline="0" noProof="0" dirty="0">
                <a:ln>
                  <a:noFill/>
                </a:ln>
                <a:solidFill>
                  <a:srgbClr val="333333"/>
                </a:solidFill>
                <a:effectLst/>
                <a:uLnTx/>
                <a:uFillTx/>
                <a:latin typeface="Courier New" panose="02070309020205020404" pitchFamily="49" charset="0"/>
                <a:sym typeface="Hanken Grotesk"/>
              </a:rPr>
              <a:t>)</a:t>
            </a:r>
          </a:p>
          <a:p>
            <a:pPr marL="0" marR="0" lvl="0" indent="0" algn="l" defTabSz="914400" rtl="0" eaLnBrk="1" fontAlgn="auto" latinLnBrk="0" hangingPunct="1">
              <a:lnSpc>
                <a:spcPct val="56435"/>
              </a:lnSpc>
              <a:spcBef>
                <a:spcPts val="300"/>
              </a:spcBef>
              <a:spcAft>
                <a:spcPts val="0"/>
              </a:spcAft>
              <a:buClr>
                <a:srgbClr val="333333"/>
              </a:buClr>
              <a:buSzPts val="800"/>
              <a:buFont typeface="Hanken Grotesk"/>
              <a:buNone/>
              <a:tabLst/>
              <a:defRPr/>
            </a:pPr>
            <a:r>
              <a:rPr kumimoji="0" lang="en-US" sz="1200" b="0" i="0" u="none" strike="noStrike" kern="0" cap="none" spc="0" normalizeH="0" baseline="0" noProof="0" dirty="0">
                <a:ln>
                  <a:noFill/>
                </a:ln>
                <a:solidFill>
                  <a:srgbClr val="333333"/>
                </a:solidFill>
                <a:effectLst/>
                <a:uLnTx/>
                <a:uFillTx/>
                <a:latin typeface="Courier New" panose="02070309020205020404" pitchFamily="49" charset="0"/>
                <a:sym typeface="Hanken Grotesk"/>
              </a:rPr>
              <a:t>    kernel = kernel / </a:t>
            </a:r>
            <a:r>
              <a:rPr kumimoji="0" lang="en-US" sz="1200" b="0" i="0" u="none" strike="noStrike" kern="0" cap="none" spc="0" normalizeH="0" baseline="0" noProof="0" dirty="0" err="1">
                <a:ln>
                  <a:noFill/>
                </a:ln>
                <a:solidFill>
                  <a:srgbClr val="333333"/>
                </a:solidFill>
                <a:effectLst/>
                <a:uLnTx/>
                <a:uFillTx/>
                <a:latin typeface="Courier New" panose="02070309020205020404" pitchFamily="49" charset="0"/>
                <a:sym typeface="Hanken Grotesk"/>
              </a:rPr>
              <a:t>panjang</a:t>
            </a:r>
            <a:endParaRPr kumimoji="0" lang="en-US" sz="1200" b="0" i="0" u="none" strike="noStrike" kern="0" cap="none" spc="0" normalizeH="0" baseline="0" noProof="0" dirty="0">
              <a:ln>
                <a:noFill/>
              </a:ln>
              <a:solidFill>
                <a:srgbClr val="333333"/>
              </a:solidFill>
              <a:effectLst/>
              <a:uLnTx/>
              <a:uFillTx/>
              <a:latin typeface="Courier New" panose="02070309020205020404" pitchFamily="49" charset="0"/>
              <a:sym typeface="Hanken Grotesk"/>
            </a:endParaRPr>
          </a:p>
          <a:p>
            <a:pPr marL="0" marR="0" lvl="0" indent="0" algn="l" defTabSz="914400" rtl="0" eaLnBrk="1" fontAlgn="auto" latinLnBrk="0" hangingPunct="1">
              <a:lnSpc>
                <a:spcPct val="56435"/>
              </a:lnSpc>
              <a:spcBef>
                <a:spcPts val="300"/>
              </a:spcBef>
              <a:spcAft>
                <a:spcPts val="0"/>
              </a:spcAft>
              <a:buClr>
                <a:srgbClr val="333333"/>
              </a:buClr>
              <a:buSzPts val="800"/>
              <a:buFont typeface="Hanken Grotesk"/>
              <a:buNone/>
              <a:tabLst/>
              <a:defRPr/>
            </a:pPr>
            <a:r>
              <a:rPr kumimoji="0" lang="en-US" sz="1200" b="0" i="0" u="none" strike="noStrike" kern="0" cap="none" spc="0" normalizeH="0" baseline="0" noProof="0" dirty="0">
                <a:ln>
                  <a:noFill/>
                </a:ln>
                <a:solidFill>
                  <a:srgbClr val="333333"/>
                </a:solidFill>
                <a:effectLst/>
                <a:uLnTx/>
                <a:uFillTx/>
                <a:latin typeface="Courier New" panose="02070309020205020404" pitchFamily="49" charset="0"/>
                <a:sym typeface="Hanken Grotesk"/>
              </a:rPr>
              <a:t>    </a:t>
            </a:r>
            <a:r>
              <a:rPr kumimoji="0" lang="en-US" sz="1200" b="1" i="0" u="none" strike="noStrike" kern="0" cap="none" spc="0" normalizeH="0" baseline="0" noProof="0" dirty="0">
                <a:ln>
                  <a:noFill/>
                </a:ln>
                <a:solidFill>
                  <a:srgbClr val="008800"/>
                </a:solidFill>
                <a:effectLst/>
                <a:uLnTx/>
                <a:uFillTx/>
                <a:latin typeface="Courier New" panose="02070309020205020404" pitchFamily="49" charset="0"/>
                <a:sym typeface="Hanken Grotesk"/>
              </a:rPr>
              <a:t>return</a:t>
            </a:r>
            <a:r>
              <a:rPr kumimoji="0" lang="en-US" sz="1200" b="0" i="0" u="none" strike="noStrike" kern="0" cap="none" spc="0" normalizeH="0" baseline="0" noProof="0" dirty="0">
                <a:ln>
                  <a:noFill/>
                </a:ln>
                <a:solidFill>
                  <a:srgbClr val="333333"/>
                </a:solidFill>
                <a:effectLst/>
                <a:uLnTx/>
                <a:uFillTx/>
                <a:latin typeface="Courier New" panose="02070309020205020404" pitchFamily="49" charset="0"/>
                <a:sym typeface="Hanken Grotesk"/>
              </a:rPr>
              <a:t> kernel</a:t>
            </a:r>
          </a:p>
          <a:p>
            <a:pPr marL="0" marR="0" lvl="0" indent="0" algn="l" defTabSz="914400" rtl="0" eaLnBrk="1" fontAlgn="auto" latinLnBrk="0" hangingPunct="1">
              <a:lnSpc>
                <a:spcPct val="56435"/>
              </a:lnSpc>
              <a:spcBef>
                <a:spcPts val="300"/>
              </a:spcBef>
              <a:spcAft>
                <a:spcPts val="0"/>
              </a:spcAft>
              <a:buClr>
                <a:srgbClr val="333333"/>
              </a:buClr>
              <a:buSzPts val="800"/>
              <a:buFont typeface="Hanken Grotesk"/>
              <a:buNone/>
              <a:tabLst/>
              <a:defRPr/>
            </a:pPr>
            <a:endParaRPr kumimoji="0" lang="en-US" sz="1200" b="0" i="0" u="none" strike="noStrike" kern="0" cap="none" spc="0" normalizeH="0" baseline="0" noProof="0" dirty="0">
              <a:ln>
                <a:noFill/>
              </a:ln>
              <a:solidFill>
                <a:srgbClr val="333333"/>
              </a:solidFill>
              <a:effectLst/>
              <a:uLnTx/>
              <a:uFillTx/>
              <a:latin typeface="Courier New" panose="02070309020205020404" pitchFamily="49" charset="0"/>
              <a:sym typeface="Hanken Grotesk"/>
            </a:endParaRPr>
          </a:p>
          <a:p>
            <a:pPr marL="0" marR="0" lvl="0" indent="0" algn="l" defTabSz="914400" rtl="0" eaLnBrk="1" fontAlgn="auto" latinLnBrk="0" hangingPunct="1">
              <a:lnSpc>
                <a:spcPct val="56435"/>
              </a:lnSpc>
              <a:spcBef>
                <a:spcPts val="300"/>
              </a:spcBef>
              <a:spcAft>
                <a:spcPts val="0"/>
              </a:spcAft>
              <a:buClr>
                <a:srgbClr val="333333"/>
              </a:buClr>
              <a:buSzPts val="800"/>
              <a:buFont typeface="Hanken Grotesk"/>
              <a:buNone/>
              <a:tabLst/>
              <a:defRPr/>
            </a:pPr>
            <a:r>
              <a:rPr kumimoji="0" lang="en-US" sz="1200" b="0" i="0" u="none" strike="noStrike" kern="0" cap="none" spc="0" normalizeH="0" baseline="0" noProof="0" dirty="0" err="1">
                <a:ln>
                  <a:noFill/>
                </a:ln>
                <a:solidFill>
                  <a:srgbClr val="333333"/>
                </a:solidFill>
                <a:effectLst/>
                <a:uLnTx/>
                <a:uFillTx/>
                <a:latin typeface="Courier New" panose="02070309020205020404" pitchFamily="49" charset="0"/>
                <a:sym typeface="Hanken Grotesk"/>
              </a:rPr>
              <a:t>kernel_blur</a:t>
            </a:r>
            <a:r>
              <a:rPr kumimoji="0" lang="en-US" sz="1200" b="0" i="0" u="none" strike="noStrike" kern="0" cap="none" spc="0" normalizeH="0" baseline="0" noProof="0" dirty="0">
                <a:ln>
                  <a:noFill/>
                </a:ln>
                <a:solidFill>
                  <a:srgbClr val="333333"/>
                </a:solidFill>
                <a:effectLst/>
                <a:uLnTx/>
                <a:uFillTx/>
                <a:latin typeface="Courier New" panose="02070309020205020404" pitchFamily="49" charset="0"/>
                <a:sym typeface="Hanken Grotesk"/>
              </a:rPr>
              <a:t> = </a:t>
            </a:r>
            <a:r>
              <a:rPr kumimoji="0" lang="en-US" sz="1200" b="0" i="0" u="none" strike="noStrike" kern="0" cap="none" spc="0" normalizeH="0" baseline="0" noProof="0" dirty="0" err="1">
                <a:ln>
                  <a:noFill/>
                </a:ln>
                <a:solidFill>
                  <a:srgbClr val="333333"/>
                </a:solidFill>
                <a:effectLst/>
                <a:uLnTx/>
                <a:uFillTx/>
                <a:latin typeface="Courier New" panose="02070309020205020404" pitchFamily="49" charset="0"/>
                <a:sym typeface="Hanken Grotesk"/>
              </a:rPr>
              <a:t>buat_kernel_motion_blur</a:t>
            </a:r>
            <a:r>
              <a:rPr kumimoji="0" lang="en-US" sz="1200" b="0" i="0" u="none" strike="noStrike" kern="0" cap="none" spc="0" normalizeH="0" baseline="0" noProof="0" dirty="0">
                <a:ln>
                  <a:noFill/>
                </a:ln>
                <a:solidFill>
                  <a:srgbClr val="333333"/>
                </a:solidFill>
                <a:effectLst/>
                <a:uLnTx/>
                <a:uFillTx/>
                <a:latin typeface="Courier New" panose="02070309020205020404" pitchFamily="49" charset="0"/>
                <a:sym typeface="Hanken Grotesk"/>
              </a:rPr>
              <a:t>(</a:t>
            </a:r>
            <a:r>
              <a:rPr kumimoji="0" lang="en-US" sz="1200" b="0" i="0" u="none" strike="noStrike" kern="0" cap="none" spc="0" normalizeH="0" baseline="0" noProof="0" dirty="0" err="1">
                <a:ln>
                  <a:noFill/>
                </a:ln>
                <a:solidFill>
                  <a:srgbClr val="333333"/>
                </a:solidFill>
                <a:effectLst/>
                <a:uLnTx/>
                <a:uFillTx/>
                <a:latin typeface="Courier New" panose="02070309020205020404" pitchFamily="49" charset="0"/>
                <a:sym typeface="Hanken Grotesk"/>
              </a:rPr>
              <a:t>panjang</a:t>
            </a:r>
            <a:r>
              <a:rPr kumimoji="0" lang="en-US" sz="1200" b="0" i="0" u="none" strike="noStrike" kern="0" cap="none" spc="0" normalizeH="0" baseline="0" noProof="0" dirty="0">
                <a:ln>
                  <a:noFill/>
                </a:ln>
                <a:solidFill>
                  <a:srgbClr val="333333"/>
                </a:solidFill>
                <a:effectLst/>
                <a:uLnTx/>
                <a:uFillTx/>
                <a:latin typeface="Courier New" panose="02070309020205020404" pitchFamily="49" charset="0"/>
                <a:sym typeface="Hanken Grotesk"/>
              </a:rPr>
              <a:t>=</a:t>
            </a:r>
            <a:r>
              <a:rPr kumimoji="0" lang="en-US" sz="1200" b="1" i="0" u="none" strike="noStrike" kern="0" cap="none" spc="0" normalizeH="0" baseline="0" noProof="0" dirty="0">
                <a:ln>
                  <a:noFill/>
                </a:ln>
                <a:solidFill>
                  <a:srgbClr val="0000DD"/>
                </a:solidFill>
                <a:effectLst/>
                <a:uLnTx/>
                <a:uFillTx/>
                <a:latin typeface="Courier New" panose="02070309020205020404" pitchFamily="49" charset="0"/>
                <a:sym typeface="Hanken Grotesk"/>
              </a:rPr>
              <a:t>15</a:t>
            </a:r>
            <a:r>
              <a:rPr kumimoji="0" lang="en-US" sz="1200" b="0" i="0" u="none" strike="noStrike" kern="0" cap="none" spc="0" normalizeH="0" baseline="0" noProof="0" dirty="0">
                <a:ln>
                  <a:noFill/>
                </a:ln>
                <a:solidFill>
                  <a:srgbClr val="333333"/>
                </a:solidFill>
                <a:effectLst/>
                <a:uLnTx/>
                <a:uFillTx/>
                <a:latin typeface="Courier New" panose="02070309020205020404" pitchFamily="49" charset="0"/>
                <a:sym typeface="Hanken Grotesk"/>
              </a:rPr>
              <a:t>)</a:t>
            </a:r>
          </a:p>
          <a:p>
            <a:pPr marL="0" marR="0" lvl="0" indent="0" algn="l" defTabSz="914400" rtl="0" eaLnBrk="1" fontAlgn="auto" latinLnBrk="0" hangingPunct="1">
              <a:lnSpc>
                <a:spcPct val="56435"/>
              </a:lnSpc>
              <a:spcBef>
                <a:spcPts val="300"/>
              </a:spcBef>
              <a:spcAft>
                <a:spcPts val="0"/>
              </a:spcAft>
              <a:buClr>
                <a:srgbClr val="333333"/>
              </a:buClr>
              <a:buSzPts val="800"/>
              <a:buFont typeface="Hanken Grotesk"/>
              <a:buNone/>
              <a:tabLst/>
              <a:defRPr/>
            </a:pPr>
            <a:r>
              <a:rPr kumimoji="0" lang="en-US" sz="1200" b="0" i="0" u="none" strike="noStrike" kern="0" cap="none" spc="0" normalizeH="0" baseline="0" noProof="0" dirty="0" err="1">
                <a:ln>
                  <a:noFill/>
                </a:ln>
                <a:solidFill>
                  <a:srgbClr val="333333"/>
                </a:solidFill>
                <a:effectLst/>
                <a:uLnTx/>
                <a:uFillTx/>
                <a:latin typeface="Courier New" panose="02070309020205020404" pitchFamily="49" charset="0"/>
                <a:sym typeface="Hanken Grotesk"/>
              </a:rPr>
              <a:t>citra_terdegradasi</a:t>
            </a:r>
            <a:r>
              <a:rPr kumimoji="0" lang="en-US" sz="1200" b="0" i="0" u="none" strike="noStrike" kern="0" cap="none" spc="0" normalizeH="0" baseline="0" noProof="0" dirty="0">
                <a:ln>
                  <a:noFill/>
                </a:ln>
                <a:solidFill>
                  <a:srgbClr val="333333"/>
                </a:solidFill>
                <a:effectLst/>
                <a:uLnTx/>
                <a:uFillTx/>
                <a:latin typeface="Courier New" panose="02070309020205020404" pitchFamily="49" charset="0"/>
                <a:sym typeface="Hanken Grotesk"/>
              </a:rPr>
              <a:t> = cv2.filter2D(</a:t>
            </a:r>
            <a:r>
              <a:rPr kumimoji="0" lang="en-US" sz="1200" b="0" i="0" u="none" strike="noStrike" kern="0" cap="none" spc="0" normalizeH="0" baseline="0" noProof="0" dirty="0" err="1">
                <a:ln>
                  <a:noFill/>
                </a:ln>
                <a:solidFill>
                  <a:srgbClr val="333333"/>
                </a:solidFill>
                <a:effectLst/>
                <a:uLnTx/>
                <a:uFillTx/>
                <a:latin typeface="Courier New" panose="02070309020205020404" pitchFamily="49" charset="0"/>
                <a:sym typeface="Hanken Grotesk"/>
              </a:rPr>
              <a:t>citra_gray</a:t>
            </a:r>
            <a:r>
              <a:rPr kumimoji="0" lang="en-US" sz="1200" b="0" i="0" u="none" strike="noStrike" kern="0" cap="none" spc="0" normalizeH="0" baseline="0" noProof="0" dirty="0">
                <a:ln>
                  <a:noFill/>
                </a:ln>
                <a:solidFill>
                  <a:srgbClr val="333333"/>
                </a:solidFill>
                <a:effectLst/>
                <a:uLnTx/>
                <a:uFillTx/>
                <a:latin typeface="Courier New" panose="02070309020205020404" pitchFamily="49" charset="0"/>
                <a:sym typeface="Hanken Grotesk"/>
              </a:rPr>
              <a:t>, -</a:t>
            </a:r>
            <a:r>
              <a:rPr kumimoji="0" lang="en-US" sz="1200" b="1" i="0" u="none" strike="noStrike" kern="0" cap="none" spc="0" normalizeH="0" baseline="0" noProof="0" dirty="0">
                <a:ln>
                  <a:noFill/>
                </a:ln>
                <a:solidFill>
                  <a:srgbClr val="0000DD"/>
                </a:solidFill>
                <a:effectLst/>
                <a:uLnTx/>
                <a:uFillTx/>
                <a:latin typeface="Courier New" panose="02070309020205020404" pitchFamily="49" charset="0"/>
                <a:sym typeface="Hanken Grotesk"/>
              </a:rPr>
              <a:t>1</a:t>
            </a:r>
            <a:r>
              <a:rPr kumimoji="0" lang="en-US" sz="1200" b="0" i="0" u="none" strike="noStrike" kern="0" cap="none" spc="0" normalizeH="0" baseline="0" noProof="0" dirty="0">
                <a:ln>
                  <a:noFill/>
                </a:ln>
                <a:solidFill>
                  <a:srgbClr val="333333"/>
                </a:solidFill>
                <a:effectLst/>
                <a:uLnTx/>
                <a:uFillTx/>
                <a:latin typeface="Courier New" panose="02070309020205020404" pitchFamily="49" charset="0"/>
                <a:sym typeface="Hanken Grotesk"/>
              </a:rPr>
              <a:t>, </a:t>
            </a:r>
            <a:r>
              <a:rPr kumimoji="0" lang="en-US" sz="1200" b="0" i="0" u="none" strike="noStrike" kern="0" cap="none" spc="0" normalizeH="0" baseline="0" noProof="0" dirty="0" err="1">
                <a:ln>
                  <a:noFill/>
                </a:ln>
                <a:solidFill>
                  <a:srgbClr val="333333"/>
                </a:solidFill>
                <a:effectLst/>
                <a:uLnTx/>
                <a:uFillTx/>
                <a:latin typeface="Courier New" panose="02070309020205020404" pitchFamily="49" charset="0"/>
                <a:sym typeface="Hanken Grotesk"/>
              </a:rPr>
              <a:t>kernel_blur</a:t>
            </a:r>
            <a:r>
              <a:rPr kumimoji="0" lang="en-US" sz="1200" b="0" i="0" u="none" strike="noStrike" kern="0" cap="none" spc="0" normalizeH="0" baseline="0" noProof="0" dirty="0">
                <a:ln>
                  <a:noFill/>
                </a:ln>
                <a:solidFill>
                  <a:srgbClr val="333333"/>
                </a:solidFill>
                <a:effectLst/>
                <a:uLnTx/>
                <a:uFillTx/>
                <a:latin typeface="Courier New" panose="02070309020205020404" pitchFamily="49" charset="0"/>
                <a:sym typeface="Hanken Grotesk"/>
              </a:rPr>
              <a:t>)</a:t>
            </a:r>
          </a:p>
          <a:p>
            <a:pPr marL="0" marR="0" lvl="0" indent="0" algn="l" defTabSz="914400" rtl="0" eaLnBrk="1" fontAlgn="auto" latinLnBrk="0" hangingPunct="1">
              <a:lnSpc>
                <a:spcPct val="56435"/>
              </a:lnSpc>
              <a:spcBef>
                <a:spcPts val="300"/>
              </a:spcBef>
              <a:spcAft>
                <a:spcPts val="0"/>
              </a:spcAft>
              <a:buClr>
                <a:srgbClr val="333333"/>
              </a:buClr>
              <a:buSzPts val="800"/>
              <a:buFont typeface="Hanken Grotesk"/>
              <a:buNone/>
              <a:tabLst/>
              <a:defRPr/>
            </a:pPr>
            <a:endParaRPr kumimoji="0" lang="en-US" sz="1200" b="0" i="0" u="none" strike="noStrike" kern="0" cap="none" spc="0" normalizeH="0" baseline="0" noProof="0" dirty="0">
              <a:ln>
                <a:noFill/>
              </a:ln>
              <a:solidFill>
                <a:srgbClr val="333333"/>
              </a:solidFill>
              <a:effectLst/>
              <a:uLnTx/>
              <a:uFillTx/>
              <a:latin typeface="Courier New" panose="02070309020205020404" pitchFamily="49" charset="0"/>
              <a:sym typeface="Hanken Grotesk"/>
            </a:endParaRPr>
          </a:p>
        </p:txBody>
      </p:sp>
    </p:spTree>
    <p:extLst>
      <p:ext uri="{BB962C8B-B14F-4D97-AF65-F5344CB8AC3E}">
        <p14:creationId xmlns:p14="http://schemas.microsoft.com/office/powerpoint/2010/main" val="40647407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59CBF-7F99-D988-D084-F02B132434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9BF0C8-412F-C146-398F-01D44F6AFD7C}"/>
              </a:ext>
            </a:extLst>
          </p:cNvPr>
          <p:cNvSpPr>
            <a:spLocks noGrp="1"/>
          </p:cNvSpPr>
          <p:nvPr>
            <p:ph type="title"/>
          </p:nvPr>
        </p:nvSpPr>
        <p:spPr>
          <a:xfrm>
            <a:off x="720000" y="182591"/>
            <a:ext cx="7704000" cy="572700"/>
          </a:xfrm>
        </p:spPr>
        <p:txBody>
          <a:bodyPr/>
          <a:lstStyle/>
          <a:p>
            <a:r>
              <a:rPr lang="en-US" dirty="0"/>
              <a:t>Interpretation in Image</a:t>
            </a:r>
          </a:p>
        </p:txBody>
      </p:sp>
      <p:pic>
        <p:nvPicPr>
          <p:cNvPr id="3" name="Picture 2">
            <a:extLst>
              <a:ext uri="{FF2B5EF4-FFF2-40B4-BE49-F238E27FC236}">
                <a16:creationId xmlns:a16="http://schemas.microsoft.com/office/drawing/2014/main" id="{FAE53E7A-1A33-DD0F-2375-267BB8EB7A65}"/>
              </a:ext>
            </a:extLst>
          </p:cNvPr>
          <p:cNvPicPr>
            <a:picLocks noChangeAspect="1"/>
          </p:cNvPicPr>
          <p:nvPr/>
        </p:nvPicPr>
        <p:blipFill>
          <a:blip r:embed="rId3"/>
          <a:srcRect t="3922"/>
          <a:stretch>
            <a:fillRect/>
          </a:stretch>
        </p:blipFill>
        <p:spPr>
          <a:xfrm>
            <a:off x="3331984" y="919677"/>
            <a:ext cx="5812016" cy="4098465"/>
          </a:xfrm>
          <a:prstGeom prst="rect">
            <a:avLst/>
          </a:prstGeom>
        </p:spPr>
      </p:pic>
      <p:sp>
        <p:nvSpPr>
          <p:cNvPr id="5" name="Text Placeholder 2">
            <a:extLst>
              <a:ext uri="{FF2B5EF4-FFF2-40B4-BE49-F238E27FC236}">
                <a16:creationId xmlns:a16="http://schemas.microsoft.com/office/drawing/2014/main" id="{DF05CBF2-7951-D711-5428-AC01E73F24B0}"/>
              </a:ext>
            </a:extLst>
          </p:cNvPr>
          <p:cNvSpPr>
            <a:spLocks noGrp="1"/>
          </p:cNvSpPr>
          <p:nvPr>
            <p:ph type="body" idx="1"/>
          </p:nvPr>
        </p:nvSpPr>
        <p:spPr>
          <a:xfrm>
            <a:off x="292252" y="938988"/>
            <a:ext cx="3169086" cy="529183"/>
          </a:xfrm>
          <a:ln>
            <a:noFill/>
          </a:ln>
        </p:spPr>
        <p:txBody>
          <a:bodyPr/>
          <a:lstStyle/>
          <a:p>
            <a:pPr marL="0" indent="0">
              <a:lnSpc>
                <a:spcPct val="56435"/>
              </a:lnSpc>
              <a:spcBef>
                <a:spcPts val="600"/>
              </a:spcBef>
              <a:buNone/>
            </a:pPr>
            <a:r>
              <a:rPr lang="en-US" sz="1200" dirty="0">
                <a:solidFill>
                  <a:srgbClr val="888888"/>
                </a:solidFill>
                <a:latin typeface="Courier New" panose="02070309020205020404" pitchFamily="49" charset="0"/>
              </a:rPr>
              <a:t># --- </a:t>
            </a:r>
            <a:r>
              <a:rPr lang="en-US" sz="1200" dirty="0" err="1">
                <a:solidFill>
                  <a:srgbClr val="888888"/>
                </a:solidFill>
                <a:latin typeface="Courier New" panose="02070309020205020404" pitchFamily="49" charset="0"/>
              </a:rPr>
              <a:t>Restorasi</a:t>
            </a:r>
            <a:r>
              <a:rPr lang="en-US" sz="1200" dirty="0">
                <a:solidFill>
                  <a:srgbClr val="888888"/>
                </a:solidFill>
                <a:latin typeface="Courier New" panose="02070309020205020404" pitchFamily="49" charset="0"/>
              </a:rPr>
              <a:t> </a:t>
            </a:r>
            <a:r>
              <a:rPr lang="en-US" sz="1200" dirty="0" err="1">
                <a:solidFill>
                  <a:srgbClr val="888888"/>
                </a:solidFill>
                <a:latin typeface="Courier New" panose="02070309020205020404" pitchFamily="49" charset="0"/>
              </a:rPr>
              <a:t>dengan</a:t>
            </a:r>
            <a:r>
              <a:rPr lang="en-US" sz="1200" dirty="0">
                <a:solidFill>
                  <a:srgbClr val="888888"/>
                </a:solidFill>
                <a:latin typeface="Courier New" panose="02070309020205020404" pitchFamily="49" charset="0"/>
              </a:rPr>
              <a:t> </a:t>
            </a:r>
            <a:r>
              <a:rPr lang="en-US" sz="1200" dirty="0" err="1">
                <a:solidFill>
                  <a:srgbClr val="888888"/>
                </a:solidFill>
                <a:latin typeface="Courier New" panose="02070309020205020404" pitchFamily="49" charset="0"/>
              </a:rPr>
              <a:t>algoritma</a:t>
            </a:r>
            <a:r>
              <a:rPr lang="en-US" sz="1200" dirty="0">
                <a:solidFill>
                  <a:srgbClr val="888888"/>
                </a:solidFill>
                <a:latin typeface="Courier New" panose="02070309020205020404" pitchFamily="49" charset="0"/>
              </a:rPr>
              <a:t> Richardson-Lucy (</a:t>
            </a:r>
            <a:r>
              <a:rPr lang="en-US" sz="1200" dirty="0" err="1">
                <a:solidFill>
                  <a:srgbClr val="888888"/>
                </a:solidFill>
                <a:latin typeface="Courier New" panose="02070309020205020404" pitchFamily="49" charset="0"/>
              </a:rPr>
              <a:t>dekonvolusi</a:t>
            </a:r>
            <a:r>
              <a:rPr lang="en-US" sz="1200" dirty="0">
                <a:solidFill>
                  <a:srgbClr val="888888"/>
                </a:solidFill>
                <a:latin typeface="Courier New" panose="02070309020205020404" pitchFamily="49" charset="0"/>
              </a:rPr>
              <a:t> </a:t>
            </a:r>
            <a:r>
              <a:rPr lang="en-US" sz="1200" dirty="0" err="1">
                <a:solidFill>
                  <a:srgbClr val="888888"/>
                </a:solidFill>
                <a:latin typeface="Courier New" panose="02070309020205020404" pitchFamily="49" charset="0"/>
              </a:rPr>
              <a:t>iteratif</a:t>
            </a:r>
            <a:r>
              <a:rPr lang="en-US" sz="1200" dirty="0">
                <a:solidFill>
                  <a:srgbClr val="888888"/>
                </a:solidFill>
                <a:latin typeface="Courier New" panose="02070309020205020404" pitchFamily="49" charset="0"/>
              </a:rPr>
              <a:t>)</a:t>
            </a:r>
            <a:endParaRPr lang="en-US" sz="1200" dirty="0">
              <a:solidFill>
                <a:srgbClr val="333333"/>
              </a:solidFill>
              <a:latin typeface="Courier New" panose="02070309020205020404" pitchFamily="49" charset="0"/>
            </a:endParaRPr>
          </a:p>
          <a:p>
            <a:pPr marL="0" indent="0">
              <a:lnSpc>
                <a:spcPct val="56435"/>
              </a:lnSpc>
              <a:spcBef>
                <a:spcPts val="600"/>
              </a:spcBef>
              <a:buNone/>
            </a:pPr>
            <a:r>
              <a:rPr lang="en-US" sz="1200" dirty="0" err="1">
                <a:solidFill>
                  <a:srgbClr val="333333"/>
                </a:solidFill>
                <a:latin typeface="Courier New" panose="02070309020205020404" pitchFamily="49" charset="0"/>
              </a:rPr>
              <a:t>citra_float</a:t>
            </a:r>
            <a:r>
              <a:rPr lang="en-US" sz="1200" dirty="0">
                <a:solidFill>
                  <a:srgbClr val="333333"/>
                </a:solidFill>
                <a:latin typeface="Courier New" panose="02070309020205020404" pitchFamily="49" charset="0"/>
              </a:rPr>
              <a:t> = </a:t>
            </a:r>
            <a:r>
              <a:rPr lang="en-US" sz="1200" dirty="0" err="1">
                <a:solidFill>
                  <a:srgbClr val="333333"/>
                </a:solidFill>
                <a:latin typeface="Courier New" panose="02070309020205020404" pitchFamily="49" charset="0"/>
              </a:rPr>
              <a:t>citra_terdegradasi.astype</a:t>
            </a:r>
            <a:r>
              <a:rPr lang="en-US" sz="1200" dirty="0">
                <a:solidFill>
                  <a:srgbClr val="333333"/>
                </a:solidFill>
                <a:latin typeface="Courier New" panose="02070309020205020404" pitchFamily="49" charset="0"/>
              </a:rPr>
              <a:t>(</a:t>
            </a:r>
            <a:r>
              <a:rPr lang="en-US" sz="1200" dirty="0">
                <a:solidFill>
                  <a:srgbClr val="007020"/>
                </a:solidFill>
                <a:latin typeface="Courier New" panose="02070309020205020404" pitchFamily="49" charset="0"/>
              </a:rPr>
              <a:t>float</a:t>
            </a:r>
            <a:r>
              <a:rPr lang="en-US" sz="1200" dirty="0">
                <a:solidFill>
                  <a:srgbClr val="333333"/>
                </a:solidFill>
                <a:latin typeface="Courier New" panose="02070309020205020404" pitchFamily="49" charset="0"/>
              </a:rPr>
              <a:t>) / </a:t>
            </a:r>
            <a:r>
              <a:rPr lang="en-US" sz="1200" b="1" dirty="0">
                <a:solidFill>
                  <a:srgbClr val="6600EE"/>
                </a:solidFill>
                <a:latin typeface="Courier New" panose="02070309020205020404" pitchFamily="49" charset="0"/>
              </a:rPr>
              <a:t>255.0</a:t>
            </a:r>
            <a:endParaRPr lang="en-US" sz="1200" dirty="0">
              <a:solidFill>
                <a:srgbClr val="333333"/>
              </a:solidFill>
              <a:latin typeface="Courier New" panose="02070309020205020404" pitchFamily="49" charset="0"/>
            </a:endParaRPr>
          </a:p>
          <a:p>
            <a:pPr marL="0" indent="0">
              <a:lnSpc>
                <a:spcPct val="56435"/>
              </a:lnSpc>
              <a:spcBef>
                <a:spcPts val="600"/>
              </a:spcBef>
              <a:buNone/>
            </a:pPr>
            <a:r>
              <a:rPr lang="en-US" sz="1200" dirty="0" err="1">
                <a:solidFill>
                  <a:srgbClr val="333333"/>
                </a:solidFill>
                <a:latin typeface="Courier New" panose="02070309020205020404" pitchFamily="49" charset="0"/>
              </a:rPr>
              <a:t>citra_pulih_deblur</a:t>
            </a:r>
            <a:r>
              <a:rPr lang="en-US" sz="1200" dirty="0">
                <a:solidFill>
                  <a:srgbClr val="333333"/>
                </a:solidFill>
                <a:latin typeface="Courier New" panose="02070309020205020404" pitchFamily="49" charset="0"/>
              </a:rPr>
              <a:t> = </a:t>
            </a:r>
            <a:r>
              <a:rPr lang="en-US" sz="1200" dirty="0" err="1">
                <a:solidFill>
                  <a:srgbClr val="333333"/>
                </a:solidFill>
                <a:latin typeface="Courier New" panose="02070309020205020404" pitchFamily="49" charset="0"/>
              </a:rPr>
              <a:t>richardson_lucy</a:t>
            </a:r>
            <a:r>
              <a:rPr lang="en-US" sz="1200" dirty="0">
                <a:solidFill>
                  <a:srgbClr val="333333"/>
                </a:solidFill>
                <a:latin typeface="Courier New" panose="02070309020205020404" pitchFamily="49" charset="0"/>
              </a:rPr>
              <a:t>(</a:t>
            </a:r>
            <a:r>
              <a:rPr lang="en-US" sz="1200" dirty="0" err="1">
                <a:solidFill>
                  <a:srgbClr val="333333"/>
                </a:solidFill>
                <a:latin typeface="Courier New" panose="02070309020205020404" pitchFamily="49" charset="0"/>
              </a:rPr>
              <a:t>citra_float</a:t>
            </a:r>
            <a:r>
              <a:rPr lang="en-US" sz="1200" dirty="0">
                <a:solidFill>
                  <a:srgbClr val="333333"/>
                </a:solidFill>
                <a:latin typeface="Courier New" panose="02070309020205020404" pitchFamily="49" charset="0"/>
              </a:rPr>
              <a:t>, </a:t>
            </a:r>
            <a:r>
              <a:rPr lang="en-US" sz="1200" dirty="0" err="1">
                <a:solidFill>
                  <a:srgbClr val="333333"/>
                </a:solidFill>
                <a:latin typeface="Courier New" panose="02070309020205020404" pitchFamily="49" charset="0"/>
              </a:rPr>
              <a:t>kernel_blur</a:t>
            </a:r>
            <a:r>
              <a:rPr lang="en-US" sz="1200" dirty="0">
                <a:solidFill>
                  <a:srgbClr val="333333"/>
                </a:solidFill>
                <a:latin typeface="Courier New" panose="02070309020205020404" pitchFamily="49" charset="0"/>
              </a:rPr>
              <a:t>, </a:t>
            </a:r>
            <a:r>
              <a:rPr lang="en-US" sz="1200" dirty="0" err="1">
                <a:solidFill>
                  <a:srgbClr val="333333"/>
                </a:solidFill>
                <a:latin typeface="Courier New" panose="02070309020205020404" pitchFamily="49" charset="0"/>
              </a:rPr>
              <a:t>num_iter</a:t>
            </a:r>
            <a:r>
              <a:rPr lang="en-US" sz="1200" dirty="0">
                <a:solidFill>
                  <a:srgbClr val="333333"/>
                </a:solidFill>
                <a:latin typeface="Courier New" panose="02070309020205020404" pitchFamily="49" charset="0"/>
              </a:rPr>
              <a:t>=</a:t>
            </a:r>
            <a:r>
              <a:rPr lang="en-US" sz="1200" b="1" dirty="0">
                <a:solidFill>
                  <a:srgbClr val="0000DD"/>
                </a:solidFill>
                <a:latin typeface="Courier New" panose="02070309020205020404" pitchFamily="49" charset="0"/>
              </a:rPr>
              <a:t>30</a:t>
            </a:r>
            <a:r>
              <a:rPr lang="en-US" sz="1200" dirty="0">
                <a:solidFill>
                  <a:srgbClr val="333333"/>
                </a:solidFill>
                <a:latin typeface="Courier New" panose="02070309020205020404" pitchFamily="49" charset="0"/>
              </a:rPr>
              <a:t>)</a:t>
            </a:r>
          </a:p>
          <a:p>
            <a:pPr marL="0" indent="0">
              <a:lnSpc>
                <a:spcPct val="56435"/>
              </a:lnSpc>
              <a:spcBef>
                <a:spcPts val="600"/>
              </a:spcBef>
              <a:buNone/>
            </a:pPr>
            <a:r>
              <a:rPr lang="en-US" sz="1200" dirty="0" err="1">
                <a:solidFill>
                  <a:srgbClr val="333333"/>
                </a:solidFill>
                <a:latin typeface="Courier New" panose="02070309020205020404" pitchFamily="49" charset="0"/>
              </a:rPr>
              <a:t>citra_pulih_deblur</a:t>
            </a:r>
            <a:r>
              <a:rPr lang="en-US" sz="1200" dirty="0">
                <a:solidFill>
                  <a:srgbClr val="333333"/>
                </a:solidFill>
                <a:latin typeface="Courier New" panose="02070309020205020404" pitchFamily="49" charset="0"/>
              </a:rPr>
              <a:t> = </a:t>
            </a:r>
            <a:r>
              <a:rPr lang="en-US" sz="1200" dirty="0" err="1">
                <a:solidFill>
                  <a:srgbClr val="333333"/>
                </a:solidFill>
                <a:latin typeface="Courier New" panose="02070309020205020404" pitchFamily="49" charset="0"/>
              </a:rPr>
              <a:t>np.clip</a:t>
            </a:r>
            <a:r>
              <a:rPr lang="en-US" sz="1200" dirty="0">
                <a:solidFill>
                  <a:srgbClr val="333333"/>
                </a:solidFill>
                <a:latin typeface="Courier New" panose="02070309020205020404" pitchFamily="49" charset="0"/>
              </a:rPr>
              <a:t>(</a:t>
            </a:r>
            <a:r>
              <a:rPr lang="en-US" sz="1200" dirty="0" err="1">
                <a:solidFill>
                  <a:srgbClr val="333333"/>
                </a:solidFill>
                <a:latin typeface="Courier New" panose="02070309020205020404" pitchFamily="49" charset="0"/>
              </a:rPr>
              <a:t>citra_pulih_deblur</a:t>
            </a:r>
            <a:r>
              <a:rPr lang="en-US" sz="1200" dirty="0">
                <a:solidFill>
                  <a:srgbClr val="333333"/>
                </a:solidFill>
                <a:latin typeface="Courier New" panose="02070309020205020404" pitchFamily="49" charset="0"/>
              </a:rPr>
              <a:t> * </a:t>
            </a:r>
            <a:r>
              <a:rPr lang="en-US" sz="1200" b="1" dirty="0">
                <a:solidFill>
                  <a:srgbClr val="0000DD"/>
                </a:solidFill>
                <a:latin typeface="Courier New" panose="02070309020205020404" pitchFamily="49" charset="0"/>
              </a:rPr>
              <a:t>255</a:t>
            </a:r>
            <a:r>
              <a:rPr lang="en-US" sz="1200" dirty="0">
                <a:solidFill>
                  <a:srgbClr val="333333"/>
                </a:solidFill>
                <a:latin typeface="Courier New" panose="02070309020205020404" pitchFamily="49" charset="0"/>
              </a:rPr>
              <a:t>, </a:t>
            </a:r>
            <a:r>
              <a:rPr lang="en-US" sz="1200" b="1" dirty="0">
                <a:solidFill>
                  <a:srgbClr val="0000DD"/>
                </a:solidFill>
                <a:latin typeface="Courier New" panose="02070309020205020404" pitchFamily="49" charset="0"/>
              </a:rPr>
              <a:t>0</a:t>
            </a:r>
            <a:r>
              <a:rPr lang="en-US" sz="1200" dirty="0">
                <a:solidFill>
                  <a:srgbClr val="333333"/>
                </a:solidFill>
                <a:latin typeface="Courier New" panose="02070309020205020404" pitchFamily="49" charset="0"/>
              </a:rPr>
              <a:t>, </a:t>
            </a:r>
            <a:r>
              <a:rPr lang="en-US" sz="1200" b="1" dirty="0">
                <a:solidFill>
                  <a:srgbClr val="0000DD"/>
                </a:solidFill>
                <a:latin typeface="Courier New" panose="02070309020205020404" pitchFamily="49" charset="0"/>
              </a:rPr>
              <a:t>255</a:t>
            </a:r>
            <a:r>
              <a:rPr lang="en-US" sz="1200" dirty="0">
                <a:solidFill>
                  <a:srgbClr val="333333"/>
                </a:solidFill>
                <a:latin typeface="Courier New" panose="02070309020205020404" pitchFamily="49" charset="0"/>
              </a:rPr>
              <a:t>).</a:t>
            </a:r>
            <a:r>
              <a:rPr lang="en-US" sz="1200" dirty="0" err="1">
                <a:solidFill>
                  <a:srgbClr val="333333"/>
                </a:solidFill>
                <a:latin typeface="Courier New" panose="02070309020205020404" pitchFamily="49" charset="0"/>
              </a:rPr>
              <a:t>astype</a:t>
            </a:r>
            <a:r>
              <a:rPr lang="en-US" sz="1200" dirty="0">
                <a:solidFill>
                  <a:srgbClr val="333333"/>
                </a:solidFill>
                <a:latin typeface="Courier New" panose="02070309020205020404" pitchFamily="49" charset="0"/>
              </a:rPr>
              <a:t>(np.uint8)</a:t>
            </a:r>
          </a:p>
          <a:p>
            <a:pPr marL="0" indent="0">
              <a:lnSpc>
                <a:spcPct val="56435"/>
              </a:lnSpc>
              <a:spcBef>
                <a:spcPts val="600"/>
              </a:spcBef>
              <a:buNone/>
            </a:pPr>
            <a:endParaRPr lang="en-US" sz="1200" dirty="0">
              <a:solidFill>
                <a:srgbClr val="333333"/>
              </a:solidFill>
              <a:latin typeface="Courier New" panose="02070309020205020404" pitchFamily="49" charset="0"/>
            </a:endParaRPr>
          </a:p>
          <a:p>
            <a:pPr marL="0" indent="0">
              <a:lnSpc>
                <a:spcPct val="56435"/>
              </a:lnSpc>
              <a:spcBef>
                <a:spcPts val="600"/>
              </a:spcBef>
              <a:buNone/>
            </a:pPr>
            <a:r>
              <a:rPr lang="en-US" sz="1200" dirty="0">
                <a:solidFill>
                  <a:srgbClr val="888888"/>
                </a:solidFill>
                <a:latin typeface="Courier New" panose="02070309020205020404" pitchFamily="49" charset="0"/>
              </a:rPr>
              <a:t># --- Denoising modern non-linear (Non-Local Means, </a:t>
            </a:r>
            <a:r>
              <a:rPr lang="en-US" sz="1200" dirty="0" err="1">
                <a:solidFill>
                  <a:srgbClr val="888888"/>
                </a:solidFill>
                <a:latin typeface="Courier New" panose="02070309020205020404" pitchFamily="49" charset="0"/>
              </a:rPr>
              <a:t>kombinasi</a:t>
            </a:r>
            <a:r>
              <a:rPr lang="en-US" sz="1200" dirty="0">
                <a:solidFill>
                  <a:srgbClr val="888888"/>
                </a:solidFill>
                <a:latin typeface="Courier New" panose="02070309020205020404" pitchFamily="49" charset="0"/>
              </a:rPr>
              <a:t> </a:t>
            </a:r>
            <a:r>
              <a:rPr lang="en-US" sz="1200" dirty="0" err="1">
                <a:solidFill>
                  <a:srgbClr val="888888"/>
                </a:solidFill>
                <a:latin typeface="Courier New" panose="02070309020205020404" pitchFamily="49" charset="0"/>
              </a:rPr>
              <a:t>statistik</a:t>
            </a:r>
            <a:r>
              <a:rPr lang="en-US" sz="1200" dirty="0">
                <a:solidFill>
                  <a:srgbClr val="888888"/>
                </a:solidFill>
                <a:latin typeface="Courier New" panose="02070309020205020404" pitchFamily="49" charset="0"/>
              </a:rPr>
              <a:t> &amp; </a:t>
            </a:r>
            <a:r>
              <a:rPr lang="en-US" sz="1200" dirty="0" err="1">
                <a:solidFill>
                  <a:srgbClr val="888888"/>
                </a:solidFill>
                <a:latin typeface="Courier New" panose="02070309020205020404" pitchFamily="49" charset="0"/>
              </a:rPr>
              <a:t>pembobotan</a:t>
            </a:r>
            <a:r>
              <a:rPr lang="en-US" sz="1200" dirty="0">
                <a:solidFill>
                  <a:srgbClr val="888888"/>
                </a:solidFill>
                <a:latin typeface="Courier New" panose="02070309020205020404" pitchFamily="49" charset="0"/>
              </a:rPr>
              <a:t>) ---</a:t>
            </a:r>
            <a:endParaRPr lang="en-US" sz="1200" dirty="0">
              <a:solidFill>
                <a:srgbClr val="333333"/>
              </a:solidFill>
              <a:latin typeface="Courier New" panose="02070309020205020404" pitchFamily="49" charset="0"/>
            </a:endParaRPr>
          </a:p>
          <a:p>
            <a:pPr marL="0" indent="0">
              <a:lnSpc>
                <a:spcPct val="56435"/>
              </a:lnSpc>
              <a:spcBef>
                <a:spcPts val="600"/>
              </a:spcBef>
              <a:buNone/>
            </a:pPr>
            <a:r>
              <a:rPr lang="en-US" sz="1200" dirty="0" err="1">
                <a:solidFill>
                  <a:srgbClr val="333333"/>
                </a:solidFill>
                <a:latin typeface="Courier New" panose="02070309020205020404" pitchFamily="49" charset="0"/>
              </a:rPr>
              <a:t>citra_pulih_nlm</a:t>
            </a:r>
            <a:r>
              <a:rPr lang="en-US" sz="1200" dirty="0">
                <a:solidFill>
                  <a:srgbClr val="333333"/>
                </a:solidFill>
                <a:latin typeface="Courier New" panose="02070309020205020404" pitchFamily="49" charset="0"/>
              </a:rPr>
              <a:t> = cv2.fastNlMeansDenoising(</a:t>
            </a:r>
            <a:r>
              <a:rPr lang="en-US" sz="1200" dirty="0" err="1">
                <a:solidFill>
                  <a:srgbClr val="333333"/>
                </a:solidFill>
                <a:latin typeface="Courier New" panose="02070309020205020404" pitchFamily="49" charset="0"/>
              </a:rPr>
              <a:t>citra_gray</a:t>
            </a:r>
            <a:r>
              <a:rPr lang="en-US" sz="1200" dirty="0">
                <a:solidFill>
                  <a:srgbClr val="333333"/>
                </a:solidFill>
                <a:latin typeface="Courier New" panose="02070309020205020404" pitchFamily="49" charset="0"/>
              </a:rPr>
              <a:t>, h=</a:t>
            </a:r>
            <a:r>
              <a:rPr lang="en-US" sz="1200" b="1" dirty="0">
                <a:solidFill>
                  <a:srgbClr val="0000DD"/>
                </a:solidFill>
                <a:latin typeface="Courier New" panose="02070309020205020404" pitchFamily="49" charset="0"/>
              </a:rPr>
              <a:t>10</a:t>
            </a:r>
            <a:r>
              <a:rPr lang="en-US" sz="1200" dirty="0">
                <a:solidFill>
                  <a:srgbClr val="333333"/>
                </a:solidFill>
                <a:latin typeface="Courier New" panose="02070309020205020404" pitchFamily="49" charset="0"/>
              </a:rPr>
              <a:t>)</a:t>
            </a:r>
          </a:p>
        </p:txBody>
      </p:sp>
    </p:spTree>
    <p:extLst>
      <p:ext uri="{BB962C8B-B14F-4D97-AF65-F5344CB8AC3E}">
        <p14:creationId xmlns:p14="http://schemas.microsoft.com/office/powerpoint/2010/main" val="38316795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sp>
        <p:nvSpPr>
          <p:cNvPr id="414" name="Google Shape;414;p43"/>
          <p:cNvSpPr txBox="1">
            <a:spLocks noGrp="1"/>
          </p:cNvSpPr>
          <p:nvPr>
            <p:ph type="title"/>
          </p:nvPr>
        </p:nvSpPr>
        <p:spPr>
          <a:xfrm>
            <a:off x="1568621" y="531939"/>
            <a:ext cx="5855100" cy="760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Summary</a:t>
            </a:r>
            <a:endParaRPr dirty="0"/>
          </a:p>
        </p:txBody>
      </p:sp>
      <mc:AlternateContent xmlns:mc="http://schemas.openxmlformats.org/markup-compatibility/2006">
        <mc:Choice xmlns:a14="http://schemas.microsoft.com/office/drawing/2010/main" Requires="a14">
          <p:graphicFrame>
            <p:nvGraphicFramePr>
              <p:cNvPr id="2" name="Table 1">
                <a:extLst>
                  <a:ext uri="{FF2B5EF4-FFF2-40B4-BE49-F238E27FC236}">
                    <a16:creationId xmlns:a16="http://schemas.microsoft.com/office/drawing/2014/main" id="{C56693F8-9752-0DB1-97A7-5004DB35EFED}"/>
                  </a:ext>
                </a:extLst>
              </p:cNvPr>
              <p:cNvGraphicFramePr>
                <a:graphicFrameLocks noGrp="1"/>
              </p:cNvGraphicFramePr>
              <p:nvPr>
                <p:extLst>
                  <p:ext uri="{D42A27DB-BD31-4B8C-83A1-F6EECF244321}">
                    <p14:modId xmlns:p14="http://schemas.microsoft.com/office/powerpoint/2010/main" val="3237907378"/>
                  </p:ext>
                </p:extLst>
              </p:nvPr>
            </p:nvGraphicFramePr>
            <p:xfrm>
              <a:off x="835562" y="1183645"/>
              <a:ext cx="7472876" cy="3450774"/>
            </p:xfrm>
            <a:graphic>
              <a:graphicData uri="http://schemas.openxmlformats.org/drawingml/2006/table">
                <a:tbl>
                  <a:tblPr>
                    <a:tableStyleId>{647A7D3A-C76E-4340-B591-1BAF9B2FF1C5}</a:tableStyleId>
                  </a:tblPr>
                  <a:tblGrid>
                    <a:gridCol w="1458580">
                      <a:extLst>
                        <a:ext uri="{9D8B030D-6E8A-4147-A177-3AD203B41FA5}">
                          <a16:colId xmlns:a16="http://schemas.microsoft.com/office/drawing/2014/main" val="3744670255"/>
                        </a:ext>
                      </a:extLst>
                    </a:gridCol>
                    <a:gridCol w="2331384">
                      <a:extLst>
                        <a:ext uri="{9D8B030D-6E8A-4147-A177-3AD203B41FA5}">
                          <a16:colId xmlns:a16="http://schemas.microsoft.com/office/drawing/2014/main" val="2148622197"/>
                        </a:ext>
                      </a:extLst>
                    </a:gridCol>
                    <a:gridCol w="2306072">
                      <a:extLst>
                        <a:ext uri="{9D8B030D-6E8A-4147-A177-3AD203B41FA5}">
                          <a16:colId xmlns:a16="http://schemas.microsoft.com/office/drawing/2014/main" val="1461109896"/>
                        </a:ext>
                      </a:extLst>
                    </a:gridCol>
                    <a:gridCol w="1376840">
                      <a:extLst>
                        <a:ext uri="{9D8B030D-6E8A-4147-A177-3AD203B41FA5}">
                          <a16:colId xmlns:a16="http://schemas.microsoft.com/office/drawing/2014/main" val="1445091948"/>
                        </a:ext>
                      </a:extLst>
                    </a:gridCol>
                  </a:tblGrid>
                  <a:tr h="193177">
                    <a:tc>
                      <a:txBody>
                        <a:bodyPr/>
                        <a:lstStyle/>
                        <a:p>
                          <a:pPr algn="ctr">
                            <a:buNone/>
                          </a:pPr>
                          <a:r>
                            <a:rPr lang="en-US" sz="900" b="1" dirty="0"/>
                            <a:t>Technique</a:t>
                          </a:r>
                        </a:p>
                      </a:txBody>
                      <a:tcPr marL="57953" marR="57953" marT="28977" marB="28977" anchor="ctr"/>
                    </a:tc>
                    <a:tc>
                      <a:txBody>
                        <a:bodyPr/>
                        <a:lstStyle/>
                        <a:p>
                          <a:pPr algn="ctr">
                            <a:buNone/>
                          </a:pPr>
                          <a:r>
                            <a:rPr lang="en-US" sz="900" b="1" dirty="0"/>
                            <a:t>Objective</a:t>
                          </a:r>
                        </a:p>
                      </a:txBody>
                      <a:tcPr marL="57953" marR="57953" marT="28977" marB="28977" anchor="ctr"/>
                    </a:tc>
                    <a:tc>
                      <a:txBody>
                        <a:bodyPr/>
                        <a:lstStyle/>
                        <a:p>
                          <a:pPr algn="ctr">
                            <a:buNone/>
                          </a:pPr>
                          <a:r>
                            <a:rPr lang="en-US" sz="900" b="1" dirty="0"/>
                            <a:t>Key Formula</a:t>
                          </a:r>
                        </a:p>
                      </a:txBody>
                      <a:tcPr marL="57953" marR="57953" marT="28977" marB="28977" anchor="ctr"/>
                    </a:tc>
                    <a:tc>
                      <a:txBody>
                        <a:bodyPr/>
                        <a:lstStyle/>
                        <a:p>
                          <a:pPr algn="ctr">
                            <a:buNone/>
                          </a:pPr>
                          <a:r>
                            <a:rPr lang="en-US" sz="900" b="1" dirty="0"/>
                            <a:t>Main Python Function</a:t>
                          </a:r>
                        </a:p>
                      </a:txBody>
                      <a:tcPr marL="57953" marR="57953" marT="28977" marB="28977" anchor="ctr"/>
                    </a:tc>
                    <a:extLst>
                      <a:ext uri="{0D108BD9-81ED-4DB2-BD59-A6C34878D82A}">
                        <a16:rowId xmlns:a16="http://schemas.microsoft.com/office/drawing/2014/main" val="2331553174"/>
                      </a:ext>
                    </a:extLst>
                  </a:tr>
                  <a:tr h="576594">
                    <a:tc>
                      <a:txBody>
                        <a:bodyPr/>
                        <a:lstStyle/>
                        <a:p>
                          <a:pPr>
                            <a:buNone/>
                          </a:pPr>
                          <a:r>
                            <a:rPr lang="en-US" sz="900"/>
                            <a:t>Histogram Stretching/Shrinking</a:t>
                          </a:r>
                        </a:p>
                      </a:txBody>
                      <a:tcPr marL="57953" marR="57953" marT="28977" marB="28977" anchor="ctr"/>
                    </a:tc>
                    <a:tc>
                      <a:txBody>
                        <a:bodyPr/>
                        <a:lstStyle/>
                        <a:p>
                          <a:pPr>
                            <a:buNone/>
                          </a:pPr>
                          <a:r>
                            <a:rPr lang="en-US" sz="900" dirty="0"/>
                            <a:t>Adjust the width of the intensity range (contrast)</a:t>
                          </a:r>
                        </a:p>
                      </a:txBody>
                      <a:tcPr marL="57953" marR="57953" marT="28977" marB="28977" anchor="ctr"/>
                    </a:tc>
                    <a:tc>
                      <a:txBody>
                        <a:bodyPr/>
                        <a:lstStyle/>
                        <a:p>
                          <a:pPr>
                            <a:buNone/>
                          </a:pPr>
                          <a14:m>
                            <m:oMathPara xmlns:m="http://schemas.openxmlformats.org/officeDocument/2006/math">
                              <m:oMath>
                                <m:r>
                                  <a:rPr lang="en-US" sz="900" smtClean="0"/>
                                  <m:t>𝑆</m:t>
                                </m:r>
                                <m:r>
                                  <a:rPr lang="en-US" sz="900" smtClean="0"/>
                                  <m:t>=</m:t>
                                </m:r>
                                <m:d>
                                  <m:dPr>
                                    <m:ctrlPr>
                                      <a:rPr lang="en-US" sz="900"/>
                                    </m:ctrlPr>
                                  </m:dPr>
                                  <m:e>
                                    <m:r>
                                      <a:rPr lang="en-US" sz="900"/>
                                      <m:t>𝐿</m:t>
                                    </m:r>
                                    <m:r>
                                      <a:rPr lang="en-US" sz="900"/>
                                      <m:t>−1</m:t>
                                    </m:r>
                                  </m:e>
                                </m:d>
                                <m:r>
                                  <a:rPr lang="en-US" sz="900"/>
                                  <m:t>×</m:t>
                                </m:r>
                                <m:f>
                                  <m:fPr>
                                    <m:ctrlPr>
                                      <a:rPr lang="en-US" sz="900"/>
                                    </m:ctrlPr>
                                  </m:fPr>
                                  <m:num>
                                    <m:r>
                                      <a:rPr lang="en-US" sz="900"/>
                                      <m:t>𝑟</m:t>
                                    </m:r>
                                    <m:r>
                                      <a:rPr lang="en-US" sz="900"/>
                                      <m:t>−</m:t>
                                    </m:r>
                                    <m:sSub>
                                      <m:sSubPr>
                                        <m:ctrlPr>
                                          <a:rPr lang="en-US" sz="900"/>
                                        </m:ctrlPr>
                                      </m:sSubPr>
                                      <m:e>
                                        <m:r>
                                          <a:rPr lang="en-US" sz="900"/>
                                          <m:t>𝑟</m:t>
                                        </m:r>
                                      </m:e>
                                      <m:sub>
                                        <m:r>
                                          <m:rPr>
                                            <m:sty m:val="p"/>
                                          </m:rPr>
                                          <a:rPr lang="en-US" sz="900"/>
                                          <m:t>min</m:t>
                                        </m:r>
                                      </m:sub>
                                    </m:sSub>
                                  </m:num>
                                  <m:den>
                                    <m:sSub>
                                      <m:sSubPr>
                                        <m:ctrlPr>
                                          <a:rPr lang="en-US" sz="900"/>
                                        </m:ctrlPr>
                                      </m:sSubPr>
                                      <m:e>
                                        <m:r>
                                          <a:rPr lang="en-US" sz="900"/>
                                          <m:t>𝑟</m:t>
                                        </m:r>
                                      </m:e>
                                      <m:sub>
                                        <m:r>
                                          <m:rPr>
                                            <m:sty m:val="p"/>
                                          </m:rPr>
                                          <a:rPr lang="en-US" sz="900"/>
                                          <m:t>max</m:t>
                                        </m:r>
                                      </m:sub>
                                    </m:sSub>
                                    <m:r>
                                      <a:rPr lang="en-US" sz="900"/>
                                      <m:t>−</m:t>
                                    </m:r>
                                    <m:sSub>
                                      <m:sSubPr>
                                        <m:ctrlPr>
                                          <a:rPr lang="en-US" sz="900"/>
                                        </m:ctrlPr>
                                      </m:sSubPr>
                                      <m:e>
                                        <m:r>
                                          <a:rPr lang="en-US" sz="900"/>
                                          <m:t>𝑟</m:t>
                                        </m:r>
                                      </m:e>
                                      <m:sub>
                                        <m:r>
                                          <m:rPr>
                                            <m:sty m:val="p"/>
                                          </m:rPr>
                                          <a:rPr lang="en-US" sz="900"/>
                                          <m:t>min</m:t>
                                        </m:r>
                                      </m:sub>
                                    </m:sSub>
                                  </m:den>
                                </m:f>
                              </m:oMath>
                            </m:oMathPara>
                          </a14:m>
                          <a:endParaRPr lang="en-US" sz="900" dirty="0"/>
                        </a:p>
                        <a:p>
                          <a:pPr>
                            <a:buNone/>
                          </a:pPr>
                          <a14:m>
                            <m:oMathPara xmlns:m="http://schemas.openxmlformats.org/officeDocument/2006/math">
                              <m:oMath>
                                <m:r>
                                  <a:rPr lang="en-US" sz="900" i="1" dirty="0" smtClean="0">
                                    <a:latin typeface="Cambria Math" panose="02040503050406030204" pitchFamily="18" charset="0"/>
                                  </a:rPr>
                                  <m:t>𝑆</m:t>
                                </m:r>
                                <m:r>
                                  <a:rPr lang="en-US" sz="900" i="1" dirty="0" smtClean="0">
                                    <a:latin typeface="Cambria Math" panose="02040503050406030204" pitchFamily="18" charset="0"/>
                                  </a:rPr>
                                  <m:t>=</m:t>
                                </m:r>
                                <m:sSub>
                                  <m:sSubPr>
                                    <m:ctrlPr>
                                      <a:rPr lang="en-US" sz="900" i="1" dirty="0">
                                        <a:latin typeface="Cambria Math" panose="02040503050406030204" pitchFamily="18" charset="0"/>
                                      </a:rPr>
                                    </m:ctrlPr>
                                  </m:sSubPr>
                                  <m:e>
                                    <m:r>
                                      <a:rPr lang="en-US" sz="900" i="1" dirty="0">
                                        <a:latin typeface="Cambria Math" panose="02040503050406030204" pitchFamily="18" charset="0"/>
                                      </a:rPr>
                                      <m:t>𝑆</m:t>
                                    </m:r>
                                  </m:e>
                                  <m:sub>
                                    <m:r>
                                      <a:rPr lang="en-US" sz="900" i="1" dirty="0">
                                        <a:latin typeface="Cambria Math" panose="02040503050406030204" pitchFamily="18" charset="0"/>
                                      </a:rPr>
                                      <m:t>𝑚𝑖𝑛</m:t>
                                    </m:r>
                                  </m:sub>
                                </m:sSub>
                                <m:r>
                                  <a:rPr lang="en-US" sz="900" i="1" dirty="0">
                                    <a:latin typeface="Cambria Math" panose="02040503050406030204" pitchFamily="18" charset="0"/>
                                    <a:ea typeface="Cambria Math" panose="02040503050406030204" pitchFamily="18" charset="0"/>
                                  </a:rPr>
                                  <m:t>+</m:t>
                                </m:r>
                                <m:d>
                                  <m:dPr>
                                    <m:ctrlPr>
                                      <a:rPr lang="en-US" sz="900" i="1" dirty="0">
                                        <a:latin typeface="Cambria Math" panose="02040503050406030204" pitchFamily="18" charset="0"/>
                                      </a:rPr>
                                    </m:ctrlPr>
                                  </m:dPr>
                                  <m:e>
                                    <m:sSub>
                                      <m:sSubPr>
                                        <m:ctrlPr>
                                          <a:rPr lang="en-US" sz="900" i="1" dirty="0">
                                            <a:latin typeface="Cambria Math" panose="02040503050406030204" pitchFamily="18" charset="0"/>
                                          </a:rPr>
                                        </m:ctrlPr>
                                      </m:sSubPr>
                                      <m:e>
                                        <m:r>
                                          <a:rPr lang="en-US" sz="900" i="1" dirty="0">
                                            <a:latin typeface="Cambria Math" panose="02040503050406030204" pitchFamily="18" charset="0"/>
                                          </a:rPr>
                                          <m:t>𝑆</m:t>
                                        </m:r>
                                      </m:e>
                                      <m:sub>
                                        <m:r>
                                          <a:rPr lang="en-US" sz="900" i="1" dirty="0">
                                            <a:latin typeface="Cambria Math" panose="02040503050406030204" pitchFamily="18" charset="0"/>
                                          </a:rPr>
                                          <m:t>𝑚𝑎𝑥</m:t>
                                        </m:r>
                                      </m:sub>
                                    </m:sSub>
                                    <m:r>
                                      <a:rPr lang="en-US" sz="900" i="1" dirty="0">
                                        <a:latin typeface="Cambria Math" panose="02040503050406030204" pitchFamily="18" charset="0"/>
                                      </a:rPr>
                                      <m:t>−</m:t>
                                    </m:r>
                                    <m:sSub>
                                      <m:sSubPr>
                                        <m:ctrlPr>
                                          <a:rPr lang="en-US" sz="900" i="1" dirty="0">
                                            <a:latin typeface="Cambria Math" panose="02040503050406030204" pitchFamily="18" charset="0"/>
                                          </a:rPr>
                                        </m:ctrlPr>
                                      </m:sSubPr>
                                      <m:e>
                                        <m:r>
                                          <a:rPr lang="en-US" sz="900" i="1" dirty="0">
                                            <a:latin typeface="Cambria Math" panose="02040503050406030204" pitchFamily="18" charset="0"/>
                                          </a:rPr>
                                          <m:t>𝑆</m:t>
                                        </m:r>
                                      </m:e>
                                      <m:sub>
                                        <m:r>
                                          <a:rPr lang="en-US" sz="900" i="1" dirty="0">
                                            <a:latin typeface="Cambria Math" panose="02040503050406030204" pitchFamily="18" charset="0"/>
                                          </a:rPr>
                                          <m:t>𝑚𝑖𝑛</m:t>
                                        </m:r>
                                      </m:sub>
                                    </m:sSub>
                                  </m:e>
                                </m:d>
                                <m:r>
                                  <a:rPr lang="en-US" sz="900" i="1" dirty="0">
                                    <a:latin typeface="Cambria Math" panose="02040503050406030204" pitchFamily="18" charset="0"/>
                                    <a:ea typeface="Cambria Math" panose="02040503050406030204" pitchFamily="18" charset="0"/>
                                  </a:rPr>
                                  <m:t>×</m:t>
                                </m:r>
                                <m:f>
                                  <m:fPr>
                                    <m:ctrlPr>
                                      <a:rPr lang="en-US" sz="900" i="1" dirty="0">
                                        <a:latin typeface="Cambria Math" panose="02040503050406030204" pitchFamily="18" charset="0"/>
                                        <a:ea typeface="Cambria Math" panose="02040503050406030204" pitchFamily="18" charset="0"/>
                                      </a:rPr>
                                    </m:ctrlPr>
                                  </m:fPr>
                                  <m:num>
                                    <m:d>
                                      <m:dPr>
                                        <m:ctrlPr>
                                          <a:rPr lang="en-US" sz="900" i="1" dirty="0">
                                            <a:latin typeface="Cambria Math" panose="02040503050406030204" pitchFamily="18" charset="0"/>
                                            <a:ea typeface="Cambria Math" panose="02040503050406030204" pitchFamily="18" charset="0"/>
                                          </a:rPr>
                                        </m:ctrlPr>
                                      </m:dPr>
                                      <m:e>
                                        <m:r>
                                          <a:rPr lang="en-US" sz="900" i="1" dirty="0">
                                            <a:latin typeface="Cambria Math" panose="02040503050406030204" pitchFamily="18" charset="0"/>
                                            <a:ea typeface="Cambria Math" panose="02040503050406030204" pitchFamily="18" charset="0"/>
                                          </a:rPr>
                                          <m:t>𝑟</m:t>
                                        </m:r>
                                        <m:r>
                                          <a:rPr lang="en-US" sz="900" i="1" dirty="0">
                                            <a:latin typeface="Cambria Math" panose="02040503050406030204" pitchFamily="18" charset="0"/>
                                            <a:ea typeface="Cambria Math" panose="02040503050406030204" pitchFamily="18" charset="0"/>
                                          </a:rPr>
                                          <m:t>−</m:t>
                                        </m:r>
                                        <m:sSub>
                                          <m:sSubPr>
                                            <m:ctrlPr>
                                              <a:rPr lang="en-US" sz="900">
                                                <a:latin typeface="Cambria Math" panose="02040503050406030204" pitchFamily="18" charset="0"/>
                                              </a:rPr>
                                            </m:ctrlPr>
                                          </m:sSubPr>
                                          <m:e>
                                            <m:r>
                                              <a:rPr lang="en-US" sz="900">
                                                <a:latin typeface="Cambria Math" panose="02040503050406030204" pitchFamily="18" charset="0"/>
                                              </a:rPr>
                                              <m:t>𝑟</m:t>
                                            </m:r>
                                          </m:e>
                                          <m:sub>
                                            <m:r>
                                              <m:rPr>
                                                <m:sty m:val="p"/>
                                              </m:rPr>
                                              <a:rPr lang="en-US" sz="900">
                                                <a:latin typeface="Cambria Math" panose="02040503050406030204" pitchFamily="18" charset="0"/>
                                              </a:rPr>
                                              <m:t>min</m:t>
                                            </m:r>
                                          </m:sub>
                                        </m:sSub>
                                      </m:e>
                                    </m:d>
                                  </m:num>
                                  <m:den>
                                    <m:d>
                                      <m:dPr>
                                        <m:ctrlPr>
                                          <a:rPr lang="en-US" sz="900" i="1" dirty="0">
                                            <a:latin typeface="Cambria Math" panose="02040503050406030204" pitchFamily="18" charset="0"/>
                                            <a:ea typeface="Cambria Math" panose="02040503050406030204" pitchFamily="18" charset="0"/>
                                          </a:rPr>
                                        </m:ctrlPr>
                                      </m:dPr>
                                      <m:e>
                                        <m:sSub>
                                          <m:sSubPr>
                                            <m:ctrlPr>
                                              <a:rPr lang="en-US" sz="900" i="1" dirty="0">
                                                <a:latin typeface="Cambria Math" panose="02040503050406030204" pitchFamily="18" charset="0"/>
                                                <a:ea typeface="Cambria Math" panose="02040503050406030204" pitchFamily="18" charset="0"/>
                                              </a:rPr>
                                            </m:ctrlPr>
                                          </m:sSubPr>
                                          <m:e>
                                            <m:r>
                                              <a:rPr lang="en-US" sz="900" i="1" dirty="0">
                                                <a:latin typeface="Cambria Math" panose="02040503050406030204" pitchFamily="18" charset="0"/>
                                                <a:ea typeface="Cambria Math" panose="02040503050406030204" pitchFamily="18" charset="0"/>
                                              </a:rPr>
                                              <m:t>𝑟</m:t>
                                            </m:r>
                                          </m:e>
                                          <m:sub>
                                            <m:r>
                                              <a:rPr lang="en-US" sz="900" i="1" dirty="0">
                                                <a:latin typeface="Cambria Math" panose="02040503050406030204" pitchFamily="18" charset="0"/>
                                                <a:ea typeface="Cambria Math" panose="02040503050406030204" pitchFamily="18" charset="0"/>
                                              </a:rPr>
                                              <m:t>𝑚𝑎𝑥</m:t>
                                            </m:r>
                                          </m:sub>
                                        </m:sSub>
                                        <m:r>
                                          <a:rPr lang="en-US" sz="900" i="1" dirty="0">
                                            <a:latin typeface="Cambria Math" panose="02040503050406030204" pitchFamily="18" charset="0"/>
                                            <a:ea typeface="Cambria Math" panose="02040503050406030204" pitchFamily="18" charset="0"/>
                                          </a:rPr>
                                          <m:t>−</m:t>
                                        </m:r>
                                        <m:sSub>
                                          <m:sSubPr>
                                            <m:ctrlPr>
                                              <a:rPr lang="en-US" sz="900">
                                                <a:latin typeface="Cambria Math" panose="02040503050406030204" pitchFamily="18" charset="0"/>
                                              </a:rPr>
                                            </m:ctrlPr>
                                          </m:sSubPr>
                                          <m:e>
                                            <m:r>
                                              <a:rPr lang="en-US" sz="900">
                                                <a:latin typeface="Cambria Math" panose="02040503050406030204" pitchFamily="18" charset="0"/>
                                              </a:rPr>
                                              <m:t>𝑟</m:t>
                                            </m:r>
                                          </m:e>
                                          <m:sub>
                                            <m:r>
                                              <m:rPr>
                                                <m:sty m:val="p"/>
                                              </m:rPr>
                                              <a:rPr lang="en-US" sz="900">
                                                <a:latin typeface="Cambria Math" panose="02040503050406030204" pitchFamily="18" charset="0"/>
                                              </a:rPr>
                                              <m:t>min</m:t>
                                            </m:r>
                                          </m:sub>
                                        </m:sSub>
                                      </m:e>
                                    </m:d>
                                  </m:den>
                                </m:f>
                              </m:oMath>
                            </m:oMathPara>
                          </a14:m>
                          <a:endParaRPr lang="en-US" sz="900" dirty="0"/>
                        </a:p>
                      </a:txBody>
                      <a:tcPr marL="57953" marR="57953" marT="28977" marB="28977" anchor="ctr"/>
                    </a:tc>
                    <a:tc>
                      <a:txBody>
                        <a:bodyPr/>
                        <a:lstStyle/>
                        <a:p>
                          <a:pPr>
                            <a:buNone/>
                          </a:pPr>
                          <a:r>
                            <a:rPr lang="en-US" sz="900" dirty="0"/>
                            <a:t>Manual function + </a:t>
                          </a:r>
                          <a:r>
                            <a:rPr lang="en-US" sz="900" dirty="0" err="1"/>
                            <a:t>np.clip</a:t>
                          </a:r>
                          <a:endParaRPr lang="en-US" sz="900" dirty="0"/>
                        </a:p>
                      </a:txBody>
                      <a:tcPr marL="57953" marR="57953" marT="28977" marB="28977" anchor="ctr"/>
                    </a:tc>
                    <a:extLst>
                      <a:ext uri="{0D108BD9-81ED-4DB2-BD59-A6C34878D82A}">
                        <a16:rowId xmlns:a16="http://schemas.microsoft.com/office/drawing/2014/main" val="2346751181"/>
                      </a:ext>
                    </a:extLst>
                  </a:tr>
                  <a:tr h="463625">
                    <a:tc>
                      <a:txBody>
                        <a:bodyPr/>
                        <a:lstStyle/>
                        <a:p>
                          <a:pPr>
                            <a:buNone/>
                          </a:pPr>
                          <a:r>
                            <a:rPr lang="en-US" sz="900" dirty="0"/>
                            <a:t>Histogram Shifting</a:t>
                          </a:r>
                        </a:p>
                      </a:txBody>
                      <a:tcPr marL="57953" marR="57953" marT="28977" marB="28977" anchor="ctr"/>
                    </a:tc>
                    <a:tc>
                      <a:txBody>
                        <a:bodyPr/>
                        <a:lstStyle/>
                        <a:p>
                          <a:pPr>
                            <a:buNone/>
                          </a:pPr>
                          <a:r>
                            <a:rPr lang="en-US" sz="900"/>
                            <a:t>Change brightness without changing contrast</a:t>
                          </a:r>
                        </a:p>
                      </a:txBody>
                      <a:tcPr marL="57953" marR="57953" marT="28977" marB="28977" anchor="ctr"/>
                    </a:tc>
                    <a:tc>
                      <a:txBody>
                        <a:bodyPr/>
                        <a:lstStyle/>
                        <a:p>
                          <a:pPr>
                            <a:buNone/>
                          </a:pPr>
                          <a14:m>
                            <m:oMathPara xmlns:m="http://schemas.openxmlformats.org/officeDocument/2006/math">
                              <m:oMath>
                                <m:r>
                                  <a:rPr lang="en-US" sz="900"/>
                                  <m:t>𝑆</m:t>
                                </m:r>
                                <m:r>
                                  <a:rPr lang="en-US" sz="900"/>
                                  <m:t>=</m:t>
                                </m:r>
                                <m:r>
                                  <a:rPr lang="en-US" sz="900"/>
                                  <m:t>𝑟</m:t>
                                </m:r>
                                <m:r>
                                  <a:rPr lang="en-US" sz="900"/>
                                  <m:t>+</m:t>
                                </m:r>
                                <m:r>
                                  <a:rPr lang="en-US" sz="900"/>
                                  <m:t>𝑐</m:t>
                                </m:r>
                              </m:oMath>
                            </m:oMathPara>
                          </a14:m>
                          <a:endParaRPr lang="en-US" sz="900" dirty="0"/>
                        </a:p>
                      </a:txBody>
                      <a:tcPr marL="57953" marR="57953" marT="28977" marB="28977" anchor="ctr"/>
                    </a:tc>
                    <a:tc>
                      <a:txBody>
                        <a:bodyPr/>
                        <a:lstStyle/>
                        <a:p>
                          <a:pPr>
                            <a:buNone/>
                          </a:pPr>
                          <a:r>
                            <a:rPr lang="en-US" sz="900"/>
                            <a:t>cv2.add / cv2.subtract</a:t>
                          </a:r>
                        </a:p>
                      </a:txBody>
                      <a:tcPr marL="57953" marR="57953" marT="28977" marB="28977" anchor="ctr"/>
                    </a:tc>
                    <a:extLst>
                      <a:ext uri="{0D108BD9-81ED-4DB2-BD59-A6C34878D82A}">
                        <a16:rowId xmlns:a16="http://schemas.microsoft.com/office/drawing/2014/main" val="3500013280"/>
                      </a:ext>
                    </a:extLst>
                  </a:tr>
                  <a:tr h="328401">
                    <a:tc>
                      <a:txBody>
                        <a:bodyPr/>
                        <a:lstStyle/>
                        <a:p>
                          <a:pPr>
                            <a:buNone/>
                          </a:pPr>
                          <a:r>
                            <a:rPr lang="en-US" sz="900"/>
                            <a:t>Statistical Filtering</a:t>
                          </a:r>
                        </a:p>
                      </a:txBody>
                      <a:tcPr marL="57953" marR="57953" marT="28977" marB="28977" anchor="ctr"/>
                    </a:tc>
                    <a:tc>
                      <a:txBody>
                        <a:bodyPr/>
                        <a:lstStyle/>
                        <a:p>
                          <a:pPr>
                            <a:buNone/>
                          </a:pPr>
                          <a:r>
                            <a:rPr lang="en-US" sz="900"/>
                            <a:t>Remove noise based on value ordering</a:t>
                          </a:r>
                        </a:p>
                      </a:txBody>
                      <a:tcPr marL="57953" marR="57953" marT="28977" marB="28977" anchor="ctr"/>
                    </a:tc>
                    <a:tc>
                      <a:txBody>
                        <a:bodyPr/>
                        <a:lstStyle/>
                        <a:p>
                          <a:pPr>
                            <a:buNone/>
                          </a:pPr>
                          <a:r>
                            <a:rPr lang="en-US" sz="900" dirty="0"/>
                            <a:t>Median / Min / Max within a window</a:t>
                          </a:r>
                        </a:p>
                      </a:txBody>
                      <a:tcPr marL="57953" marR="57953" marT="28977" marB="28977" anchor="ctr"/>
                    </a:tc>
                    <a:tc>
                      <a:txBody>
                        <a:bodyPr/>
                        <a:lstStyle/>
                        <a:p>
                          <a:pPr>
                            <a:buNone/>
                          </a:pPr>
                          <a:r>
                            <a:rPr lang="en-US" sz="900"/>
                            <a:t>cv2.medianBlur, scipy.ndimage</a:t>
                          </a:r>
                        </a:p>
                      </a:txBody>
                      <a:tcPr marL="57953" marR="57953" marT="28977" marB="28977" anchor="ctr"/>
                    </a:tc>
                    <a:extLst>
                      <a:ext uri="{0D108BD9-81ED-4DB2-BD59-A6C34878D82A}">
                        <a16:rowId xmlns:a16="http://schemas.microsoft.com/office/drawing/2014/main" val="1916602295"/>
                      </a:ext>
                    </a:extLst>
                  </a:tr>
                  <a:tr h="463625">
                    <a:tc>
                      <a:txBody>
                        <a:bodyPr/>
                        <a:lstStyle/>
                        <a:p>
                          <a:pPr>
                            <a:buNone/>
                          </a:pPr>
                          <a:r>
                            <a:rPr lang="en-US" sz="900"/>
                            <a:t>Algebraic Filtering</a:t>
                          </a:r>
                        </a:p>
                      </a:txBody>
                      <a:tcPr marL="57953" marR="57953" marT="28977" marB="28977" anchor="ctr"/>
                    </a:tc>
                    <a:tc>
                      <a:txBody>
                        <a:bodyPr/>
                        <a:lstStyle/>
                        <a:p>
                          <a:pPr>
                            <a:buNone/>
                          </a:pPr>
                          <a:r>
                            <a:rPr lang="en-US" sz="900"/>
                            <a:t>Smooth or sharpen an image using convolution</a:t>
                          </a:r>
                        </a:p>
                      </a:txBody>
                      <a:tcPr marL="57953" marR="57953" marT="28977" marB="28977" anchor="ctr"/>
                    </a:tc>
                    <a:tc>
                      <a:txBody>
                        <a:bodyPr/>
                        <a:lstStyle/>
                        <a:p>
                          <a:pPr>
                            <a:buNone/>
                          </a:pPr>
                          <a14:m>
                            <m:oMathPara xmlns:m="http://schemas.openxmlformats.org/officeDocument/2006/math">
                              <m:oMath>
                                <m:r>
                                  <a:rPr lang="en-US" sz="900"/>
                                  <m:t>𝑆</m:t>
                                </m:r>
                                <m:d>
                                  <m:dPr>
                                    <m:sepChr m:val=","/>
                                    <m:ctrlPr>
                                      <a:rPr lang="en-US" sz="900"/>
                                    </m:ctrlPr>
                                  </m:dPr>
                                  <m:e>
                                    <m:r>
                                      <a:rPr lang="en-US" sz="900"/>
                                      <m:t>𝑖</m:t>
                                    </m:r>
                                  </m:e>
                                  <m:e>
                                    <m:r>
                                      <a:rPr lang="en-US" sz="900"/>
                                      <m:t>𝑗</m:t>
                                    </m:r>
                                  </m:e>
                                </m:d>
                                <m:r>
                                  <a:rPr lang="en-US" sz="900"/>
                                  <m:t>=</m:t>
                                </m:r>
                                <m:nary>
                                  <m:naryPr>
                                    <m:chr m:val="∑"/>
                                    <m:grow m:val="on"/>
                                    <m:subHide m:val="on"/>
                                    <m:supHide m:val="on"/>
                                    <m:ctrlPr>
                                      <a:rPr lang="en-US" sz="900"/>
                                    </m:ctrlPr>
                                  </m:naryPr>
                                  <m:sub/>
                                  <m:sup/>
                                  <m:e>
                                    <m:r>
                                      <a:rPr lang="en-US" sz="900"/>
                                      <m:t>∑</m:t>
                                    </m:r>
                                  </m:e>
                                </m:nary>
                                <m:r>
                                  <a:rPr lang="en-US" sz="900"/>
                                  <m:t>𝐼</m:t>
                                </m:r>
                                <m:r>
                                  <a:rPr lang="en-US" sz="900"/>
                                  <m:t>⋅</m:t>
                                </m:r>
                                <m:r>
                                  <a:rPr lang="en-US" sz="900"/>
                                  <m:t>𝐾</m:t>
                                </m:r>
                              </m:oMath>
                            </m:oMathPara>
                          </a14:m>
                          <a:endParaRPr lang="en-US" sz="900"/>
                        </a:p>
                      </a:txBody>
                      <a:tcPr marL="57953" marR="57953" marT="28977" marB="28977" anchor="ctr"/>
                    </a:tc>
                    <a:tc>
                      <a:txBody>
                        <a:bodyPr/>
                        <a:lstStyle/>
                        <a:p>
                          <a:pPr>
                            <a:buNone/>
                          </a:pPr>
                          <a:r>
                            <a:rPr lang="en-US" sz="900"/>
                            <a:t>cv2.filter2D</a:t>
                          </a:r>
                        </a:p>
                      </a:txBody>
                      <a:tcPr marL="57953" marR="57953" marT="28977" marB="28977" anchor="ctr"/>
                    </a:tc>
                    <a:extLst>
                      <a:ext uri="{0D108BD9-81ED-4DB2-BD59-A6C34878D82A}">
                        <a16:rowId xmlns:a16="http://schemas.microsoft.com/office/drawing/2014/main" val="3706381539"/>
                      </a:ext>
                    </a:extLst>
                  </a:tr>
                  <a:tr h="463625">
                    <a:tc>
                      <a:txBody>
                        <a:bodyPr/>
                        <a:lstStyle/>
                        <a:p>
                          <a:pPr>
                            <a:buNone/>
                          </a:pPr>
                          <a:r>
                            <a:rPr lang="en-US" sz="900"/>
                            <a:t>Contrast Adjustment</a:t>
                          </a:r>
                        </a:p>
                      </a:txBody>
                      <a:tcPr marL="57953" marR="57953" marT="28977" marB="28977" anchor="ctr"/>
                    </a:tc>
                    <a:tc>
                      <a:txBody>
                        <a:bodyPr/>
                        <a:lstStyle/>
                        <a:p>
                          <a:pPr>
                            <a:buNone/>
                          </a:pPr>
                          <a:r>
                            <a:rPr lang="en-US" sz="900"/>
                            <a:t>Increase or decrease intensity differences</a:t>
                          </a:r>
                        </a:p>
                      </a:txBody>
                      <a:tcPr marL="57953" marR="57953" marT="28977" marB="28977"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 xmlns:m="http://schemas.openxmlformats.org/officeDocument/2006/math">
                              <m:r>
                                <a:rPr lang="en-US" sz="900" i="1" smtClean="0">
                                  <a:latin typeface="Cambria Math" panose="02040503050406030204" pitchFamily="18" charset="0"/>
                                </a:rPr>
                                <m:t>𝑆</m:t>
                              </m:r>
                              <m:r>
                                <a:rPr lang="en-US" sz="900" i="1" smtClean="0">
                                  <a:latin typeface="Cambria Math" panose="02040503050406030204" pitchFamily="18" charset="0"/>
                                </a:rPr>
                                <m:t> = </m:t>
                              </m:r>
                              <m:r>
                                <a:rPr lang="el-GR" sz="900" i="1">
                                  <a:latin typeface="Cambria Math" panose="02040503050406030204" pitchFamily="18" charset="0"/>
                                </a:rPr>
                                <m:t>𝛼</m:t>
                              </m:r>
                              <m:r>
                                <a:rPr lang="el-GR" sz="900" i="1">
                                  <a:latin typeface="Cambria Math" panose="02040503050406030204" pitchFamily="18" charset="0"/>
                                </a:rPr>
                                <m:t> × </m:t>
                              </m:r>
                              <m:r>
                                <a:rPr lang="en-US" sz="900" i="1">
                                  <a:latin typeface="Cambria Math" panose="02040503050406030204" pitchFamily="18" charset="0"/>
                                </a:rPr>
                                <m:t>𝑟</m:t>
                              </m:r>
                              <m:r>
                                <a:rPr lang="en-US" sz="900" i="1">
                                  <a:latin typeface="Cambria Math" panose="02040503050406030204" pitchFamily="18" charset="0"/>
                                </a:rPr>
                                <m:t> + </m:t>
                              </m:r>
                              <m:r>
                                <a:rPr lang="el-GR" sz="900" i="1">
                                  <a:latin typeface="Cambria Math" panose="02040503050406030204" pitchFamily="18" charset="0"/>
                                </a:rPr>
                                <m:t>𝛽</m:t>
                              </m:r>
                            </m:oMath>
                          </a14:m>
                          <a:r>
                            <a:rPr lang="en-US" sz="900" dirty="0"/>
                            <a:t>, or gamma correction</a:t>
                          </a:r>
                        </a:p>
                      </a:txBody>
                      <a:tcPr marL="57953" marR="57953" marT="28977" marB="28977" anchor="ctr"/>
                    </a:tc>
                    <a:tc>
                      <a:txBody>
                        <a:bodyPr/>
                        <a:lstStyle/>
                        <a:p>
                          <a:pPr>
                            <a:buNone/>
                          </a:pPr>
                          <a:r>
                            <a:rPr lang="en-US" sz="900"/>
                            <a:t>cv2.convertScaleAbs, cv2.equalizeHist</a:t>
                          </a:r>
                        </a:p>
                      </a:txBody>
                      <a:tcPr marL="57953" marR="57953" marT="28977" marB="28977" anchor="ctr"/>
                    </a:tc>
                    <a:extLst>
                      <a:ext uri="{0D108BD9-81ED-4DB2-BD59-A6C34878D82A}">
                        <a16:rowId xmlns:a16="http://schemas.microsoft.com/office/drawing/2014/main" val="1498858081"/>
                      </a:ext>
                    </a:extLst>
                  </a:tr>
                  <a:tr h="463625">
                    <a:tc>
                      <a:txBody>
                        <a:bodyPr/>
                        <a:lstStyle/>
                        <a:p>
                          <a:pPr>
                            <a:buNone/>
                          </a:pPr>
                          <a:r>
                            <a:rPr lang="en-US" sz="900"/>
                            <a:t>Geometric Transformation</a:t>
                          </a:r>
                        </a:p>
                      </a:txBody>
                      <a:tcPr marL="57953" marR="57953" marT="28977" marB="28977" anchor="ctr"/>
                    </a:tc>
                    <a:tc>
                      <a:txBody>
                        <a:bodyPr/>
                        <a:lstStyle/>
                        <a:p>
                          <a:pPr>
                            <a:buNone/>
                          </a:pPr>
                          <a:r>
                            <a:rPr lang="en-US" sz="900" dirty="0"/>
                            <a:t>Change the spatial position of pixels</a:t>
                          </a:r>
                        </a:p>
                      </a:txBody>
                      <a:tcPr marL="57953" marR="57953" marT="28977" marB="28977" anchor="ctr"/>
                    </a:tc>
                    <a:tc>
                      <a:txBody>
                        <a:bodyPr/>
                        <a:lstStyle/>
                        <a:p>
                          <a:pPr>
                            <a:buNone/>
                          </a:pPr>
                          <a:r>
                            <a:rPr lang="en-US" sz="900" dirty="0"/>
                            <a:t>Affine / perspective matrix</a:t>
                          </a:r>
                        </a:p>
                      </a:txBody>
                      <a:tcPr marL="57953" marR="57953" marT="28977" marB="28977" anchor="ctr"/>
                    </a:tc>
                    <a:tc>
                      <a:txBody>
                        <a:bodyPr/>
                        <a:lstStyle/>
                        <a:p>
                          <a:pPr>
                            <a:buNone/>
                          </a:pPr>
                          <a:r>
                            <a:rPr lang="en-US" sz="900"/>
                            <a:t>cv2.warpAffine, cv2.warpPerspective</a:t>
                          </a:r>
                        </a:p>
                      </a:txBody>
                      <a:tcPr marL="57953" marR="57953" marT="28977" marB="28977" anchor="ctr"/>
                    </a:tc>
                    <a:extLst>
                      <a:ext uri="{0D108BD9-81ED-4DB2-BD59-A6C34878D82A}">
                        <a16:rowId xmlns:a16="http://schemas.microsoft.com/office/drawing/2014/main" val="3034346416"/>
                      </a:ext>
                    </a:extLst>
                  </a:tr>
                  <a:tr h="463625">
                    <a:tc>
                      <a:txBody>
                        <a:bodyPr/>
                        <a:lstStyle/>
                        <a:p>
                          <a:pPr>
                            <a:buNone/>
                          </a:pPr>
                          <a:r>
                            <a:rPr lang="en-US" sz="900"/>
                            <a:t>Image Restoration</a:t>
                          </a:r>
                        </a:p>
                      </a:txBody>
                      <a:tcPr marL="57953" marR="57953" marT="28977" marB="28977" anchor="ctr"/>
                    </a:tc>
                    <a:tc>
                      <a:txBody>
                        <a:bodyPr/>
                        <a:lstStyle/>
                        <a:p>
                          <a:pPr>
                            <a:buNone/>
                          </a:pPr>
                          <a:r>
                            <a:rPr lang="en-US" sz="900"/>
                            <a:t>Recover an image from degradation</a:t>
                          </a:r>
                        </a:p>
                      </a:txBody>
                      <a:tcPr marL="57953" marR="57953" marT="28977" marB="28977" anchor="ctr"/>
                    </a:tc>
                    <a:tc>
                      <a:txBody>
                        <a:bodyPr/>
                        <a:lstStyle/>
                        <a:p>
                          <a14:m>
                            <m:oMathPara xmlns:m="http://schemas.openxmlformats.org/officeDocument/2006/math">
                              <m:oMath>
                                <m:r>
                                  <a:rPr lang="es-ES" sz="900" i="1" dirty="0" smtClean="0">
                                    <a:latin typeface="Cambria Math" panose="02040503050406030204" pitchFamily="18" charset="0"/>
                                  </a:rPr>
                                  <m:t>𝑔</m:t>
                                </m:r>
                                <m:r>
                                  <a:rPr lang="es-ES" sz="900" i="1" dirty="0" smtClean="0">
                                    <a:latin typeface="Cambria Math" panose="02040503050406030204" pitchFamily="18" charset="0"/>
                                  </a:rPr>
                                  <m:t>(</m:t>
                                </m:r>
                                <m:r>
                                  <a:rPr lang="es-ES" sz="900" i="1" dirty="0" err="1">
                                    <a:latin typeface="Cambria Math" panose="02040503050406030204" pitchFamily="18" charset="0"/>
                                  </a:rPr>
                                  <m:t>𝑥</m:t>
                                </m:r>
                                <m:r>
                                  <a:rPr lang="es-ES" sz="900" i="1" dirty="0" err="1">
                                    <a:latin typeface="Cambria Math" panose="02040503050406030204" pitchFamily="18" charset="0"/>
                                  </a:rPr>
                                  <m:t>,</m:t>
                                </m:r>
                                <m:r>
                                  <a:rPr lang="es-ES" sz="900" i="1" dirty="0" err="1">
                                    <a:latin typeface="Cambria Math" panose="02040503050406030204" pitchFamily="18" charset="0"/>
                                  </a:rPr>
                                  <m:t>𝑦</m:t>
                                </m:r>
                                <m:r>
                                  <a:rPr lang="es-ES" sz="900" i="1" dirty="0">
                                    <a:latin typeface="Cambria Math" panose="02040503050406030204" pitchFamily="18" charset="0"/>
                                  </a:rPr>
                                  <m:t>) = </m:t>
                                </m:r>
                                <m:r>
                                  <a:rPr lang="es-ES" sz="900" i="1" dirty="0">
                                    <a:latin typeface="Cambria Math" panose="02040503050406030204" pitchFamily="18" charset="0"/>
                                  </a:rPr>
                                  <m:t>ℎ</m:t>
                                </m:r>
                                <m:r>
                                  <a:rPr lang="es-ES" sz="900" i="1" dirty="0">
                                    <a:latin typeface="Cambria Math" panose="02040503050406030204" pitchFamily="18" charset="0"/>
                                  </a:rPr>
                                  <m:t>(</m:t>
                                </m:r>
                                <m:r>
                                  <a:rPr lang="es-ES" sz="900" i="1" dirty="0" err="1">
                                    <a:latin typeface="Cambria Math" panose="02040503050406030204" pitchFamily="18" charset="0"/>
                                  </a:rPr>
                                  <m:t>𝑥</m:t>
                                </m:r>
                                <m:r>
                                  <a:rPr lang="es-ES" sz="900" i="1" dirty="0" err="1">
                                    <a:latin typeface="Cambria Math" panose="02040503050406030204" pitchFamily="18" charset="0"/>
                                  </a:rPr>
                                  <m:t>,</m:t>
                                </m:r>
                                <m:r>
                                  <a:rPr lang="es-ES" sz="900" i="1" dirty="0" err="1">
                                    <a:latin typeface="Cambria Math" panose="02040503050406030204" pitchFamily="18" charset="0"/>
                                  </a:rPr>
                                  <m:t>𝑦</m:t>
                                </m:r>
                                <m:r>
                                  <a:rPr lang="es-ES" sz="900" i="1" dirty="0">
                                    <a:latin typeface="Cambria Math" panose="02040503050406030204" pitchFamily="18" charset="0"/>
                                  </a:rPr>
                                  <m:t>) ∗ </m:t>
                                </m:r>
                                <m:r>
                                  <a:rPr lang="es-ES" sz="900" i="1" dirty="0">
                                    <a:latin typeface="Cambria Math" panose="02040503050406030204" pitchFamily="18" charset="0"/>
                                  </a:rPr>
                                  <m:t>𝑓</m:t>
                                </m:r>
                                <m:r>
                                  <a:rPr lang="es-ES" sz="900" i="1" dirty="0">
                                    <a:latin typeface="Cambria Math" panose="02040503050406030204" pitchFamily="18" charset="0"/>
                                  </a:rPr>
                                  <m:t>(</m:t>
                                </m:r>
                                <m:r>
                                  <a:rPr lang="es-ES" sz="900" i="1" dirty="0" err="1">
                                    <a:latin typeface="Cambria Math" panose="02040503050406030204" pitchFamily="18" charset="0"/>
                                  </a:rPr>
                                  <m:t>𝑥</m:t>
                                </m:r>
                                <m:r>
                                  <a:rPr lang="es-ES" sz="900" i="1" dirty="0" err="1">
                                    <a:latin typeface="Cambria Math" panose="02040503050406030204" pitchFamily="18" charset="0"/>
                                  </a:rPr>
                                  <m:t>,</m:t>
                                </m:r>
                                <m:r>
                                  <a:rPr lang="es-ES" sz="900" i="1" dirty="0" err="1">
                                    <a:latin typeface="Cambria Math" panose="02040503050406030204" pitchFamily="18" charset="0"/>
                                  </a:rPr>
                                  <m:t>𝑦</m:t>
                                </m:r>
                                <m:r>
                                  <a:rPr lang="es-ES" sz="900" i="1" dirty="0">
                                    <a:latin typeface="Cambria Math" panose="02040503050406030204" pitchFamily="18" charset="0"/>
                                  </a:rPr>
                                  <m:t>) + </m:t>
                                </m:r>
                                <m:r>
                                  <a:rPr lang="es-ES" sz="900" i="1" dirty="0">
                                    <a:latin typeface="Cambria Math" panose="02040503050406030204" pitchFamily="18" charset="0"/>
                                  </a:rPr>
                                  <m:t>𝜂</m:t>
                                </m:r>
                                <m:r>
                                  <a:rPr lang="es-ES" sz="900" i="1" dirty="0">
                                    <a:latin typeface="Cambria Math" panose="02040503050406030204" pitchFamily="18" charset="0"/>
                                  </a:rPr>
                                  <m:t>(</m:t>
                                </m:r>
                                <m:r>
                                  <a:rPr lang="es-ES" sz="900" i="1" dirty="0" err="1">
                                    <a:latin typeface="Cambria Math" panose="02040503050406030204" pitchFamily="18" charset="0"/>
                                  </a:rPr>
                                  <m:t>𝑥</m:t>
                                </m:r>
                                <m:r>
                                  <a:rPr lang="es-ES" sz="900" i="1" dirty="0" err="1">
                                    <a:latin typeface="Cambria Math" panose="02040503050406030204" pitchFamily="18" charset="0"/>
                                  </a:rPr>
                                  <m:t>,</m:t>
                                </m:r>
                                <m:r>
                                  <a:rPr lang="es-ES" sz="900" i="1" dirty="0" err="1">
                                    <a:latin typeface="Cambria Math" panose="02040503050406030204" pitchFamily="18" charset="0"/>
                                  </a:rPr>
                                  <m:t>𝑦</m:t>
                                </m:r>
                                <m:r>
                                  <a:rPr lang="es-ES" sz="900" i="1" dirty="0">
                                    <a:latin typeface="Cambria Math" panose="02040503050406030204" pitchFamily="18" charset="0"/>
                                  </a:rPr>
                                  <m:t>)</m:t>
                                </m:r>
                              </m:oMath>
                            </m:oMathPara>
                          </a14:m>
                          <a:endParaRPr lang="en-US" sz="900" dirty="0"/>
                        </a:p>
                      </a:txBody>
                      <a:tcPr marL="57953" marR="57953" marT="28977" marB="28977" anchor="ctr"/>
                    </a:tc>
                    <a:tc>
                      <a:txBody>
                        <a:bodyPr/>
                        <a:lstStyle/>
                        <a:p>
                          <a:pPr>
                            <a:buNone/>
                          </a:pPr>
                          <a:r>
                            <a:rPr lang="en-US" sz="900" dirty="0"/>
                            <a:t>cv2.medianBlur, </a:t>
                          </a:r>
                          <a:r>
                            <a:rPr lang="en-US" sz="900" dirty="0" err="1"/>
                            <a:t>richardson_lucy</a:t>
                          </a:r>
                          <a:r>
                            <a:rPr lang="en-US" sz="900" dirty="0"/>
                            <a:t>, wiener</a:t>
                          </a:r>
                        </a:p>
                      </a:txBody>
                      <a:tcPr marL="57953" marR="57953" marT="28977" marB="28977" anchor="ctr"/>
                    </a:tc>
                    <a:extLst>
                      <a:ext uri="{0D108BD9-81ED-4DB2-BD59-A6C34878D82A}">
                        <a16:rowId xmlns:a16="http://schemas.microsoft.com/office/drawing/2014/main" val="1278077181"/>
                      </a:ext>
                    </a:extLst>
                  </a:tr>
                </a:tbl>
              </a:graphicData>
            </a:graphic>
          </p:graphicFrame>
        </mc:Choice>
        <mc:Fallback>
          <p:graphicFrame>
            <p:nvGraphicFramePr>
              <p:cNvPr id="2" name="Table 1">
                <a:extLst>
                  <a:ext uri="{FF2B5EF4-FFF2-40B4-BE49-F238E27FC236}">
                    <a16:creationId xmlns:a16="http://schemas.microsoft.com/office/drawing/2014/main" id="{C56693F8-9752-0DB1-97A7-5004DB35EFED}"/>
                  </a:ext>
                </a:extLst>
              </p:cNvPr>
              <p:cNvGraphicFramePr>
                <a:graphicFrameLocks noGrp="1"/>
              </p:cNvGraphicFramePr>
              <p:nvPr>
                <p:extLst>
                  <p:ext uri="{D42A27DB-BD31-4B8C-83A1-F6EECF244321}">
                    <p14:modId xmlns:p14="http://schemas.microsoft.com/office/powerpoint/2010/main" val="3237907378"/>
                  </p:ext>
                </p:extLst>
              </p:nvPr>
            </p:nvGraphicFramePr>
            <p:xfrm>
              <a:off x="835562" y="1183645"/>
              <a:ext cx="7472876" cy="3450774"/>
            </p:xfrm>
            <a:graphic>
              <a:graphicData uri="http://schemas.openxmlformats.org/drawingml/2006/table">
                <a:tbl>
                  <a:tblPr>
                    <a:tableStyleId>{647A7D3A-C76E-4340-B591-1BAF9B2FF1C5}</a:tableStyleId>
                  </a:tblPr>
                  <a:tblGrid>
                    <a:gridCol w="1458580">
                      <a:extLst>
                        <a:ext uri="{9D8B030D-6E8A-4147-A177-3AD203B41FA5}">
                          <a16:colId xmlns:a16="http://schemas.microsoft.com/office/drawing/2014/main" val="3744670255"/>
                        </a:ext>
                      </a:extLst>
                    </a:gridCol>
                    <a:gridCol w="2331384">
                      <a:extLst>
                        <a:ext uri="{9D8B030D-6E8A-4147-A177-3AD203B41FA5}">
                          <a16:colId xmlns:a16="http://schemas.microsoft.com/office/drawing/2014/main" val="2148622197"/>
                        </a:ext>
                      </a:extLst>
                    </a:gridCol>
                    <a:gridCol w="2306072">
                      <a:extLst>
                        <a:ext uri="{9D8B030D-6E8A-4147-A177-3AD203B41FA5}">
                          <a16:colId xmlns:a16="http://schemas.microsoft.com/office/drawing/2014/main" val="1461109896"/>
                        </a:ext>
                      </a:extLst>
                    </a:gridCol>
                    <a:gridCol w="1376840">
                      <a:extLst>
                        <a:ext uri="{9D8B030D-6E8A-4147-A177-3AD203B41FA5}">
                          <a16:colId xmlns:a16="http://schemas.microsoft.com/office/drawing/2014/main" val="1445091948"/>
                        </a:ext>
                      </a:extLst>
                    </a:gridCol>
                  </a:tblGrid>
                  <a:tr h="195114">
                    <a:tc>
                      <a:txBody>
                        <a:bodyPr/>
                        <a:lstStyle/>
                        <a:p>
                          <a:pPr algn="ctr">
                            <a:buNone/>
                          </a:pPr>
                          <a:r>
                            <a:rPr lang="en-US" sz="900" b="1" dirty="0"/>
                            <a:t>Technique</a:t>
                          </a:r>
                        </a:p>
                      </a:txBody>
                      <a:tcPr marL="57953" marR="57953" marT="28977" marB="28977" anchor="ctr"/>
                    </a:tc>
                    <a:tc>
                      <a:txBody>
                        <a:bodyPr/>
                        <a:lstStyle/>
                        <a:p>
                          <a:pPr algn="ctr">
                            <a:buNone/>
                          </a:pPr>
                          <a:r>
                            <a:rPr lang="en-US" sz="900" b="1" dirty="0"/>
                            <a:t>Objective</a:t>
                          </a:r>
                        </a:p>
                      </a:txBody>
                      <a:tcPr marL="57953" marR="57953" marT="28977" marB="28977" anchor="ctr"/>
                    </a:tc>
                    <a:tc>
                      <a:txBody>
                        <a:bodyPr/>
                        <a:lstStyle/>
                        <a:p>
                          <a:pPr algn="ctr">
                            <a:buNone/>
                          </a:pPr>
                          <a:r>
                            <a:rPr lang="en-US" sz="900" b="1" dirty="0"/>
                            <a:t>Key Formula</a:t>
                          </a:r>
                        </a:p>
                      </a:txBody>
                      <a:tcPr marL="57953" marR="57953" marT="28977" marB="28977" anchor="ctr"/>
                    </a:tc>
                    <a:tc>
                      <a:txBody>
                        <a:bodyPr/>
                        <a:lstStyle/>
                        <a:p>
                          <a:pPr algn="ctr">
                            <a:buNone/>
                          </a:pPr>
                          <a:r>
                            <a:rPr lang="en-US" sz="900" b="1" dirty="0"/>
                            <a:t>Main Python Function</a:t>
                          </a:r>
                        </a:p>
                      </a:txBody>
                      <a:tcPr marL="57953" marR="57953" marT="28977" marB="28977" anchor="ctr"/>
                    </a:tc>
                    <a:extLst>
                      <a:ext uri="{0D108BD9-81ED-4DB2-BD59-A6C34878D82A}">
                        <a16:rowId xmlns:a16="http://schemas.microsoft.com/office/drawing/2014/main" val="2331553174"/>
                      </a:ext>
                    </a:extLst>
                  </a:tr>
                  <a:tr h="605261">
                    <a:tc>
                      <a:txBody>
                        <a:bodyPr/>
                        <a:lstStyle/>
                        <a:p>
                          <a:pPr>
                            <a:buNone/>
                          </a:pPr>
                          <a:r>
                            <a:rPr lang="en-US" sz="900"/>
                            <a:t>Histogram Stretching/Shrinking</a:t>
                          </a:r>
                        </a:p>
                      </a:txBody>
                      <a:tcPr marL="57953" marR="57953" marT="28977" marB="28977" anchor="ctr"/>
                    </a:tc>
                    <a:tc>
                      <a:txBody>
                        <a:bodyPr/>
                        <a:lstStyle/>
                        <a:p>
                          <a:pPr>
                            <a:buNone/>
                          </a:pPr>
                          <a:r>
                            <a:rPr lang="en-US" sz="900" dirty="0"/>
                            <a:t>Adjust the width of the intensity range (contrast)</a:t>
                          </a:r>
                        </a:p>
                      </a:txBody>
                      <a:tcPr marL="57953" marR="57953" marT="28977" marB="28977" anchor="ctr"/>
                    </a:tc>
                    <a:tc>
                      <a:txBody>
                        <a:bodyPr/>
                        <a:lstStyle/>
                        <a:p>
                          <a:endParaRPr lang="en-US"/>
                        </a:p>
                      </a:txBody>
                      <a:tcPr marL="57953" marR="57953" marT="28977" marB="28977" anchor="ctr">
                        <a:blipFill>
                          <a:blip r:embed="rId3"/>
                          <a:stretch>
                            <a:fillRect l="-164815" t="-34000" r="-60317" b="-436000"/>
                          </a:stretch>
                        </a:blipFill>
                      </a:tcPr>
                    </a:tc>
                    <a:tc>
                      <a:txBody>
                        <a:bodyPr/>
                        <a:lstStyle/>
                        <a:p>
                          <a:pPr>
                            <a:buNone/>
                          </a:pPr>
                          <a:r>
                            <a:rPr lang="en-US" sz="900" dirty="0"/>
                            <a:t>Manual function + </a:t>
                          </a:r>
                          <a:r>
                            <a:rPr lang="en-US" sz="900" dirty="0" err="1"/>
                            <a:t>np.clip</a:t>
                          </a:r>
                          <a:endParaRPr lang="en-US" sz="900" dirty="0"/>
                        </a:p>
                      </a:txBody>
                      <a:tcPr marL="57953" marR="57953" marT="28977" marB="28977" anchor="ctr"/>
                    </a:tc>
                    <a:extLst>
                      <a:ext uri="{0D108BD9-81ED-4DB2-BD59-A6C34878D82A}">
                        <a16:rowId xmlns:a16="http://schemas.microsoft.com/office/drawing/2014/main" val="2346751181"/>
                      </a:ext>
                    </a:extLst>
                  </a:tr>
                  <a:tr h="463625">
                    <a:tc>
                      <a:txBody>
                        <a:bodyPr/>
                        <a:lstStyle/>
                        <a:p>
                          <a:pPr>
                            <a:buNone/>
                          </a:pPr>
                          <a:r>
                            <a:rPr lang="en-US" sz="900" dirty="0"/>
                            <a:t>Histogram Shifting</a:t>
                          </a:r>
                        </a:p>
                      </a:txBody>
                      <a:tcPr marL="57953" marR="57953" marT="28977" marB="28977" anchor="ctr"/>
                    </a:tc>
                    <a:tc>
                      <a:txBody>
                        <a:bodyPr/>
                        <a:lstStyle/>
                        <a:p>
                          <a:pPr>
                            <a:buNone/>
                          </a:pPr>
                          <a:r>
                            <a:rPr lang="en-US" sz="900"/>
                            <a:t>Change brightness without changing contrast</a:t>
                          </a:r>
                        </a:p>
                      </a:txBody>
                      <a:tcPr marL="57953" marR="57953" marT="28977" marB="28977" anchor="ctr"/>
                    </a:tc>
                    <a:tc>
                      <a:txBody>
                        <a:bodyPr/>
                        <a:lstStyle/>
                        <a:p>
                          <a:endParaRPr lang="en-US"/>
                        </a:p>
                      </a:txBody>
                      <a:tcPr marL="57953" marR="57953" marT="28977" marB="28977" anchor="ctr">
                        <a:blipFill>
                          <a:blip r:embed="rId3"/>
                          <a:stretch>
                            <a:fillRect l="-164815" t="-176316" r="-60317" b="-473684"/>
                          </a:stretch>
                        </a:blipFill>
                      </a:tcPr>
                    </a:tc>
                    <a:tc>
                      <a:txBody>
                        <a:bodyPr/>
                        <a:lstStyle/>
                        <a:p>
                          <a:pPr>
                            <a:buNone/>
                          </a:pPr>
                          <a:r>
                            <a:rPr lang="en-US" sz="900"/>
                            <a:t>cv2.add / cv2.subtract</a:t>
                          </a:r>
                        </a:p>
                      </a:txBody>
                      <a:tcPr marL="57953" marR="57953" marT="28977" marB="28977" anchor="ctr"/>
                    </a:tc>
                    <a:extLst>
                      <a:ext uri="{0D108BD9-81ED-4DB2-BD59-A6C34878D82A}">
                        <a16:rowId xmlns:a16="http://schemas.microsoft.com/office/drawing/2014/main" val="3500013280"/>
                      </a:ext>
                    </a:extLst>
                  </a:tr>
                  <a:tr h="332274">
                    <a:tc>
                      <a:txBody>
                        <a:bodyPr/>
                        <a:lstStyle/>
                        <a:p>
                          <a:pPr>
                            <a:buNone/>
                          </a:pPr>
                          <a:r>
                            <a:rPr lang="en-US" sz="900"/>
                            <a:t>Statistical Filtering</a:t>
                          </a:r>
                        </a:p>
                      </a:txBody>
                      <a:tcPr marL="57953" marR="57953" marT="28977" marB="28977" anchor="ctr"/>
                    </a:tc>
                    <a:tc>
                      <a:txBody>
                        <a:bodyPr/>
                        <a:lstStyle/>
                        <a:p>
                          <a:pPr>
                            <a:buNone/>
                          </a:pPr>
                          <a:r>
                            <a:rPr lang="en-US" sz="900"/>
                            <a:t>Remove noise based on value ordering</a:t>
                          </a:r>
                        </a:p>
                      </a:txBody>
                      <a:tcPr marL="57953" marR="57953" marT="28977" marB="28977" anchor="ctr"/>
                    </a:tc>
                    <a:tc>
                      <a:txBody>
                        <a:bodyPr/>
                        <a:lstStyle/>
                        <a:p>
                          <a:pPr>
                            <a:buNone/>
                          </a:pPr>
                          <a:r>
                            <a:rPr lang="en-US" sz="900" dirty="0"/>
                            <a:t>Median / Min / Max within a window</a:t>
                          </a:r>
                        </a:p>
                      </a:txBody>
                      <a:tcPr marL="57953" marR="57953" marT="28977" marB="28977" anchor="ctr"/>
                    </a:tc>
                    <a:tc>
                      <a:txBody>
                        <a:bodyPr/>
                        <a:lstStyle/>
                        <a:p>
                          <a:pPr>
                            <a:buNone/>
                          </a:pPr>
                          <a:r>
                            <a:rPr lang="en-US" sz="900"/>
                            <a:t>cv2.medianBlur, scipy.ndimage</a:t>
                          </a:r>
                        </a:p>
                      </a:txBody>
                      <a:tcPr marL="57953" marR="57953" marT="28977" marB="28977" anchor="ctr"/>
                    </a:tc>
                    <a:extLst>
                      <a:ext uri="{0D108BD9-81ED-4DB2-BD59-A6C34878D82A}">
                        <a16:rowId xmlns:a16="http://schemas.microsoft.com/office/drawing/2014/main" val="1916602295"/>
                      </a:ext>
                    </a:extLst>
                  </a:tr>
                  <a:tr h="463625">
                    <a:tc>
                      <a:txBody>
                        <a:bodyPr/>
                        <a:lstStyle/>
                        <a:p>
                          <a:pPr>
                            <a:buNone/>
                          </a:pPr>
                          <a:r>
                            <a:rPr lang="en-US" sz="900"/>
                            <a:t>Algebraic Filtering</a:t>
                          </a:r>
                        </a:p>
                      </a:txBody>
                      <a:tcPr marL="57953" marR="57953" marT="28977" marB="28977" anchor="ctr"/>
                    </a:tc>
                    <a:tc>
                      <a:txBody>
                        <a:bodyPr/>
                        <a:lstStyle/>
                        <a:p>
                          <a:pPr>
                            <a:buNone/>
                          </a:pPr>
                          <a:r>
                            <a:rPr lang="en-US" sz="900"/>
                            <a:t>Smooth or sharpen an image using convolution</a:t>
                          </a:r>
                        </a:p>
                      </a:txBody>
                      <a:tcPr marL="57953" marR="57953" marT="28977" marB="28977" anchor="ctr"/>
                    </a:tc>
                    <a:tc>
                      <a:txBody>
                        <a:bodyPr/>
                        <a:lstStyle/>
                        <a:p>
                          <a:endParaRPr lang="en-US"/>
                        </a:p>
                      </a:txBody>
                      <a:tcPr marL="57953" marR="57953" marT="28977" marB="28977" anchor="ctr">
                        <a:blipFill>
                          <a:blip r:embed="rId3"/>
                          <a:stretch>
                            <a:fillRect l="-164815" t="-347368" r="-60317" b="-302632"/>
                          </a:stretch>
                        </a:blipFill>
                      </a:tcPr>
                    </a:tc>
                    <a:tc>
                      <a:txBody>
                        <a:bodyPr/>
                        <a:lstStyle/>
                        <a:p>
                          <a:pPr>
                            <a:buNone/>
                          </a:pPr>
                          <a:r>
                            <a:rPr lang="en-US" sz="900"/>
                            <a:t>cv2.filter2D</a:t>
                          </a:r>
                        </a:p>
                      </a:txBody>
                      <a:tcPr marL="57953" marR="57953" marT="28977" marB="28977" anchor="ctr"/>
                    </a:tc>
                    <a:extLst>
                      <a:ext uri="{0D108BD9-81ED-4DB2-BD59-A6C34878D82A}">
                        <a16:rowId xmlns:a16="http://schemas.microsoft.com/office/drawing/2014/main" val="3706381539"/>
                      </a:ext>
                    </a:extLst>
                  </a:tr>
                  <a:tr h="463625">
                    <a:tc>
                      <a:txBody>
                        <a:bodyPr/>
                        <a:lstStyle/>
                        <a:p>
                          <a:pPr>
                            <a:buNone/>
                          </a:pPr>
                          <a:r>
                            <a:rPr lang="en-US" sz="900"/>
                            <a:t>Contrast Adjustment</a:t>
                          </a:r>
                        </a:p>
                      </a:txBody>
                      <a:tcPr marL="57953" marR="57953" marT="28977" marB="28977" anchor="ctr"/>
                    </a:tc>
                    <a:tc>
                      <a:txBody>
                        <a:bodyPr/>
                        <a:lstStyle/>
                        <a:p>
                          <a:pPr>
                            <a:buNone/>
                          </a:pPr>
                          <a:r>
                            <a:rPr lang="en-US" sz="900"/>
                            <a:t>Increase or decrease intensity differences</a:t>
                          </a:r>
                        </a:p>
                      </a:txBody>
                      <a:tcPr marL="57953" marR="57953" marT="28977" marB="28977" anchor="ctr"/>
                    </a:tc>
                    <a:tc>
                      <a:txBody>
                        <a:bodyPr/>
                        <a:lstStyle/>
                        <a:p>
                          <a:endParaRPr lang="en-US"/>
                        </a:p>
                      </a:txBody>
                      <a:tcPr marL="57953" marR="57953" marT="28977" marB="28977" anchor="ctr">
                        <a:blipFill>
                          <a:blip r:embed="rId3"/>
                          <a:stretch>
                            <a:fillRect l="-164815" t="-441558" r="-60317" b="-198701"/>
                          </a:stretch>
                        </a:blipFill>
                      </a:tcPr>
                    </a:tc>
                    <a:tc>
                      <a:txBody>
                        <a:bodyPr/>
                        <a:lstStyle/>
                        <a:p>
                          <a:pPr>
                            <a:buNone/>
                          </a:pPr>
                          <a:r>
                            <a:rPr lang="en-US" sz="900"/>
                            <a:t>cv2.convertScaleAbs, cv2.equalizeHist</a:t>
                          </a:r>
                        </a:p>
                      </a:txBody>
                      <a:tcPr marL="57953" marR="57953" marT="28977" marB="28977" anchor="ctr"/>
                    </a:tc>
                    <a:extLst>
                      <a:ext uri="{0D108BD9-81ED-4DB2-BD59-A6C34878D82A}">
                        <a16:rowId xmlns:a16="http://schemas.microsoft.com/office/drawing/2014/main" val="1498858081"/>
                      </a:ext>
                    </a:extLst>
                  </a:tr>
                  <a:tr h="463625">
                    <a:tc>
                      <a:txBody>
                        <a:bodyPr/>
                        <a:lstStyle/>
                        <a:p>
                          <a:pPr>
                            <a:buNone/>
                          </a:pPr>
                          <a:r>
                            <a:rPr lang="en-US" sz="900"/>
                            <a:t>Geometric Transformation</a:t>
                          </a:r>
                        </a:p>
                      </a:txBody>
                      <a:tcPr marL="57953" marR="57953" marT="28977" marB="28977" anchor="ctr"/>
                    </a:tc>
                    <a:tc>
                      <a:txBody>
                        <a:bodyPr/>
                        <a:lstStyle/>
                        <a:p>
                          <a:pPr>
                            <a:buNone/>
                          </a:pPr>
                          <a:r>
                            <a:rPr lang="en-US" sz="900" dirty="0"/>
                            <a:t>Change the spatial position of pixels</a:t>
                          </a:r>
                        </a:p>
                      </a:txBody>
                      <a:tcPr marL="57953" marR="57953" marT="28977" marB="28977" anchor="ctr"/>
                    </a:tc>
                    <a:tc>
                      <a:txBody>
                        <a:bodyPr/>
                        <a:lstStyle/>
                        <a:p>
                          <a:pPr>
                            <a:buNone/>
                          </a:pPr>
                          <a:r>
                            <a:rPr lang="en-US" sz="900" dirty="0"/>
                            <a:t>Affine / perspective matrix</a:t>
                          </a:r>
                        </a:p>
                      </a:txBody>
                      <a:tcPr marL="57953" marR="57953" marT="28977" marB="28977" anchor="ctr"/>
                    </a:tc>
                    <a:tc>
                      <a:txBody>
                        <a:bodyPr/>
                        <a:lstStyle/>
                        <a:p>
                          <a:pPr>
                            <a:buNone/>
                          </a:pPr>
                          <a:r>
                            <a:rPr lang="en-US" sz="900"/>
                            <a:t>cv2.warpAffine, cv2.warpPerspective</a:t>
                          </a:r>
                        </a:p>
                      </a:txBody>
                      <a:tcPr marL="57953" marR="57953" marT="28977" marB="28977" anchor="ctr"/>
                    </a:tc>
                    <a:extLst>
                      <a:ext uri="{0D108BD9-81ED-4DB2-BD59-A6C34878D82A}">
                        <a16:rowId xmlns:a16="http://schemas.microsoft.com/office/drawing/2014/main" val="3034346416"/>
                      </a:ext>
                    </a:extLst>
                  </a:tr>
                  <a:tr h="463625">
                    <a:tc>
                      <a:txBody>
                        <a:bodyPr/>
                        <a:lstStyle/>
                        <a:p>
                          <a:pPr>
                            <a:buNone/>
                          </a:pPr>
                          <a:r>
                            <a:rPr lang="en-US" sz="900"/>
                            <a:t>Image Restoration</a:t>
                          </a:r>
                        </a:p>
                      </a:txBody>
                      <a:tcPr marL="57953" marR="57953" marT="28977" marB="28977" anchor="ctr"/>
                    </a:tc>
                    <a:tc>
                      <a:txBody>
                        <a:bodyPr/>
                        <a:lstStyle/>
                        <a:p>
                          <a:pPr>
                            <a:buNone/>
                          </a:pPr>
                          <a:r>
                            <a:rPr lang="en-US" sz="900"/>
                            <a:t>Recover an image from degradation</a:t>
                          </a:r>
                        </a:p>
                      </a:txBody>
                      <a:tcPr marL="57953" marR="57953" marT="28977" marB="28977" anchor="ctr"/>
                    </a:tc>
                    <a:tc>
                      <a:txBody>
                        <a:bodyPr/>
                        <a:lstStyle/>
                        <a:p>
                          <a:endParaRPr lang="en-US"/>
                        </a:p>
                      </a:txBody>
                      <a:tcPr marL="57953" marR="57953" marT="28977" marB="28977" anchor="ctr">
                        <a:blipFill>
                          <a:blip r:embed="rId3"/>
                          <a:stretch>
                            <a:fillRect l="-164815" t="-648684" r="-60317" b="-1316"/>
                          </a:stretch>
                        </a:blipFill>
                      </a:tcPr>
                    </a:tc>
                    <a:tc>
                      <a:txBody>
                        <a:bodyPr/>
                        <a:lstStyle/>
                        <a:p>
                          <a:pPr>
                            <a:buNone/>
                          </a:pPr>
                          <a:r>
                            <a:rPr lang="en-US" sz="900" dirty="0"/>
                            <a:t>cv2.medianBlur, </a:t>
                          </a:r>
                          <a:r>
                            <a:rPr lang="en-US" sz="900" dirty="0" err="1"/>
                            <a:t>richardson_lucy</a:t>
                          </a:r>
                          <a:r>
                            <a:rPr lang="en-US" sz="900" dirty="0"/>
                            <a:t>, wiener</a:t>
                          </a:r>
                        </a:p>
                      </a:txBody>
                      <a:tcPr marL="57953" marR="57953" marT="28977" marB="28977" anchor="ctr"/>
                    </a:tc>
                    <a:extLst>
                      <a:ext uri="{0D108BD9-81ED-4DB2-BD59-A6C34878D82A}">
                        <a16:rowId xmlns:a16="http://schemas.microsoft.com/office/drawing/2014/main" val="1278077181"/>
                      </a:ext>
                    </a:extLst>
                  </a:tr>
                </a:tbl>
              </a:graphicData>
            </a:graphic>
          </p:graphicFrame>
        </mc:Fallback>
      </mc:AlternateContent>
    </p:spTree>
    <p:extLst>
      <p:ext uri="{BB962C8B-B14F-4D97-AF65-F5344CB8AC3E}">
        <p14:creationId xmlns:p14="http://schemas.microsoft.com/office/powerpoint/2010/main" val="8871044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60B39-7203-DB82-28B5-97B22953CB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E87C6E-6A2F-A850-8E40-785D787B4DD9}"/>
              </a:ext>
            </a:extLst>
          </p:cNvPr>
          <p:cNvSpPr>
            <a:spLocks noGrp="1"/>
          </p:cNvSpPr>
          <p:nvPr>
            <p:ph type="title"/>
          </p:nvPr>
        </p:nvSpPr>
        <p:spPr/>
        <p:txBody>
          <a:bodyPr/>
          <a:lstStyle/>
          <a:p>
            <a:r>
              <a:rPr lang="en-US" sz="2400" dirty="0"/>
              <a:t>Exercise</a:t>
            </a:r>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50FA671E-CAD1-2038-E57F-A198715D6A72}"/>
                  </a:ext>
                </a:extLst>
              </p:cNvPr>
              <p:cNvSpPr>
                <a:spLocks noGrp="1"/>
              </p:cNvSpPr>
              <p:nvPr>
                <p:ph type="body" idx="1"/>
              </p:nvPr>
            </p:nvSpPr>
            <p:spPr/>
            <p:txBody>
              <a:bodyPr/>
              <a:lstStyle/>
              <a:p>
                <a:r>
                  <a:rPr lang="en-US" dirty="0" err="1"/>
                  <a:t>Buat</a:t>
                </a:r>
                <a:r>
                  <a:rPr lang="en-US" dirty="0"/>
                  <a:t> </a:t>
                </a:r>
                <a:r>
                  <a:rPr lang="en-US" dirty="0" err="1"/>
                  <a:t>matriks</a:t>
                </a:r>
                <a:r>
                  <a:rPr lang="en-US" dirty="0"/>
                  <a:t> </a:t>
                </a:r>
                <a:r>
                  <a:rPr lang="en-US" dirty="0" err="1"/>
                  <a:t>citra</a:t>
                </a:r>
                <a:r>
                  <a:rPr lang="en-US" dirty="0"/>
                  <a:t> grayscale </a:t>
                </a:r>
                <a14:m>
                  <m:oMath xmlns:m="http://schemas.openxmlformats.org/officeDocument/2006/math">
                    <m:r>
                      <a:rPr lang="en-US" i="1" dirty="0" smtClean="0">
                        <a:latin typeface="Cambria Math" panose="02040503050406030204" pitchFamily="18" charset="0"/>
                      </a:rPr>
                      <m:t>4×4</m:t>
                    </m:r>
                  </m:oMath>
                </a14:m>
                <a:r>
                  <a:rPr lang="en-US" dirty="0"/>
                  <a:t> </a:t>
                </a:r>
                <a:r>
                  <a:rPr lang="en-US" dirty="0" err="1"/>
                  <a:t>dengan</a:t>
                </a:r>
                <a:r>
                  <a:rPr lang="en-US" dirty="0"/>
                  <a:t> </a:t>
                </a:r>
                <a:r>
                  <a:rPr lang="en-US" dirty="0" err="1"/>
                  <a:t>rentang</a:t>
                </a:r>
                <a:r>
                  <a:rPr lang="en-US" dirty="0"/>
                  <a:t> </a:t>
                </a:r>
                <a:r>
                  <a:rPr lang="en-US" dirty="0" err="1"/>
                  <a:t>nilai</a:t>
                </a:r>
                <a:r>
                  <a:rPr lang="en-US" dirty="0"/>
                  <a:t> </a:t>
                </a:r>
                <a:r>
                  <a:rPr lang="en-US" dirty="0" err="1"/>
                  <a:t>sempit</a:t>
                </a:r>
                <a:r>
                  <a:rPr lang="en-US" dirty="0"/>
                  <a:t> (</a:t>
                </a:r>
                <a:r>
                  <a:rPr lang="en-US" dirty="0" err="1"/>
                  <a:t>misalnya</a:t>
                </a:r>
                <a:r>
                  <a:rPr lang="en-US" dirty="0"/>
                  <a:t> </a:t>
                </a:r>
                <a14:m>
                  <m:oMath xmlns:m="http://schemas.openxmlformats.org/officeDocument/2006/math">
                    <m:r>
                      <a:rPr lang="en-US" i="1" dirty="0" smtClean="0">
                        <a:latin typeface="Cambria Math" panose="02040503050406030204" pitchFamily="18" charset="0"/>
                      </a:rPr>
                      <m:t>80–120</m:t>
                    </m:r>
                  </m:oMath>
                </a14:m>
                <a:r>
                  <a:rPr lang="en-US" dirty="0"/>
                  <a:t>), </a:t>
                </a:r>
                <a:r>
                  <a:rPr lang="en-US" dirty="0" err="1"/>
                  <a:t>lakukan</a:t>
                </a:r>
                <a:r>
                  <a:rPr lang="en-US" dirty="0"/>
                  <a:t> histogram stretching </a:t>
                </a:r>
                <a:r>
                  <a:rPr lang="en-US" dirty="0" err="1"/>
                  <a:t>ke</a:t>
                </a:r>
                <a:r>
                  <a:rPr lang="en-US" dirty="0"/>
                  <a:t> </a:t>
                </a:r>
                <a:r>
                  <a:rPr lang="en-US" dirty="0" err="1"/>
                  <a:t>rentang</a:t>
                </a:r>
                <a:r>
                  <a:rPr lang="en-US" dirty="0"/>
                  <a:t> </a:t>
                </a:r>
                <a:r>
                  <a:rPr lang="en-US" dirty="0" err="1"/>
                  <a:t>penuh</a:t>
                </a:r>
                <a:r>
                  <a:rPr lang="en-US" dirty="0"/>
                  <a:t> 0–255 </a:t>
                </a:r>
                <a:r>
                  <a:rPr lang="en-US" dirty="0" err="1"/>
                  <a:t>secara</a:t>
                </a:r>
                <a:r>
                  <a:rPr lang="en-US" dirty="0"/>
                  <a:t> manual, </a:t>
                </a:r>
                <a:r>
                  <a:rPr lang="en-US" dirty="0" err="1"/>
                  <a:t>lalu</a:t>
                </a:r>
                <a:r>
                  <a:rPr lang="en-US" dirty="0"/>
                  <a:t> </a:t>
                </a:r>
                <a:r>
                  <a:rPr lang="en-US" dirty="0" err="1"/>
                  <a:t>verifikasi</a:t>
                </a:r>
                <a:r>
                  <a:rPr lang="en-US" dirty="0"/>
                  <a:t> </a:t>
                </a:r>
                <a:r>
                  <a:rPr lang="en-US" dirty="0" err="1"/>
                  <a:t>dengan</a:t>
                </a:r>
                <a:r>
                  <a:rPr lang="en-US" dirty="0"/>
                  <a:t> </a:t>
                </a:r>
                <a:r>
                  <a:rPr lang="en-US" dirty="0" err="1"/>
                  <a:t>kode</a:t>
                </a:r>
                <a:r>
                  <a:rPr lang="en-US" dirty="0"/>
                  <a:t> Python.</a:t>
                </a:r>
              </a:p>
              <a:p>
                <a:r>
                  <a:rPr lang="en-US" dirty="0" err="1"/>
                  <a:t>Terapkan</a:t>
                </a:r>
                <a:r>
                  <a:rPr lang="en-US" dirty="0"/>
                  <a:t> median filter </a:t>
                </a:r>
                <a14:m>
                  <m:oMath xmlns:m="http://schemas.openxmlformats.org/officeDocument/2006/math">
                    <m:r>
                      <a:rPr lang="en-US" i="1" dirty="0" smtClean="0">
                        <a:latin typeface="Cambria Math" panose="02040503050406030204" pitchFamily="18" charset="0"/>
                      </a:rPr>
                      <m:t>3×3 </m:t>
                    </m:r>
                  </m:oMath>
                </a14:m>
                <a:r>
                  <a:rPr lang="en-US" dirty="0" err="1"/>
                  <a:t>secara</a:t>
                </a:r>
                <a:r>
                  <a:rPr lang="en-US" dirty="0"/>
                  <a:t> manual pada </a:t>
                </a:r>
                <a:r>
                  <a:rPr lang="en-US" dirty="0" err="1"/>
                  <a:t>matriks</a:t>
                </a:r>
                <a:r>
                  <a:rPr lang="en-US" dirty="0"/>
                  <a:t> </a:t>
                </a:r>
                <a14:m>
                  <m:oMath xmlns:m="http://schemas.openxmlformats.org/officeDocument/2006/math">
                    <m:r>
                      <a:rPr lang="en-US" i="1" dirty="0" smtClean="0">
                        <a:latin typeface="Cambria Math" panose="02040503050406030204" pitchFamily="18" charset="0"/>
                      </a:rPr>
                      <m:t>5×5 </m:t>
                    </m:r>
                  </m:oMath>
                </a14:m>
                <a:r>
                  <a:rPr lang="en-US" dirty="0"/>
                  <a:t>yang </a:t>
                </a:r>
                <a:r>
                  <a:rPr lang="en-US" dirty="0" err="1"/>
                  <a:t>mengandung</a:t>
                </a:r>
                <a:r>
                  <a:rPr lang="en-US" dirty="0"/>
                  <a:t> 2 </a:t>
                </a:r>
                <a:r>
                  <a:rPr lang="en-US" dirty="0" err="1"/>
                  <a:t>titik</a:t>
                </a:r>
                <a:r>
                  <a:rPr lang="en-US" dirty="0"/>
                  <a:t> noise, </a:t>
                </a:r>
                <a:r>
                  <a:rPr lang="en-US" dirty="0" err="1"/>
                  <a:t>lalu</a:t>
                </a:r>
                <a:r>
                  <a:rPr lang="en-US" dirty="0"/>
                  <a:t> </a:t>
                </a:r>
                <a:r>
                  <a:rPr lang="en-US" dirty="0" err="1"/>
                  <a:t>bandingkan</a:t>
                </a:r>
                <a:r>
                  <a:rPr lang="en-US" dirty="0"/>
                  <a:t> </a:t>
                </a:r>
                <a:r>
                  <a:rPr lang="en-US" dirty="0" err="1"/>
                  <a:t>hasilnya</a:t>
                </a:r>
                <a:r>
                  <a:rPr lang="en-US" dirty="0"/>
                  <a:t> </a:t>
                </a:r>
                <a:r>
                  <a:rPr lang="en-US" dirty="0" err="1"/>
                  <a:t>dengan</a:t>
                </a:r>
                <a:r>
                  <a:rPr lang="en-US" dirty="0"/>
                  <a:t> mean filter pada data yang </a:t>
                </a:r>
                <a:r>
                  <a:rPr lang="en-US" dirty="0" err="1"/>
                  <a:t>sama</a:t>
                </a:r>
                <a:r>
                  <a:rPr lang="en-US" dirty="0"/>
                  <a:t> dan </a:t>
                </a:r>
                <a:r>
                  <a:rPr lang="en-US" dirty="0" err="1"/>
                  <a:t>jelaskan</a:t>
                </a:r>
                <a:r>
                  <a:rPr lang="en-US" dirty="0"/>
                  <a:t> </a:t>
                </a:r>
                <a:r>
                  <a:rPr lang="en-US" dirty="0" err="1"/>
                  <a:t>perbedaan</a:t>
                </a:r>
                <a:r>
                  <a:rPr lang="en-US" dirty="0"/>
                  <a:t> </a:t>
                </a:r>
                <a:r>
                  <a:rPr lang="en-US" dirty="0" err="1"/>
                  <a:t>hasilnya</a:t>
                </a:r>
                <a:r>
                  <a:rPr lang="en-US" dirty="0"/>
                  <a:t>.</a:t>
                </a:r>
              </a:p>
              <a:p>
                <a:r>
                  <a:rPr lang="en-US" dirty="0"/>
                  <a:t>Ubah </a:t>
                </a:r>
                <a:r>
                  <a:rPr lang="en-US" dirty="0" err="1"/>
                  <a:t>kontras</a:t>
                </a:r>
                <a:r>
                  <a:rPr lang="en-US" dirty="0"/>
                  <a:t> </a:t>
                </a:r>
                <a:r>
                  <a:rPr lang="en-US" dirty="0" err="1"/>
                  <a:t>sebuah</a:t>
                </a:r>
                <a:r>
                  <a:rPr lang="en-US" dirty="0"/>
                  <a:t> </a:t>
                </a:r>
                <a:r>
                  <a:rPr lang="en-US" dirty="0" err="1"/>
                  <a:t>citra</a:t>
                </a:r>
                <a:r>
                  <a:rPr lang="en-US" dirty="0"/>
                  <a:t> </a:t>
                </a:r>
                <a:r>
                  <a:rPr lang="en-US" dirty="0" err="1"/>
                  <a:t>dengan</a:t>
                </a:r>
                <a:r>
                  <a:rPr lang="en-US" dirty="0"/>
                  <a:t> </a:t>
                </a:r>
                <a14:m>
                  <m:oMath xmlns:m="http://schemas.openxmlformats.org/officeDocument/2006/math">
                    <m:r>
                      <a:rPr lang="el-GR" i="1" dirty="0" smtClean="0">
                        <a:latin typeface="Cambria Math" panose="02040503050406030204" pitchFamily="18" charset="0"/>
                      </a:rPr>
                      <m:t>𝛼</m:t>
                    </m:r>
                    <m:r>
                      <a:rPr lang="el-GR" i="1" dirty="0" smtClean="0">
                        <a:latin typeface="Cambria Math" panose="02040503050406030204" pitchFamily="18" charset="0"/>
                      </a:rPr>
                      <m:t> = 2.0 </m:t>
                    </m:r>
                  </m:oMath>
                </a14:m>
                <a:r>
                  <a:rPr lang="en-US" dirty="0"/>
                  <a:t>dan </a:t>
                </a:r>
                <a14:m>
                  <m:oMath xmlns:m="http://schemas.openxmlformats.org/officeDocument/2006/math">
                    <m:r>
                      <a:rPr lang="el-GR" i="1" dirty="0" smtClean="0">
                        <a:latin typeface="Cambria Math" panose="02040503050406030204" pitchFamily="18" charset="0"/>
                      </a:rPr>
                      <m:t>𝛽</m:t>
                    </m:r>
                    <m:r>
                      <a:rPr lang="el-GR" i="1" dirty="0" smtClean="0">
                        <a:latin typeface="Cambria Math" panose="02040503050406030204" pitchFamily="18" charset="0"/>
                      </a:rPr>
                      <m:t> = −50</m:t>
                    </m:r>
                  </m:oMath>
                </a14:m>
                <a:r>
                  <a:rPr lang="el-GR" dirty="0"/>
                  <a:t>, </a:t>
                </a:r>
                <a:r>
                  <a:rPr lang="en-US" dirty="0" err="1"/>
                  <a:t>kemudian</a:t>
                </a:r>
                <a:r>
                  <a:rPr lang="en-US" dirty="0"/>
                  <a:t> </a:t>
                </a:r>
                <a:r>
                  <a:rPr lang="en-US" dirty="0" err="1"/>
                  <a:t>bandingkan</a:t>
                </a:r>
                <a:r>
                  <a:rPr lang="en-US" dirty="0"/>
                  <a:t> </a:t>
                </a:r>
                <a:r>
                  <a:rPr lang="en-US" dirty="0" err="1"/>
                  <a:t>histogramnya</a:t>
                </a:r>
                <a:r>
                  <a:rPr lang="en-US" dirty="0"/>
                  <a:t> </a:t>
                </a:r>
                <a:r>
                  <a:rPr lang="en-US" dirty="0" err="1"/>
                  <a:t>sebelum</a:t>
                </a:r>
                <a:r>
                  <a:rPr lang="en-US" dirty="0"/>
                  <a:t> dan </a:t>
                </a:r>
                <a:r>
                  <a:rPr lang="en-US" dirty="0" err="1"/>
                  <a:t>sesudah</a:t>
                </a:r>
                <a:r>
                  <a:rPr lang="en-US" dirty="0"/>
                  <a:t> </a:t>
                </a:r>
                <a:r>
                  <a:rPr lang="en-US" dirty="0" err="1"/>
                  <a:t>menggunakan</a:t>
                </a:r>
                <a:r>
                  <a:rPr lang="en-US" dirty="0"/>
                  <a:t> </a:t>
                </a:r>
                <a:r>
                  <a:rPr lang="en-US" dirty="0" err="1"/>
                  <a:t>kode</a:t>
                </a:r>
                <a:r>
                  <a:rPr lang="en-US" dirty="0"/>
                  <a:t> </a:t>
                </a:r>
                <a:r>
                  <a:rPr lang="en-US" dirty="0" err="1"/>
                  <a:t>dari</a:t>
                </a:r>
                <a:r>
                  <a:rPr lang="en-US" dirty="0"/>
                  <a:t> </a:t>
                </a:r>
                <a:r>
                  <a:rPr lang="en-US" dirty="0" err="1"/>
                  <a:t>materi</a:t>
                </a:r>
                <a:r>
                  <a:rPr lang="en-US" dirty="0"/>
                  <a:t> Histogram </a:t>
                </a:r>
                <a:r>
                  <a:rPr lang="en-US" dirty="0" err="1"/>
                  <a:t>sebelumnya</a:t>
                </a:r>
                <a:r>
                  <a:rPr lang="en-US" dirty="0"/>
                  <a:t>.</a:t>
                </a:r>
              </a:p>
              <a:p>
                <a:r>
                  <a:rPr lang="en-US" dirty="0" err="1"/>
                  <a:t>Lakukan</a:t>
                </a:r>
                <a:r>
                  <a:rPr lang="en-US" dirty="0"/>
                  <a:t> </a:t>
                </a:r>
                <a:r>
                  <a:rPr lang="en-US" dirty="0" err="1"/>
                  <a:t>rotasi</a:t>
                </a:r>
                <a:r>
                  <a:rPr lang="en-US" dirty="0"/>
                  <a:t> 45° pada </a:t>
                </a:r>
                <a:r>
                  <a:rPr lang="en-US" dirty="0" err="1"/>
                  <a:t>sebuah</a:t>
                </a:r>
                <a:r>
                  <a:rPr lang="en-US" dirty="0"/>
                  <a:t> </a:t>
                </a:r>
                <a:r>
                  <a:rPr lang="en-US" dirty="0" err="1"/>
                  <a:t>citra</a:t>
                </a:r>
                <a:r>
                  <a:rPr lang="en-US" dirty="0"/>
                  <a:t> </a:t>
                </a:r>
                <a:r>
                  <a:rPr lang="en-US" dirty="0" err="1"/>
                  <a:t>menggunakan</a:t>
                </a:r>
                <a:r>
                  <a:rPr lang="en-US" dirty="0"/>
                  <a:t> cv2.getRotationMatrix2D, </a:t>
                </a:r>
                <a:r>
                  <a:rPr lang="en-US" dirty="0" err="1"/>
                  <a:t>amati</a:t>
                </a:r>
                <a:r>
                  <a:rPr lang="en-US" dirty="0"/>
                  <a:t> area </a:t>
                </a:r>
                <a:r>
                  <a:rPr lang="en-US" dirty="0" err="1"/>
                  <a:t>kosong</a:t>
                </a:r>
                <a:r>
                  <a:rPr lang="en-US" dirty="0"/>
                  <a:t> (</a:t>
                </a:r>
                <a:r>
                  <a:rPr lang="en-US" dirty="0" err="1"/>
                  <a:t>hitam</a:t>
                </a:r>
                <a:r>
                  <a:rPr lang="en-US" dirty="0"/>
                  <a:t>) yang </a:t>
                </a:r>
                <a:r>
                  <a:rPr lang="en-US" dirty="0" err="1"/>
                  <a:t>muncul</a:t>
                </a:r>
                <a:r>
                  <a:rPr lang="en-US" dirty="0"/>
                  <a:t> di </a:t>
                </a:r>
                <a:r>
                  <a:rPr lang="en-US" dirty="0" err="1"/>
                  <a:t>sudut</a:t>
                </a:r>
                <a:r>
                  <a:rPr lang="en-US" dirty="0"/>
                  <a:t> </a:t>
                </a:r>
                <a:r>
                  <a:rPr lang="en-US" dirty="0" err="1"/>
                  <a:t>citra</a:t>
                </a:r>
                <a:r>
                  <a:rPr lang="en-US" dirty="0"/>
                  <a:t> </a:t>
                </a:r>
                <a:r>
                  <a:rPr lang="en-US" dirty="0" err="1"/>
                  <a:t>hasil</a:t>
                </a:r>
                <a:r>
                  <a:rPr lang="en-US" dirty="0"/>
                  <a:t>, dan </a:t>
                </a:r>
                <a:r>
                  <a:rPr lang="en-US" dirty="0" err="1"/>
                  <a:t>jelaskan</a:t>
                </a:r>
                <a:r>
                  <a:rPr lang="en-US" dirty="0"/>
                  <a:t> </a:t>
                </a:r>
                <a:r>
                  <a:rPr lang="en-US" dirty="0" err="1"/>
                  <a:t>penyebabnya</a:t>
                </a:r>
                <a:r>
                  <a:rPr lang="en-US" dirty="0"/>
                  <a:t>.</a:t>
                </a:r>
              </a:p>
              <a:p>
                <a:r>
                  <a:rPr lang="en-US" dirty="0" err="1"/>
                  <a:t>Simulasikan</a:t>
                </a:r>
                <a:r>
                  <a:rPr lang="en-US" dirty="0"/>
                  <a:t> noise salt-and-pepper pada </a:t>
                </a:r>
                <a:r>
                  <a:rPr lang="en-US" dirty="0" err="1"/>
                  <a:t>sebuah</a:t>
                </a:r>
                <a:r>
                  <a:rPr lang="en-US" dirty="0"/>
                  <a:t> </a:t>
                </a:r>
                <a:r>
                  <a:rPr lang="en-US" dirty="0" err="1"/>
                  <a:t>citra</a:t>
                </a:r>
                <a:r>
                  <a:rPr lang="en-US" dirty="0"/>
                  <a:t> </a:t>
                </a:r>
                <a:r>
                  <a:rPr lang="en-US" dirty="0" err="1"/>
                  <a:t>bersih</a:t>
                </a:r>
                <a:r>
                  <a:rPr lang="en-US" dirty="0"/>
                  <a:t>, </a:t>
                </a:r>
                <a:r>
                  <a:rPr lang="en-US" dirty="0" err="1"/>
                  <a:t>lalu</a:t>
                </a:r>
                <a:r>
                  <a:rPr lang="en-US" dirty="0"/>
                  <a:t> </a:t>
                </a:r>
                <a:r>
                  <a:rPr lang="en-US" dirty="0" err="1"/>
                  <a:t>bandingkan</a:t>
                </a:r>
                <a:r>
                  <a:rPr lang="en-US" dirty="0"/>
                  <a:t> </a:t>
                </a:r>
                <a:r>
                  <a:rPr lang="en-US" dirty="0" err="1"/>
                  <a:t>hasil</a:t>
                </a:r>
                <a:r>
                  <a:rPr lang="en-US" dirty="0"/>
                  <a:t> </a:t>
                </a:r>
                <a:r>
                  <a:rPr lang="en-US" dirty="0" err="1"/>
                  <a:t>restorasi</a:t>
                </a:r>
                <a:r>
                  <a:rPr lang="en-US" dirty="0"/>
                  <a:t> </a:t>
                </a:r>
                <a:r>
                  <a:rPr lang="en-US" dirty="0" err="1"/>
                  <a:t>menggunakan</a:t>
                </a:r>
                <a:r>
                  <a:rPr lang="en-US" dirty="0"/>
                  <a:t> median filter vs mean filter . </a:t>
                </a:r>
                <a:r>
                  <a:rPr lang="en-US" dirty="0" err="1"/>
                  <a:t>Jelasakan</a:t>
                </a:r>
                <a:r>
                  <a:rPr lang="en-US" dirty="0"/>
                  <a:t> filter mana yang </a:t>
                </a:r>
                <a:r>
                  <a:rPr lang="en-US" dirty="0" err="1"/>
                  <a:t>lebih</a:t>
                </a:r>
                <a:r>
                  <a:rPr lang="en-US" dirty="0"/>
                  <a:t> </a:t>
                </a:r>
                <a:r>
                  <a:rPr lang="en-US" dirty="0" err="1"/>
                  <a:t>baik</a:t>
                </a:r>
                <a:r>
                  <a:rPr lang="en-US" dirty="0"/>
                  <a:t> </a:t>
                </a:r>
                <a:r>
                  <a:rPr lang="en-US" dirty="0" err="1"/>
                  <a:t>untuk</a:t>
                </a:r>
                <a:r>
                  <a:rPr lang="en-US" dirty="0"/>
                  <a:t> </a:t>
                </a:r>
                <a:r>
                  <a:rPr lang="en-US" dirty="0" err="1"/>
                  <a:t>jenis</a:t>
                </a:r>
                <a:r>
                  <a:rPr lang="en-US" dirty="0"/>
                  <a:t> noise </a:t>
                </a:r>
                <a:r>
                  <a:rPr lang="en-US" dirty="0" err="1"/>
                  <a:t>ini</a:t>
                </a:r>
                <a:r>
                  <a:rPr lang="en-US" dirty="0"/>
                  <a:t>, dan </a:t>
                </a:r>
                <a:r>
                  <a:rPr lang="en-US" dirty="0" err="1"/>
                  <a:t>mengapa</a:t>
                </a:r>
                <a:r>
                  <a:rPr lang="en-US" dirty="0"/>
                  <a:t>?</a:t>
                </a:r>
              </a:p>
            </p:txBody>
          </p:sp>
        </mc:Choice>
        <mc:Fallback>
          <p:sp>
            <p:nvSpPr>
              <p:cNvPr id="3" name="Text Placeholder 2">
                <a:extLst>
                  <a:ext uri="{FF2B5EF4-FFF2-40B4-BE49-F238E27FC236}">
                    <a16:creationId xmlns:a16="http://schemas.microsoft.com/office/drawing/2014/main" id="{50FA671E-CAD1-2038-E57F-A198715D6A72}"/>
                  </a:ext>
                </a:extLst>
              </p:cNvPr>
              <p:cNvSpPr>
                <a:spLocks noGrp="1" noRot="1" noChangeAspect="1" noMove="1" noResize="1" noEditPoints="1" noAdjustHandles="1" noChangeArrowheads="1" noChangeShapeType="1" noTextEdit="1"/>
              </p:cNvSpPr>
              <p:nvPr>
                <p:ph type="body" idx="1"/>
              </p:nvPr>
            </p:nvSpPr>
            <p:spPr>
              <a:blipFill>
                <a:blip r:embed="rId2"/>
                <a:stretch>
                  <a:fillRect r="-791" b="-11864"/>
                </a:stretch>
              </a:blipFill>
            </p:spPr>
            <p:txBody>
              <a:bodyPr/>
              <a:lstStyle/>
              <a:p>
                <a:r>
                  <a:rPr lang="en-US">
                    <a:noFill/>
                  </a:rPr>
                  <a:t> </a:t>
                </a:r>
              </a:p>
            </p:txBody>
          </p:sp>
        </mc:Fallback>
      </mc:AlternateContent>
    </p:spTree>
    <p:extLst>
      <p:ext uri="{BB962C8B-B14F-4D97-AF65-F5344CB8AC3E}">
        <p14:creationId xmlns:p14="http://schemas.microsoft.com/office/powerpoint/2010/main" val="42766892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13">
          <a:extLst>
            <a:ext uri="{FF2B5EF4-FFF2-40B4-BE49-F238E27FC236}">
              <a16:creationId xmlns:a16="http://schemas.microsoft.com/office/drawing/2014/main" id="{1E255225-2F05-16A1-C413-89D19B0570B2}"/>
            </a:ext>
          </a:extLst>
        </p:cNvPr>
        <p:cNvGrpSpPr/>
        <p:nvPr/>
      </p:nvGrpSpPr>
      <p:grpSpPr>
        <a:xfrm>
          <a:off x="0" y="0"/>
          <a:ext cx="0" cy="0"/>
          <a:chOff x="0" y="0"/>
          <a:chExt cx="0" cy="0"/>
        </a:xfrm>
      </p:grpSpPr>
      <p:sp>
        <p:nvSpPr>
          <p:cNvPr id="414" name="Google Shape;414;p43">
            <a:extLst>
              <a:ext uri="{FF2B5EF4-FFF2-40B4-BE49-F238E27FC236}">
                <a16:creationId xmlns:a16="http://schemas.microsoft.com/office/drawing/2014/main" id="{DE7D7987-CCB4-F71E-B4E2-3FD3820C23F1}"/>
              </a:ext>
            </a:extLst>
          </p:cNvPr>
          <p:cNvSpPr txBox="1">
            <a:spLocks noGrp="1"/>
          </p:cNvSpPr>
          <p:nvPr>
            <p:ph type="title"/>
          </p:nvPr>
        </p:nvSpPr>
        <p:spPr>
          <a:xfrm>
            <a:off x="1568621" y="636120"/>
            <a:ext cx="5855100" cy="760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REFERENSI</a:t>
            </a:r>
            <a:endParaRPr dirty="0"/>
          </a:p>
        </p:txBody>
      </p:sp>
      <p:sp>
        <p:nvSpPr>
          <p:cNvPr id="4" name="Text Placeholder 2">
            <a:extLst>
              <a:ext uri="{FF2B5EF4-FFF2-40B4-BE49-F238E27FC236}">
                <a16:creationId xmlns:a16="http://schemas.microsoft.com/office/drawing/2014/main" id="{EE6E1CEC-DC6F-7FF3-E382-A807F22305BE}"/>
              </a:ext>
            </a:extLst>
          </p:cNvPr>
          <p:cNvSpPr txBox="1">
            <a:spLocks/>
          </p:cNvSpPr>
          <p:nvPr/>
        </p:nvSpPr>
        <p:spPr>
          <a:xfrm>
            <a:off x="930752" y="1253397"/>
            <a:ext cx="7160573" cy="330499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spc="0">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spc="0">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spc="0">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spc="0">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spc="0">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spc="0">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spc="0">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spc="0">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spc="0">
                <a:solidFill>
                  <a:schemeClr val="dk1"/>
                </a:solidFill>
                <a:latin typeface="Hanken Grotesk"/>
                <a:ea typeface="Hanken Grotesk"/>
                <a:cs typeface="Hanken Grotesk"/>
                <a:sym typeface="Hanken Grotesk"/>
              </a:defRPr>
            </a:lvl9pPr>
          </a:lstStyle>
          <a:p>
            <a:endParaRPr lang="en-US" dirty="0"/>
          </a:p>
          <a:p>
            <a:pPr lvl="0"/>
            <a:r>
              <a:rPr lang="en-US" dirty="0"/>
              <a:t>Gonzalez, R. C., &amp; Woods, R. E. (2018). </a:t>
            </a:r>
            <a:r>
              <a:rPr lang="en-US" i="1" dirty="0"/>
              <a:t>Digital Image Processing</a:t>
            </a:r>
            <a:r>
              <a:rPr lang="en-US" dirty="0"/>
              <a:t> (4th ed.). Pearson.</a:t>
            </a:r>
          </a:p>
          <a:p>
            <a:pPr lvl="0"/>
            <a:r>
              <a:rPr lang="en-US" dirty="0" err="1"/>
              <a:t>Szeliski</a:t>
            </a:r>
            <a:r>
              <a:rPr lang="en-US" dirty="0"/>
              <a:t>, R. (2022). </a:t>
            </a:r>
            <a:r>
              <a:rPr lang="en-US" i="1" dirty="0"/>
              <a:t>Computer Vision: Algorithms and Applications</a:t>
            </a:r>
            <a:r>
              <a:rPr lang="en-US" dirty="0"/>
              <a:t> (2nd ed.). Springer.</a:t>
            </a:r>
          </a:p>
          <a:p>
            <a:pPr lvl="0"/>
            <a:r>
              <a:rPr lang="en-US" dirty="0"/>
              <a:t>Putra, D. (2010). </a:t>
            </a:r>
            <a:r>
              <a:rPr lang="en-US" i="1" dirty="0" err="1"/>
              <a:t>Pengolahan</a:t>
            </a:r>
            <a:r>
              <a:rPr lang="en-US" i="1" dirty="0"/>
              <a:t> Citra Digital</a:t>
            </a:r>
            <a:r>
              <a:rPr lang="en-US" dirty="0"/>
              <a:t>. Andi Offset.</a:t>
            </a:r>
          </a:p>
          <a:p>
            <a:pPr lvl="0"/>
            <a:r>
              <a:rPr lang="en-US" dirty="0"/>
              <a:t>Pizer, S. M., et al. (1987). Adaptive histogram equalization and its variations. </a:t>
            </a:r>
            <a:r>
              <a:rPr lang="en-US" i="1" dirty="0"/>
              <a:t>Computer Vision, Graphics, and Image Processing, 39</a:t>
            </a:r>
            <a:r>
              <a:rPr lang="en-US" dirty="0"/>
              <a:t>(3), 355–368.</a:t>
            </a:r>
          </a:p>
          <a:p>
            <a:pPr lvl="0"/>
            <a:r>
              <a:rPr lang="en-US" dirty="0"/>
              <a:t>Wiener, N. (1949). </a:t>
            </a:r>
            <a:r>
              <a:rPr lang="en-US" i="1" dirty="0"/>
              <a:t>Extrapolation, Interpolation, and Smoothing of Stationary Time Series</a:t>
            </a:r>
            <a:r>
              <a:rPr lang="en-US" dirty="0"/>
              <a:t>. MIT Press.</a:t>
            </a:r>
          </a:p>
          <a:p>
            <a:pPr lvl="0"/>
            <a:r>
              <a:rPr lang="en-US" dirty="0"/>
              <a:t>Buades, A., Coll, B., &amp; Morel, J. M. (2005). "A non-local algorithm for image denoising". </a:t>
            </a:r>
            <a:r>
              <a:rPr lang="en-US" i="1" dirty="0"/>
              <a:t>IEEE Computer Society Conference on Computer Vision and Pattern Recognition (CVPR)</a:t>
            </a:r>
            <a:r>
              <a:rPr lang="en-US" dirty="0"/>
              <a:t>.</a:t>
            </a:r>
          </a:p>
        </p:txBody>
      </p:sp>
    </p:spTree>
    <p:extLst>
      <p:ext uri="{BB962C8B-B14F-4D97-AF65-F5344CB8AC3E}">
        <p14:creationId xmlns:p14="http://schemas.microsoft.com/office/powerpoint/2010/main" val="32506786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855"/>
        <p:cNvGrpSpPr/>
        <p:nvPr/>
      </p:nvGrpSpPr>
      <p:grpSpPr>
        <a:xfrm>
          <a:off x="0" y="0"/>
          <a:ext cx="0" cy="0"/>
          <a:chOff x="0" y="0"/>
          <a:chExt cx="0" cy="0"/>
        </a:xfrm>
      </p:grpSpPr>
      <p:sp>
        <p:nvSpPr>
          <p:cNvPr id="856" name="Google Shape;856;p60"/>
          <p:cNvSpPr txBox="1">
            <a:spLocks noGrp="1"/>
          </p:cNvSpPr>
          <p:nvPr>
            <p:ph type="title"/>
          </p:nvPr>
        </p:nvSpPr>
        <p:spPr>
          <a:xfrm>
            <a:off x="1094263" y="778325"/>
            <a:ext cx="4448100" cy="1058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Thanks!</a:t>
            </a:r>
            <a:endParaRPr/>
          </a:p>
        </p:txBody>
      </p:sp>
      <p:sp>
        <p:nvSpPr>
          <p:cNvPr id="857" name="Google Shape;857;p60"/>
          <p:cNvSpPr txBox="1">
            <a:spLocks noGrp="1"/>
          </p:cNvSpPr>
          <p:nvPr>
            <p:ph type="subTitle" idx="1"/>
          </p:nvPr>
        </p:nvSpPr>
        <p:spPr>
          <a:xfrm>
            <a:off x="1094225" y="1651512"/>
            <a:ext cx="4448100" cy="1224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t>Do you have any questions?</a:t>
            </a:r>
            <a:endParaRPr b="1"/>
          </a:p>
          <a:p>
            <a:pPr marL="0" lvl="0" indent="0" algn="l" rtl="0">
              <a:spcBef>
                <a:spcPts val="0"/>
              </a:spcBef>
              <a:spcAft>
                <a:spcPts val="0"/>
              </a:spcAft>
              <a:buNone/>
            </a:pPr>
            <a:r>
              <a:rPr lang="en"/>
              <a:t>youremail@freepik.com</a:t>
            </a:r>
            <a:endParaRPr/>
          </a:p>
          <a:p>
            <a:pPr marL="0" lvl="0" indent="0" algn="l" rtl="0">
              <a:spcBef>
                <a:spcPts val="0"/>
              </a:spcBef>
              <a:spcAft>
                <a:spcPts val="0"/>
              </a:spcAft>
              <a:buNone/>
            </a:pPr>
            <a:r>
              <a:rPr lang="en"/>
              <a:t>+34 654 321 432</a:t>
            </a:r>
            <a:endParaRPr/>
          </a:p>
          <a:p>
            <a:pPr marL="0" lvl="0" indent="0" algn="l" rtl="0">
              <a:spcBef>
                <a:spcPts val="0"/>
              </a:spcBef>
              <a:spcAft>
                <a:spcPts val="0"/>
              </a:spcAft>
              <a:buNone/>
            </a:pPr>
            <a:r>
              <a:rPr lang="en"/>
              <a:t>yourwebsite.com</a:t>
            </a:r>
            <a:endParaRPr/>
          </a:p>
        </p:txBody>
      </p:sp>
      <p:sp>
        <p:nvSpPr>
          <p:cNvPr id="858" name="Google Shape;858;p60"/>
          <p:cNvSpPr txBox="1"/>
          <p:nvPr/>
        </p:nvSpPr>
        <p:spPr>
          <a:xfrm>
            <a:off x="1094225" y="4043650"/>
            <a:ext cx="4151700" cy="260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a:solidFill>
                  <a:schemeClr val="dk1"/>
                </a:solidFill>
                <a:latin typeface="Hanken Grotesk"/>
                <a:ea typeface="Hanken Grotesk"/>
                <a:cs typeface="Hanken Grotesk"/>
                <a:sym typeface="Hanken Grotesk"/>
              </a:rPr>
              <a:t>Please keep this slide for attribution</a:t>
            </a:r>
            <a:endParaRPr sz="1200">
              <a:solidFill>
                <a:schemeClr val="dk1"/>
              </a:solidFill>
              <a:latin typeface="Hanken Grotesk"/>
              <a:ea typeface="Hanken Grotesk"/>
              <a:cs typeface="Hanken Grotesk"/>
              <a:sym typeface="Hanken Grotesk"/>
            </a:endParaRPr>
          </a:p>
        </p:txBody>
      </p:sp>
      <p:sp>
        <p:nvSpPr>
          <p:cNvPr id="859" name="Google Shape;859;p60"/>
          <p:cNvSpPr/>
          <p:nvPr/>
        </p:nvSpPr>
        <p:spPr>
          <a:xfrm>
            <a:off x="1178337" y="2949248"/>
            <a:ext cx="313268" cy="313268"/>
          </a:xfrm>
          <a:custGeom>
            <a:avLst/>
            <a:gdLst/>
            <a:ahLst/>
            <a:cxnLst/>
            <a:rect l="l" t="t" r="r" b="b"/>
            <a:pathLst>
              <a:path w="19982" h="19982" extrusionOk="0">
                <a:moveTo>
                  <a:pt x="14602" y="3500"/>
                </a:moveTo>
                <a:cubicBezTo>
                  <a:pt x="15137" y="3500"/>
                  <a:pt x="15682" y="3563"/>
                  <a:pt x="16247" y="3689"/>
                </a:cubicBezTo>
                <a:cubicBezTo>
                  <a:pt x="16179" y="4154"/>
                  <a:pt x="16095" y="4705"/>
                  <a:pt x="16033" y="5120"/>
                </a:cubicBezTo>
                <a:cubicBezTo>
                  <a:pt x="15810" y="5075"/>
                  <a:pt x="15484" y="5035"/>
                  <a:pt x="15150" y="5035"/>
                </a:cubicBezTo>
                <a:cubicBezTo>
                  <a:pt x="14968" y="5035"/>
                  <a:pt x="14783" y="5047"/>
                  <a:pt x="14611" y="5076"/>
                </a:cubicBezTo>
                <a:cubicBezTo>
                  <a:pt x="13536" y="5258"/>
                  <a:pt x="12918" y="5925"/>
                  <a:pt x="12918" y="6907"/>
                </a:cubicBezTo>
                <a:lnTo>
                  <a:pt x="12918" y="8819"/>
                </a:lnTo>
                <a:cubicBezTo>
                  <a:pt x="12918" y="9143"/>
                  <a:pt x="13180" y="9405"/>
                  <a:pt x="13504" y="9405"/>
                </a:cubicBezTo>
                <a:lnTo>
                  <a:pt x="15681" y="9405"/>
                </a:lnTo>
                <a:lnTo>
                  <a:pt x="15388" y="10576"/>
                </a:lnTo>
                <a:lnTo>
                  <a:pt x="13504" y="10576"/>
                </a:lnTo>
                <a:cubicBezTo>
                  <a:pt x="13180" y="10576"/>
                  <a:pt x="12918" y="10838"/>
                  <a:pt x="12918" y="11161"/>
                </a:cubicBezTo>
                <a:lnTo>
                  <a:pt x="12918" y="18811"/>
                </a:lnTo>
                <a:lnTo>
                  <a:pt x="11162" y="18811"/>
                </a:lnTo>
                <a:lnTo>
                  <a:pt x="11162" y="11161"/>
                </a:lnTo>
                <a:cubicBezTo>
                  <a:pt x="11162" y="10838"/>
                  <a:pt x="10900" y="10576"/>
                  <a:pt x="10576" y="10576"/>
                </a:cubicBezTo>
                <a:lnTo>
                  <a:pt x="9407" y="10576"/>
                </a:lnTo>
                <a:lnTo>
                  <a:pt x="9407" y="9405"/>
                </a:lnTo>
                <a:lnTo>
                  <a:pt x="10576" y="9405"/>
                </a:lnTo>
                <a:cubicBezTo>
                  <a:pt x="10900" y="9405"/>
                  <a:pt x="11162" y="9143"/>
                  <a:pt x="11162" y="8821"/>
                </a:cubicBezTo>
                <a:cubicBezTo>
                  <a:pt x="11162" y="7215"/>
                  <a:pt x="11162" y="6481"/>
                  <a:pt x="11162" y="6143"/>
                </a:cubicBezTo>
                <a:cubicBezTo>
                  <a:pt x="11162" y="5520"/>
                  <a:pt x="11163" y="4843"/>
                  <a:pt x="11770" y="4324"/>
                </a:cubicBezTo>
                <a:cubicBezTo>
                  <a:pt x="12234" y="3928"/>
                  <a:pt x="12823" y="3687"/>
                  <a:pt x="13628" y="3571"/>
                </a:cubicBezTo>
                <a:cubicBezTo>
                  <a:pt x="13950" y="3524"/>
                  <a:pt x="14274" y="3500"/>
                  <a:pt x="14602" y="3500"/>
                </a:cubicBezTo>
                <a:close/>
                <a:moveTo>
                  <a:pt x="17017" y="1170"/>
                </a:moveTo>
                <a:cubicBezTo>
                  <a:pt x="17990" y="1170"/>
                  <a:pt x="18811" y="1975"/>
                  <a:pt x="18811" y="2927"/>
                </a:cubicBezTo>
                <a:lnTo>
                  <a:pt x="18811" y="17056"/>
                </a:lnTo>
                <a:cubicBezTo>
                  <a:pt x="18811" y="18023"/>
                  <a:pt x="18024" y="18811"/>
                  <a:pt x="17056" y="18811"/>
                </a:cubicBezTo>
                <a:lnTo>
                  <a:pt x="14089" y="18811"/>
                </a:lnTo>
                <a:lnTo>
                  <a:pt x="14089" y="11747"/>
                </a:lnTo>
                <a:lnTo>
                  <a:pt x="15846" y="11747"/>
                </a:lnTo>
                <a:cubicBezTo>
                  <a:pt x="16115" y="11747"/>
                  <a:pt x="16348" y="11565"/>
                  <a:pt x="16414" y="11305"/>
                </a:cubicBezTo>
                <a:lnTo>
                  <a:pt x="16999" y="8963"/>
                </a:lnTo>
                <a:cubicBezTo>
                  <a:pt x="17042" y="8787"/>
                  <a:pt x="17003" y="8602"/>
                  <a:pt x="16893" y="8460"/>
                </a:cubicBezTo>
                <a:cubicBezTo>
                  <a:pt x="16782" y="8317"/>
                  <a:pt x="16612" y="8235"/>
                  <a:pt x="16431" y="8235"/>
                </a:cubicBezTo>
                <a:lnTo>
                  <a:pt x="14089" y="8235"/>
                </a:lnTo>
                <a:lnTo>
                  <a:pt x="14089" y="6909"/>
                </a:lnTo>
                <a:cubicBezTo>
                  <a:pt x="14089" y="6638"/>
                  <a:pt x="14144" y="6343"/>
                  <a:pt x="14808" y="6229"/>
                </a:cubicBezTo>
                <a:cubicBezTo>
                  <a:pt x="14936" y="6208"/>
                  <a:pt x="15061" y="6199"/>
                  <a:pt x="15182" y="6199"/>
                </a:cubicBezTo>
                <a:cubicBezTo>
                  <a:pt x="15552" y="6199"/>
                  <a:pt x="15890" y="6283"/>
                  <a:pt x="16198" y="6360"/>
                </a:cubicBezTo>
                <a:cubicBezTo>
                  <a:pt x="16304" y="6387"/>
                  <a:pt x="16415" y="6421"/>
                  <a:pt x="16532" y="6421"/>
                </a:cubicBezTo>
                <a:cubicBezTo>
                  <a:pt x="16632" y="6421"/>
                  <a:pt x="16736" y="6396"/>
                  <a:pt x="16847" y="6321"/>
                </a:cubicBezTo>
                <a:cubicBezTo>
                  <a:pt x="16983" y="6229"/>
                  <a:pt x="17074" y="6084"/>
                  <a:pt x="17098" y="5923"/>
                </a:cubicBezTo>
                <a:cubicBezTo>
                  <a:pt x="17098" y="5923"/>
                  <a:pt x="17362" y="4156"/>
                  <a:pt x="17482" y="3339"/>
                </a:cubicBezTo>
                <a:cubicBezTo>
                  <a:pt x="17525" y="3049"/>
                  <a:pt x="17346" y="2769"/>
                  <a:pt x="17063" y="2690"/>
                </a:cubicBezTo>
                <a:cubicBezTo>
                  <a:pt x="16267" y="2463"/>
                  <a:pt x="15346" y="2343"/>
                  <a:pt x="14504" y="2343"/>
                </a:cubicBezTo>
                <a:cubicBezTo>
                  <a:pt x="14137" y="2343"/>
                  <a:pt x="13786" y="2365"/>
                  <a:pt x="13467" y="2412"/>
                </a:cubicBezTo>
                <a:cubicBezTo>
                  <a:pt x="12434" y="2562"/>
                  <a:pt x="11646" y="2888"/>
                  <a:pt x="11009" y="3434"/>
                </a:cubicBezTo>
                <a:cubicBezTo>
                  <a:pt x="10121" y="4193"/>
                  <a:pt x="10010" y="5168"/>
                  <a:pt x="9999" y="5833"/>
                </a:cubicBezTo>
                <a:cubicBezTo>
                  <a:pt x="9999" y="5847"/>
                  <a:pt x="9999" y="7029"/>
                  <a:pt x="9999" y="8235"/>
                </a:cubicBezTo>
                <a:lnTo>
                  <a:pt x="8821" y="8235"/>
                </a:lnTo>
                <a:cubicBezTo>
                  <a:pt x="8497" y="8235"/>
                  <a:pt x="8236" y="8497"/>
                  <a:pt x="8236" y="8819"/>
                </a:cubicBezTo>
                <a:lnTo>
                  <a:pt x="8236" y="11161"/>
                </a:lnTo>
                <a:cubicBezTo>
                  <a:pt x="8236" y="11485"/>
                  <a:pt x="8497" y="11747"/>
                  <a:pt x="8821" y="11747"/>
                </a:cubicBezTo>
                <a:lnTo>
                  <a:pt x="9991" y="11747"/>
                </a:lnTo>
                <a:lnTo>
                  <a:pt x="9991" y="18811"/>
                </a:lnTo>
                <a:lnTo>
                  <a:pt x="2927" y="18811"/>
                </a:lnTo>
                <a:cubicBezTo>
                  <a:pt x="1959" y="18811"/>
                  <a:pt x="1172" y="18023"/>
                  <a:pt x="1172" y="17054"/>
                </a:cubicBezTo>
                <a:lnTo>
                  <a:pt x="1172" y="2927"/>
                </a:lnTo>
                <a:cubicBezTo>
                  <a:pt x="1172" y="1959"/>
                  <a:pt x="1959" y="1170"/>
                  <a:pt x="2927" y="1170"/>
                </a:cubicBezTo>
                <a:close/>
                <a:moveTo>
                  <a:pt x="2927" y="1"/>
                </a:moveTo>
                <a:cubicBezTo>
                  <a:pt x="1314" y="1"/>
                  <a:pt x="1" y="1313"/>
                  <a:pt x="1" y="2927"/>
                </a:cubicBezTo>
                <a:lnTo>
                  <a:pt x="1" y="17056"/>
                </a:lnTo>
                <a:cubicBezTo>
                  <a:pt x="1" y="18669"/>
                  <a:pt x="1314" y="19982"/>
                  <a:pt x="2927" y="19982"/>
                </a:cubicBezTo>
                <a:lnTo>
                  <a:pt x="17054" y="19982"/>
                </a:lnTo>
                <a:cubicBezTo>
                  <a:pt x="18669" y="19982"/>
                  <a:pt x="19982" y="18669"/>
                  <a:pt x="19982" y="17056"/>
                </a:cubicBezTo>
                <a:lnTo>
                  <a:pt x="19982" y="2927"/>
                </a:lnTo>
                <a:cubicBezTo>
                  <a:pt x="19982" y="2145"/>
                  <a:pt x="19669" y="1409"/>
                  <a:pt x="19101" y="853"/>
                </a:cubicBezTo>
                <a:cubicBezTo>
                  <a:pt x="18538" y="303"/>
                  <a:pt x="17797" y="1"/>
                  <a:pt x="170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nvGrpSpPr>
          <p:cNvPr id="860" name="Google Shape;860;p60"/>
          <p:cNvGrpSpPr/>
          <p:nvPr/>
        </p:nvGrpSpPr>
        <p:grpSpPr>
          <a:xfrm>
            <a:off x="1654888" y="2949057"/>
            <a:ext cx="313342" cy="313227"/>
            <a:chOff x="812101" y="2571761"/>
            <a:chExt cx="417066" cy="417024"/>
          </a:xfrm>
        </p:grpSpPr>
        <p:sp>
          <p:nvSpPr>
            <p:cNvPr id="861" name="Google Shape;861;p60"/>
            <p:cNvSpPr/>
            <p:nvPr/>
          </p:nvSpPr>
          <p:spPr>
            <a:xfrm>
              <a:off x="935084" y="2694744"/>
              <a:ext cx="171071" cy="171071"/>
            </a:xfrm>
            <a:custGeom>
              <a:avLst/>
              <a:gdLst/>
              <a:ahLst/>
              <a:cxnLst/>
              <a:rect l="l" t="t" r="r" b="b"/>
              <a:pathLst>
                <a:path w="8197" h="8197" extrusionOk="0">
                  <a:moveTo>
                    <a:pt x="4099" y="1171"/>
                  </a:moveTo>
                  <a:cubicBezTo>
                    <a:pt x="5712" y="1171"/>
                    <a:pt x="7027" y="2484"/>
                    <a:pt x="7027" y="4097"/>
                  </a:cubicBezTo>
                  <a:cubicBezTo>
                    <a:pt x="7027" y="5712"/>
                    <a:pt x="5712" y="7025"/>
                    <a:pt x="4099" y="7025"/>
                  </a:cubicBezTo>
                  <a:cubicBezTo>
                    <a:pt x="2486" y="7025"/>
                    <a:pt x="1171" y="5712"/>
                    <a:pt x="1171" y="4097"/>
                  </a:cubicBezTo>
                  <a:cubicBezTo>
                    <a:pt x="1171" y="2484"/>
                    <a:pt x="2486" y="1171"/>
                    <a:pt x="4099" y="1171"/>
                  </a:cubicBezTo>
                  <a:close/>
                  <a:moveTo>
                    <a:pt x="4099" y="0"/>
                  </a:moveTo>
                  <a:cubicBezTo>
                    <a:pt x="1840" y="0"/>
                    <a:pt x="0" y="1838"/>
                    <a:pt x="0" y="4097"/>
                  </a:cubicBezTo>
                  <a:cubicBezTo>
                    <a:pt x="0" y="6358"/>
                    <a:pt x="1840" y="8196"/>
                    <a:pt x="4099" y="8196"/>
                  </a:cubicBezTo>
                  <a:cubicBezTo>
                    <a:pt x="6358" y="8196"/>
                    <a:pt x="8196" y="6358"/>
                    <a:pt x="8196" y="4097"/>
                  </a:cubicBezTo>
                  <a:cubicBezTo>
                    <a:pt x="8196" y="1838"/>
                    <a:pt x="6358" y="0"/>
                    <a:pt x="40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862" name="Google Shape;862;p60"/>
            <p:cNvSpPr/>
            <p:nvPr/>
          </p:nvSpPr>
          <p:spPr>
            <a:xfrm>
              <a:off x="860977" y="2620616"/>
              <a:ext cx="319311" cy="319290"/>
            </a:xfrm>
            <a:custGeom>
              <a:avLst/>
              <a:gdLst/>
              <a:ahLst/>
              <a:cxnLst/>
              <a:rect l="l" t="t" r="r" b="b"/>
              <a:pathLst>
                <a:path w="15300" h="15299" extrusionOk="0">
                  <a:moveTo>
                    <a:pt x="12333" y="1171"/>
                  </a:moveTo>
                  <a:cubicBezTo>
                    <a:pt x="13306" y="1171"/>
                    <a:pt x="14128" y="1994"/>
                    <a:pt x="14128" y="2967"/>
                  </a:cubicBezTo>
                  <a:lnTo>
                    <a:pt x="14128" y="12334"/>
                  </a:lnTo>
                  <a:cubicBezTo>
                    <a:pt x="14128" y="13307"/>
                    <a:pt x="13306" y="14129"/>
                    <a:pt x="12333" y="14129"/>
                  </a:cubicBezTo>
                  <a:lnTo>
                    <a:pt x="2968" y="14129"/>
                  </a:lnTo>
                  <a:cubicBezTo>
                    <a:pt x="1993" y="14129"/>
                    <a:pt x="1172" y="13307"/>
                    <a:pt x="1172" y="12334"/>
                  </a:cubicBezTo>
                  <a:lnTo>
                    <a:pt x="1172" y="2967"/>
                  </a:lnTo>
                  <a:cubicBezTo>
                    <a:pt x="1172" y="1994"/>
                    <a:pt x="1993" y="1171"/>
                    <a:pt x="2968" y="1171"/>
                  </a:cubicBezTo>
                  <a:close/>
                  <a:moveTo>
                    <a:pt x="2968" y="0"/>
                  </a:moveTo>
                  <a:cubicBezTo>
                    <a:pt x="1351" y="0"/>
                    <a:pt x="1" y="1346"/>
                    <a:pt x="1" y="2967"/>
                  </a:cubicBezTo>
                  <a:lnTo>
                    <a:pt x="1" y="12334"/>
                  </a:lnTo>
                  <a:cubicBezTo>
                    <a:pt x="1" y="13952"/>
                    <a:pt x="1349" y="15299"/>
                    <a:pt x="2968" y="15299"/>
                  </a:cubicBezTo>
                  <a:lnTo>
                    <a:pt x="12333" y="15299"/>
                  </a:lnTo>
                  <a:cubicBezTo>
                    <a:pt x="13953" y="15299"/>
                    <a:pt x="15299" y="13951"/>
                    <a:pt x="15299" y="12334"/>
                  </a:cubicBezTo>
                  <a:lnTo>
                    <a:pt x="15299" y="2967"/>
                  </a:lnTo>
                  <a:cubicBezTo>
                    <a:pt x="15299" y="1345"/>
                    <a:pt x="13948" y="0"/>
                    <a:pt x="123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863" name="Google Shape;863;p60"/>
            <p:cNvSpPr/>
            <p:nvPr/>
          </p:nvSpPr>
          <p:spPr>
            <a:xfrm>
              <a:off x="812101" y="2571761"/>
              <a:ext cx="417066" cy="417024"/>
            </a:xfrm>
            <a:custGeom>
              <a:avLst/>
              <a:gdLst/>
              <a:ahLst/>
              <a:cxnLst/>
              <a:rect l="l" t="t" r="r" b="b"/>
              <a:pathLst>
                <a:path w="19984" h="19982" extrusionOk="0">
                  <a:moveTo>
                    <a:pt x="17056" y="1172"/>
                  </a:moveTo>
                  <a:cubicBezTo>
                    <a:pt x="18025" y="1172"/>
                    <a:pt x="18812" y="1959"/>
                    <a:pt x="18812" y="2927"/>
                  </a:cubicBezTo>
                  <a:lnTo>
                    <a:pt x="18812" y="17056"/>
                  </a:lnTo>
                  <a:cubicBezTo>
                    <a:pt x="18812" y="18023"/>
                    <a:pt x="18025" y="18811"/>
                    <a:pt x="17056" y="18811"/>
                  </a:cubicBezTo>
                  <a:lnTo>
                    <a:pt x="2928" y="18811"/>
                  </a:lnTo>
                  <a:cubicBezTo>
                    <a:pt x="1961" y="18811"/>
                    <a:pt x="1172" y="18023"/>
                    <a:pt x="1172" y="17056"/>
                  </a:cubicBezTo>
                  <a:lnTo>
                    <a:pt x="1172" y="2927"/>
                  </a:lnTo>
                  <a:cubicBezTo>
                    <a:pt x="1172" y="1959"/>
                    <a:pt x="1961" y="1172"/>
                    <a:pt x="2928" y="1172"/>
                  </a:cubicBezTo>
                  <a:close/>
                  <a:moveTo>
                    <a:pt x="2928" y="1"/>
                  </a:moveTo>
                  <a:cubicBezTo>
                    <a:pt x="1313" y="1"/>
                    <a:pt x="1" y="1313"/>
                    <a:pt x="1" y="2927"/>
                  </a:cubicBezTo>
                  <a:lnTo>
                    <a:pt x="1" y="17056"/>
                  </a:lnTo>
                  <a:cubicBezTo>
                    <a:pt x="1" y="18669"/>
                    <a:pt x="1313" y="19982"/>
                    <a:pt x="2928" y="19982"/>
                  </a:cubicBezTo>
                  <a:lnTo>
                    <a:pt x="17056" y="19982"/>
                  </a:lnTo>
                  <a:cubicBezTo>
                    <a:pt x="18669" y="19982"/>
                    <a:pt x="19984" y="18669"/>
                    <a:pt x="19984" y="17056"/>
                  </a:cubicBezTo>
                  <a:lnTo>
                    <a:pt x="19984" y="2927"/>
                  </a:lnTo>
                  <a:cubicBezTo>
                    <a:pt x="19984" y="1313"/>
                    <a:pt x="18669" y="1"/>
                    <a:pt x="170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864" name="Google Shape;864;p60"/>
            <p:cNvSpPr/>
            <p:nvPr/>
          </p:nvSpPr>
          <p:spPr>
            <a:xfrm>
              <a:off x="1081712" y="2670306"/>
              <a:ext cx="48878" cy="48898"/>
            </a:xfrm>
            <a:custGeom>
              <a:avLst/>
              <a:gdLst/>
              <a:ahLst/>
              <a:cxnLst/>
              <a:rect l="l" t="t" r="r" b="b"/>
              <a:pathLst>
                <a:path w="2342" h="2343" extrusionOk="0">
                  <a:moveTo>
                    <a:pt x="1170" y="0"/>
                  </a:moveTo>
                  <a:cubicBezTo>
                    <a:pt x="524" y="0"/>
                    <a:pt x="1" y="526"/>
                    <a:pt x="1" y="1171"/>
                  </a:cubicBezTo>
                  <a:cubicBezTo>
                    <a:pt x="1" y="1817"/>
                    <a:pt x="524" y="2342"/>
                    <a:pt x="1170" y="2342"/>
                  </a:cubicBezTo>
                  <a:cubicBezTo>
                    <a:pt x="1816" y="2342"/>
                    <a:pt x="2341" y="1817"/>
                    <a:pt x="2341" y="1171"/>
                  </a:cubicBezTo>
                  <a:cubicBezTo>
                    <a:pt x="2341" y="526"/>
                    <a:pt x="1816" y="0"/>
                    <a:pt x="11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865" name="Google Shape;865;p60"/>
          <p:cNvGrpSpPr/>
          <p:nvPr/>
        </p:nvGrpSpPr>
        <p:grpSpPr>
          <a:xfrm>
            <a:off x="2131458" y="2949057"/>
            <a:ext cx="313310" cy="313227"/>
            <a:chOff x="1323129" y="2571761"/>
            <a:chExt cx="417024" cy="417024"/>
          </a:xfrm>
        </p:grpSpPr>
        <p:sp>
          <p:nvSpPr>
            <p:cNvPr id="866" name="Google Shape;866;p60"/>
            <p:cNvSpPr/>
            <p:nvPr/>
          </p:nvSpPr>
          <p:spPr>
            <a:xfrm>
              <a:off x="1385007" y="2719183"/>
              <a:ext cx="73337" cy="219907"/>
            </a:xfrm>
            <a:custGeom>
              <a:avLst/>
              <a:gdLst/>
              <a:ahLst/>
              <a:cxnLst/>
              <a:rect l="l" t="t" r="r" b="b"/>
              <a:pathLst>
                <a:path w="3514" h="10537" extrusionOk="0">
                  <a:moveTo>
                    <a:pt x="2342" y="1171"/>
                  </a:moveTo>
                  <a:lnTo>
                    <a:pt x="2342" y="9367"/>
                  </a:lnTo>
                  <a:lnTo>
                    <a:pt x="1171" y="9367"/>
                  </a:lnTo>
                  <a:lnTo>
                    <a:pt x="1171" y="1171"/>
                  </a:lnTo>
                  <a:close/>
                  <a:moveTo>
                    <a:pt x="586" y="0"/>
                  </a:moveTo>
                  <a:cubicBezTo>
                    <a:pt x="264" y="0"/>
                    <a:pt x="0" y="262"/>
                    <a:pt x="0" y="586"/>
                  </a:cubicBezTo>
                  <a:lnTo>
                    <a:pt x="0" y="9951"/>
                  </a:lnTo>
                  <a:cubicBezTo>
                    <a:pt x="0" y="10275"/>
                    <a:pt x="264" y="10537"/>
                    <a:pt x="586" y="10537"/>
                  </a:cubicBezTo>
                  <a:lnTo>
                    <a:pt x="2928" y="10537"/>
                  </a:lnTo>
                  <a:cubicBezTo>
                    <a:pt x="3252" y="10537"/>
                    <a:pt x="3514" y="10275"/>
                    <a:pt x="3514" y="9951"/>
                  </a:cubicBezTo>
                  <a:lnTo>
                    <a:pt x="3514" y="586"/>
                  </a:lnTo>
                  <a:cubicBezTo>
                    <a:pt x="3514" y="262"/>
                    <a:pt x="3252" y="0"/>
                    <a:pt x="29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867" name="Google Shape;867;p60"/>
            <p:cNvSpPr/>
            <p:nvPr/>
          </p:nvSpPr>
          <p:spPr>
            <a:xfrm>
              <a:off x="1385007" y="2621430"/>
              <a:ext cx="73337" cy="73337"/>
            </a:xfrm>
            <a:custGeom>
              <a:avLst/>
              <a:gdLst/>
              <a:ahLst/>
              <a:cxnLst/>
              <a:rect l="l" t="t" r="r" b="b"/>
              <a:pathLst>
                <a:path w="3514" h="3514" extrusionOk="0">
                  <a:moveTo>
                    <a:pt x="1757" y="1171"/>
                  </a:moveTo>
                  <a:cubicBezTo>
                    <a:pt x="2081" y="1171"/>
                    <a:pt x="2342" y="1435"/>
                    <a:pt x="2342" y="1757"/>
                  </a:cubicBezTo>
                  <a:cubicBezTo>
                    <a:pt x="2342" y="2080"/>
                    <a:pt x="2081" y="2342"/>
                    <a:pt x="1757" y="2342"/>
                  </a:cubicBezTo>
                  <a:cubicBezTo>
                    <a:pt x="1435" y="2342"/>
                    <a:pt x="1171" y="2080"/>
                    <a:pt x="1171" y="1757"/>
                  </a:cubicBezTo>
                  <a:cubicBezTo>
                    <a:pt x="1171" y="1435"/>
                    <a:pt x="1435" y="1171"/>
                    <a:pt x="1757" y="1171"/>
                  </a:cubicBezTo>
                  <a:close/>
                  <a:moveTo>
                    <a:pt x="1757" y="0"/>
                  </a:moveTo>
                  <a:cubicBezTo>
                    <a:pt x="789" y="0"/>
                    <a:pt x="0" y="789"/>
                    <a:pt x="0" y="1757"/>
                  </a:cubicBezTo>
                  <a:cubicBezTo>
                    <a:pt x="0" y="2726"/>
                    <a:pt x="789" y="3513"/>
                    <a:pt x="1757" y="3513"/>
                  </a:cubicBezTo>
                  <a:cubicBezTo>
                    <a:pt x="2726" y="3513"/>
                    <a:pt x="3514" y="2726"/>
                    <a:pt x="3514" y="1757"/>
                  </a:cubicBezTo>
                  <a:cubicBezTo>
                    <a:pt x="3514" y="789"/>
                    <a:pt x="2726" y="0"/>
                    <a:pt x="17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868" name="Google Shape;868;p60"/>
            <p:cNvSpPr/>
            <p:nvPr/>
          </p:nvSpPr>
          <p:spPr>
            <a:xfrm>
              <a:off x="1482759" y="2718786"/>
              <a:ext cx="195510" cy="220304"/>
            </a:xfrm>
            <a:custGeom>
              <a:avLst/>
              <a:gdLst/>
              <a:ahLst/>
              <a:cxnLst/>
              <a:rect l="l" t="t" r="r" b="b"/>
              <a:pathLst>
                <a:path w="9368" h="10556" extrusionOk="0">
                  <a:moveTo>
                    <a:pt x="5559" y="1173"/>
                  </a:moveTo>
                  <a:cubicBezTo>
                    <a:pt x="5720" y="1173"/>
                    <a:pt x="5883" y="1186"/>
                    <a:pt x="6044" y="1212"/>
                  </a:cubicBezTo>
                  <a:cubicBezTo>
                    <a:pt x="7422" y="1435"/>
                    <a:pt x="8196" y="2535"/>
                    <a:pt x="8196" y="3669"/>
                  </a:cubicBezTo>
                  <a:lnTo>
                    <a:pt x="8196" y="9386"/>
                  </a:lnTo>
                  <a:lnTo>
                    <a:pt x="7025" y="9386"/>
                  </a:lnTo>
                  <a:lnTo>
                    <a:pt x="7025" y="4702"/>
                  </a:lnTo>
                  <a:cubicBezTo>
                    <a:pt x="7025" y="3411"/>
                    <a:pt x="5975" y="2360"/>
                    <a:pt x="4683" y="2360"/>
                  </a:cubicBezTo>
                  <a:cubicBezTo>
                    <a:pt x="3392" y="2360"/>
                    <a:pt x="2341" y="3411"/>
                    <a:pt x="2341" y="4702"/>
                  </a:cubicBezTo>
                  <a:lnTo>
                    <a:pt x="2341" y="9386"/>
                  </a:lnTo>
                  <a:lnTo>
                    <a:pt x="1170" y="9386"/>
                  </a:lnTo>
                  <a:lnTo>
                    <a:pt x="1170" y="1190"/>
                  </a:lnTo>
                  <a:lnTo>
                    <a:pt x="2341" y="1190"/>
                  </a:lnTo>
                  <a:lnTo>
                    <a:pt x="2341" y="1776"/>
                  </a:lnTo>
                  <a:cubicBezTo>
                    <a:pt x="2341" y="2011"/>
                    <a:pt x="2484" y="2225"/>
                    <a:pt x="2704" y="2316"/>
                  </a:cubicBezTo>
                  <a:cubicBezTo>
                    <a:pt x="2776" y="2346"/>
                    <a:pt x="2852" y="2361"/>
                    <a:pt x="2928" y="2361"/>
                  </a:cubicBezTo>
                  <a:cubicBezTo>
                    <a:pt x="3080" y="2361"/>
                    <a:pt x="3229" y="2301"/>
                    <a:pt x="3341" y="2190"/>
                  </a:cubicBezTo>
                  <a:lnTo>
                    <a:pt x="3615" y="1916"/>
                  </a:lnTo>
                  <a:cubicBezTo>
                    <a:pt x="4086" y="1443"/>
                    <a:pt x="4813" y="1173"/>
                    <a:pt x="5559" y="1173"/>
                  </a:cubicBezTo>
                  <a:close/>
                  <a:moveTo>
                    <a:pt x="5553" y="0"/>
                  </a:moveTo>
                  <a:cubicBezTo>
                    <a:pt x="4823" y="0"/>
                    <a:pt x="4110" y="189"/>
                    <a:pt x="3509" y="536"/>
                  </a:cubicBezTo>
                  <a:cubicBezTo>
                    <a:pt x="3475" y="246"/>
                    <a:pt x="3227" y="19"/>
                    <a:pt x="2927" y="19"/>
                  </a:cubicBezTo>
                  <a:lnTo>
                    <a:pt x="586" y="19"/>
                  </a:lnTo>
                  <a:cubicBezTo>
                    <a:pt x="262" y="19"/>
                    <a:pt x="1" y="281"/>
                    <a:pt x="1" y="605"/>
                  </a:cubicBezTo>
                  <a:lnTo>
                    <a:pt x="1" y="9970"/>
                  </a:lnTo>
                  <a:cubicBezTo>
                    <a:pt x="1" y="10294"/>
                    <a:pt x="262" y="10556"/>
                    <a:pt x="586" y="10556"/>
                  </a:cubicBezTo>
                  <a:lnTo>
                    <a:pt x="2927" y="10556"/>
                  </a:lnTo>
                  <a:cubicBezTo>
                    <a:pt x="3250" y="10556"/>
                    <a:pt x="3512" y="10294"/>
                    <a:pt x="3512" y="9970"/>
                  </a:cubicBezTo>
                  <a:lnTo>
                    <a:pt x="3512" y="4702"/>
                  </a:lnTo>
                  <a:cubicBezTo>
                    <a:pt x="3512" y="4056"/>
                    <a:pt x="4038" y="3531"/>
                    <a:pt x="4683" y="3531"/>
                  </a:cubicBezTo>
                  <a:cubicBezTo>
                    <a:pt x="5329" y="3531"/>
                    <a:pt x="5854" y="4056"/>
                    <a:pt x="5854" y="4702"/>
                  </a:cubicBezTo>
                  <a:lnTo>
                    <a:pt x="5854" y="9970"/>
                  </a:lnTo>
                  <a:cubicBezTo>
                    <a:pt x="5854" y="10294"/>
                    <a:pt x="6116" y="10556"/>
                    <a:pt x="6440" y="10556"/>
                  </a:cubicBezTo>
                  <a:lnTo>
                    <a:pt x="8782" y="10556"/>
                  </a:lnTo>
                  <a:cubicBezTo>
                    <a:pt x="9104" y="10556"/>
                    <a:pt x="9368" y="10294"/>
                    <a:pt x="9368" y="9970"/>
                  </a:cubicBezTo>
                  <a:lnTo>
                    <a:pt x="9368" y="3669"/>
                  </a:lnTo>
                  <a:cubicBezTo>
                    <a:pt x="9368" y="1921"/>
                    <a:pt x="8131" y="364"/>
                    <a:pt x="6231" y="55"/>
                  </a:cubicBezTo>
                  <a:cubicBezTo>
                    <a:pt x="6005" y="18"/>
                    <a:pt x="5779" y="0"/>
                    <a:pt x="55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869" name="Google Shape;869;p60"/>
            <p:cNvSpPr/>
            <p:nvPr/>
          </p:nvSpPr>
          <p:spPr>
            <a:xfrm>
              <a:off x="1323129" y="2571761"/>
              <a:ext cx="417024" cy="417024"/>
            </a:xfrm>
            <a:custGeom>
              <a:avLst/>
              <a:gdLst/>
              <a:ahLst/>
              <a:cxnLst/>
              <a:rect l="l" t="t" r="r" b="b"/>
              <a:pathLst>
                <a:path w="19982" h="19982" extrusionOk="0">
                  <a:moveTo>
                    <a:pt x="17015" y="1170"/>
                  </a:moveTo>
                  <a:cubicBezTo>
                    <a:pt x="17989" y="1170"/>
                    <a:pt x="18810" y="1993"/>
                    <a:pt x="18810" y="2966"/>
                  </a:cubicBezTo>
                  <a:lnTo>
                    <a:pt x="18810" y="17015"/>
                  </a:lnTo>
                  <a:cubicBezTo>
                    <a:pt x="18810" y="17990"/>
                    <a:pt x="17989" y="18811"/>
                    <a:pt x="17015" y="18811"/>
                  </a:cubicBezTo>
                  <a:lnTo>
                    <a:pt x="2965" y="18811"/>
                  </a:lnTo>
                  <a:cubicBezTo>
                    <a:pt x="1992" y="18811"/>
                    <a:pt x="1170" y="17990"/>
                    <a:pt x="1170" y="17015"/>
                  </a:cubicBezTo>
                  <a:lnTo>
                    <a:pt x="1170" y="2966"/>
                  </a:lnTo>
                  <a:cubicBezTo>
                    <a:pt x="1170" y="1993"/>
                    <a:pt x="1992" y="1170"/>
                    <a:pt x="2965" y="1170"/>
                  </a:cubicBezTo>
                  <a:close/>
                  <a:moveTo>
                    <a:pt x="2965" y="1"/>
                  </a:moveTo>
                  <a:cubicBezTo>
                    <a:pt x="1347" y="1"/>
                    <a:pt x="0" y="1349"/>
                    <a:pt x="0" y="2966"/>
                  </a:cubicBezTo>
                  <a:lnTo>
                    <a:pt x="0" y="17015"/>
                  </a:lnTo>
                  <a:cubicBezTo>
                    <a:pt x="0" y="18635"/>
                    <a:pt x="1348" y="19982"/>
                    <a:pt x="2965" y="19982"/>
                  </a:cubicBezTo>
                  <a:lnTo>
                    <a:pt x="17017" y="19982"/>
                  </a:lnTo>
                  <a:cubicBezTo>
                    <a:pt x="18635" y="19982"/>
                    <a:pt x="19981" y="18634"/>
                    <a:pt x="19981" y="17015"/>
                  </a:cubicBezTo>
                  <a:lnTo>
                    <a:pt x="19981" y="2966"/>
                  </a:lnTo>
                  <a:cubicBezTo>
                    <a:pt x="19981" y="1347"/>
                    <a:pt x="18633" y="1"/>
                    <a:pt x="170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Tree>
  </p:cSld>
  <p:clrMapOvr>
    <a:masterClrMapping/>
  </p:clrMapOvr>
</p:sld>
</file>

<file path=ppt/theme/theme1.xml><?xml version="1.0" encoding="utf-8"?>
<a:theme xmlns:a="http://schemas.openxmlformats.org/drawingml/2006/main" name="Elegant Black &amp; White Thesis Defense by Slidesgo">
  <a:themeElements>
    <a:clrScheme name="Simple Light">
      <a:dk1>
        <a:srgbClr val="333333"/>
      </a:dk1>
      <a:lt1>
        <a:srgbClr val="FDFDFD"/>
      </a:lt1>
      <a:dk2>
        <a:srgbClr val="E8E7E7"/>
      </a:dk2>
      <a:lt2>
        <a:srgbClr val="B2B2B2"/>
      </a:lt2>
      <a:accent1>
        <a:srgbClr val="777777"/>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1083</TotalTime>
  <Words>4095</Words>
  <Application>Microsoft Office PowerPoint</Application>
  <PresentationFormat>On-screen Show (16:9)</PresentationFormat>
  <Paragraphs>365</Paragraphs>
  <Slides>37</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37</vt:i4>
      </vt:variant>
    </vt:vector>
  </HeadingPairs>
  <TitlesOfParts>
    <vt:vector size="43" baseType="lpstr">
      <vt:lpstr>Cambria Math</vt:lpstr>
      <vt:lpstr>Courier New</vt:lpstr>
      <vt:lpstr>Figtree Black</vt:lpstr>
      <vt:lpstr>Hanken Grotesk</vt:lpstr>
      <vt:lpstr>Arial</vt:lpstr>
      <vt:lpstr>Elegant Black &amp; White Thesis Defense by Slidesgo</vt:lpstr>
      <vt:lpstr>Image Processing</vt:lpstr>
      <vt:lpstr>PowerPoint Presentation</vt:lpstr>
      <vt:lpstr>Learning objectives</vt:lpstr>
      <vt:lpstr>Histogram Stretching/Shrinking</vt:lpstr>
      <vt:lpstr>Example to Matrix : Stretching</vt:lpstr>
      <vt:lpstr>Example to Matrix : Shrinking</vt:lpstr>
      <vt:lpstr>Interpretation in Image</vt:lpstr>
      <vt:lpstr>Histogram Shifting</vt:lpstr>
      <vt:lpstr>Example to Matrix</vt:lpstr>
      <vt:lpstr>Interpretation in Image</vt:lpstr>
      <vt:lpstr>FILTERING</vt:lpstr>
      <vt:lpstr>Example to Matrix : Median Filter</vt:lpstr>
      <vt:lpstr>Interpretation in Image</vt:lpstr>
      <vt:lpstr>Filtering Using an Algebraic Approach</vt:lpstr>
      <vt:lpstr>Example to Matrix : Weighted Average Filter</vt:lpstr>
      <vt:lpstr>Interpretation in Image</vt:lpstr>
      <vt:lpstr>Image Contrast Adjustment</vt:lpstr>
      <vt:lpstr>Example to Matrix</vt:lpstr>
      <vt:lpstr>Interpretation in Image</vt:lpstr>
      <vt:lpstr>Interpretation in Image</vt:lpstr>
      <vt:lpstr>Geometric Transformation and Correction</vt:lpstr>
      <vt:lpstr>Geometric Transformation and Correction</vt:lpstr>
      <vt:lpstr>Example to matrix</vt:lpstr>
      <vt:lpstr>Interpretation in Image</vt:lpstr>
      <vt:lpstr>Interpretation in Image</vt:lpstr>
      <vt:lpstr>Interpretation in Image</vt:lpstr>
      <vt:lpstr>Interpretation in Image</vt:lpstr>
      <vt:lpstr>IMAGE RESTORATION</vt:lpstr>
      <vt:lpstr>IMAGE RESTORATION</vt:lpstr>
      <vt:lpstr>Example to matrix</vt:lpstr>
      <vt:lpstr>Interpretation in Image</vt:lpstr>
      <vt:lpstr>Interpretation in Image</vt:lpstr>
      <vt:lpstr>Interpretation in Image</vt:lpstr>
      <vt:lpstr>Summary</vt:lpstr>
      <vt:lpstr>Exercise</vt:lpstr>
      <vt:lpstr>REFERENSI</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Fifin Ayu Mufarroha</dc:creator>
  <cp:lastModifiedBy>Fifin Ayu Mufarroha</cp:lastModifiedBy>
  <cp:revision>45</cp:revision>
  <dcterms:modified xsi:type="dcterms:W3CDTF">2026-09-28T14:15:49Z</dcterms:modified>
</cp:coreProperties>
</file>